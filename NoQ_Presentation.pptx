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y" id="{242f453c-4f74-d22f-0030-607d2569a54d}">
          <p14:sldIdLst>
            <p14:sldId id="256"/>
            <p14:sldId id="257"/>
            <p14:sldId id="258"/>
          </p14:sldIdLst>
        </p14:section>
        <p14:section name="How it works" id="{36c871e8-628f-4de8-ce17-fb428485cd42}">
          <p14:sldIdLst>
            <p14:sldId id="259"/>
            <p14:sldId id="260"/>
            <p14:sldId id="261"/>
            <p14:sldId id="262"/>
          </p14:sldIdLst>
        </p14:section>
        <p14:section name="Code and integrity" id="{d45862bb-8672-c329-d3d3-bd06ac36836f}">
          <p14:sldIdLst>
            <p14:sldId id="263"/>
            <p14:sldId id="264"/>
            <p14:sldId id="265"/>
            <p14:sldId id="266"/>
          </p14:sldIdLst>
        </p14:section>
        <p14:section name="Wrap up" id="{bbb259d6-5781-76ef-3886-9b33d0c419e8}">
          <p14:sldIdLst>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Harish, Arun and Sreeram. Our Web Programming mini project is NoQ, "No Queue. Just Order." It is a smart canteen pre-ordering system: students order from their phone, the kitchen and counter each get one screen, and the student collects with a secret pickup code. The next 12 slides cover the problem, the architecture, what each component does, the key code, and how we tested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simple and every one of us has lived it. At peak time the counter is the bottleneck: students wait to order, wait again to pay, and wait a third time to collect. Meanwhile dishes sell out while people are still in line, and the canteen has no record of what actually sells. NoQ attacks all of this by moving ordering to the phone.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solution is a three-actor system. The customer orders ahead and gets an order reference plus a six-digit pickup code. The kitchen sees incoming orders and taps Ready for Pickup. The counter staff verify the code, record the cash payment and hand over the food. Each role has exactly one job and one page, and the server refuses anything outside it - the customer never needs an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shape of the system. Browsers - the customer pages, the Kitchen and Staff pages, and Postman for API testing - all enter through Spring Security, which decides who may do what. Inside noq-app, controllers hand requests to transactional services. Services use a Caffeine cache for the menu, and JPA with Hibernate to talk to MySQL. A LoggingAspect wraps every service method. The one thing outside is the notification service, a separate Spring Boot app on port 8081 that the main app calls over HTTP after an order is committed. So: a modular monolith plus one microservice.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across the grid. Controllers: two kinds - MVC controllers return Thymeleaf pages, REST controllers return JSON. Security sits in front of both. Services hold every business rule and every transaction. Repositories and Hibernate turn Java objects into MySQL rows, and we use HQL for two queries. Caffeine caches the menu for 60 seconds. The logging aspect is Spring AOP. The error handler gives one uniform JSON error shape. And the notification service is the separate microservice.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running site. On the left, the menu: search, category chips, sort, and an Add button; dishes the kitchen marks unavailable are greyed out. Top right is the cart - kept in the browser only until checkout. Bottom right is the confirmation screen after Place order: the order reference, the total, the status PREPARING, and the six-digit pickup code, shown once. The page keeps polling every five seconds, so it turns to READY FOR PICKUP on its own. Payment is at the counter.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Food status and payment status are kept separate. An order is born PREPARING. The kitchen user sees only PREPARING orders and taps Ready for Pickup - that is the only transition the kitchen can make. The staff user sees only READY orders. They type the customer pickup code; if it is right, the cash payment is recorded and Confirm handover turns the order COLLECTED. Wrong codes are rejected and attempt-limited. The kitchen also has a Menu Availability tab to mark a dish unavailable, which is enforced at checkout.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heart of the backend. placeOrder is one transaction. For every line, addLineToOrder loads the dish with a pessimistic write lock - SELECT FOR UPDATE - so two students buying the last samosa cannot both win; the second gets a 409 conflict. The price comes from the database, the total is computed on the server, and the pickup code is hashed with BCrypt, so even the database never stores the real OTP. An idempotency key with a UNIQUE constraint makes double-clicks harmless. Code is lightly simplified from OrderService.java for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small pieces of code show the microservice integration. First, OrderStatus.canMoveTo is the single place that defines legal status changes - PREPARING can go to READY_FOR_PICKUP or CANCELLED, READY can only go to COLLECTED. Second, when the kitchen marks an order ready, the service publishes an event, and NotificationClient listens with AFTER_COMMIT. That means the HTTP call to port 8081 happens only if the database commit succeeded, and if the notification service is down we just log a warning with a two-second timeout - the order is never blocked. The limitation: it is synchronous with no retry; a message broker would fix that and is listed as future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has two parts. Access control: customers need no login; the kitchen login and the staff login each see only their own page and API calls, enforced in SecurityConfig - the wrong role gets a JSON 403. Data protection: the pickup code is generated with SecureRandom, stored only as a BCrypt hash, shown once, and limited to five wrong attempts. Staff passwords are BCrypt too. For integrity we use row locks plus an optimistic version column, validated DTOs, and CSRF protection on the HTML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main tables plus staff_user. A menu item appears in many order lines; an order has many lines and can have payment attempts. Two details worth mentioning. First, order lines snapshot the dish name and price at order time. Second, Payment uses Hibernate inheritance - one table, with a discriminator column - so adding online payment later is one more subclass. The schema is created by Hibernate on first start and seeded from data.sql. Staff accounts live in staff_user with BCrypt password hashes.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Evidence that it works: 32 automated tests pass on the in-memory H2 profile, plus a 35-request Postman collection with assertions. On the right is the syllabus mapping. Unit IV: Spring Boot and MVC, JPA and Hibernate with two HQL queries, inheritance mapping with Payment and CashPayment, Session and Transaction and dependency injection demos, AOP and caching. Unit V: a REST API with proper status codes, validation with uniform JSON errors, and the notification microservice. We also verified the full flow live: place, ready, OTP, payment, handover.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honest about limits: payment is at the counter only, status updates use polling, the notification is only logged, and there are no customer accounts. Each has a clear next step: an online gateway as another Payment subclass, server-sent events, SMS or push through a broker, and optional login. That is NoQ. Thank you - we are happy to take questions, and we can run the live demo: place an order, mark it ready as kitchen, then verify the OTP as staff.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49808"/>
            <a:ext cx="11091672" cy="68580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46520"/>
            <a:ext cx="5486400" cy="256032"/>
          </a:xfrm>
          <a:prstGeom prst="rect">
            <a:avLst/>
          </a:prstGeom>
          <a:noFill/>
          <a:ln/>
        </p:spPr>
        <p:txBody>
          <a:bodyPr wrap="square" lIns="0" tIns="0" rIns="0" bIns="0" rtlCol="0" anchor="ctr"/>
          <a:lstStyle/>
          <a:p>
            <a:pPr indent="0" marL="0">
              <a:buNone/>
            </a:pPr>
            <a:r>
              <a:rPr lang="en-US" sz="1000" dirty="0">
                <a:solidFill>
                  <a:schemeClr val="accent5"/>
                </a:solidFill>
              </a:rPr>
              <a:t>NoQ  ·  IT23502 Web Programming</a:t>
            </a:r>
            <a:endParaRPr lang="en-US" sz="10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749808"/>
            <a:ext cx="11091672" cy="6858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p:nvPr/>
        </p:nvSpPr>
        <p:spPr>
          <a:xfrm>
            <a:off x="548640" y="6446520"/>
            <a:ext cx="5486400" cy="256032"/>
          </a:xfrm>
          <a:prstGeom prst="rect">
            <a:avLst/>
          </a:prstGeom>
          <a:noFill/>
          <a:ln/>
        </p:spPr>
        <p:txBody>
          <a:bodyPr wrap="square" lIns="0" tIns="0" rIns="0" bIns="0" rtlCol="0" anchor="ctr"/>
          <a:lstStyle/>
          <a:p>
            <a:pPr indent="0" marL="0">
              <a:buNone/>
            </a:pPr>
            <a:r>
              <a:rPr lang="en-US" sz="1000" dirty="0">
                <a:solidFill>
                  <a:schemeClr val="accent3"/>
                </a:solidFill>
              </a:rPr>
              <a:t>NoQ  ·  IT23502 Web Programming</a:t>
            </a:r>
            <a:endParaRPr lang="en-US" sz="10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4.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2.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2.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2.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panel"/>
          <p:cNvSpPr/>
          <p:nvPr/>
        </p:nvSpPr>
        <p:spPr>
          <a:xfrm>
            <a:off x="7635240" y="0"/>
            <a:ext cx="4556455" cy="6858000"/>
          </a:xfrm>
          <a:prstGeom prst="rect">
            <a:avLst/>
          </a:prstGeom>
          <a:solidFill>
            <a:schemeClr val="tx2"/>
          </a:solidFill>
          <a:ln/>
        </p:spPr>
      </p:sp>
      <p:sp>
        <p:nvSpPr>
          <p:cNvPr id="3" name="Phone frame"/>
          <p:cNvSpPr/>
          <p:nvPr/>
        </p:nvSpPr>
        <p:spPr>
          <a:xfrm>
            <a:off x="8412480" y="822960"/>
            <a:ext cx="3200400" cy="5212080"/>
          </a:xfrm>
          <a:prstGeom prst="roundRect">
            <a:avLst>
              <a:gd name="adj" fmla="val 6286"/>
            </a:avLst>
          </a:prstGeom>
          <a:solidFill>
            <a:schemeClr val="bg1"/>
          </a:solidFill>
          <a:ln/>
          <a:effectLst>
            <a:outerShdw sx="100000" sy="100000" kx="0" ky="0" algn="bl" rotWithShape="0" blurRad="177800" dist="50800" dir="5400000">
              <a:srgbClr val="000000">
                <a:alpha val="35000"/>
              </a:srgbClr>
            </a:outerShdw>
          </a:effectLst>
        </p:spPr>
      </p:sp>
      <p:pic>
        <p:nvPicPr>
          <p:cNvPr id="4" name="Image 0" descr="NoQ customer menu on a phone">    </p:cNvPr>
          <p:cNvPicPr>
            <a:picLocks noChangeAspect="1"/>
          </p:cNvPicPr>
          <p:nvPr/>
        </p:nvPicPr>
        <p:blipFill>
          <a:blip r:embed="rId1"/>
          <a:stretch>
            <a:fillRect/>
          </a:stretch>
        </p:blipFill>
        <p:spPr>
          <a:xfrm>
            <a:off x="8503920" y="914400"/>
            <a:ext cx="3017520" cy="5029200"/>
          </a:xfrm>
          <a:prstGeom prst="rect">
            <a:avLst/>
          </a:prstGeom>
        </p:spPr>
      </p:pic>
      <p:sp>
        <p:nvSpPr>
          <p:cNvPr id="5" name="Course pill"/>
          <p:cNvSpPr/>
          <p:nvPr/>
        </p:nvSpPr>
        <p:spPr>
          <a:xfrm>
            <a:off x="640080" y="685800"/>
            <a:ext cx="5212080" cy="329184"/>
          </a:xfrm>
          <a:prstGeom prst="roundRect">
            <a:avLst>
              <a:gd name="adj" fmla="val 50000"/>
            </a:avLst>
          </a:prstGeom>
          <a:ln w="12700">
            <a:solidFill>
              <a:schemeClr val="accent1"/>
            </a:solidFill>
            <a:prstDash val="solid"/>
          </a:ln>
        </p:spPr>
      </p:sp>
      <p:sp>
        <p:nvSpPr>
          <p:cNvPr id="6" name="Text 3"/>
          <p:cNvSpPr txBox="1"/>
          <p:nvPr/>
        </p:nvSpPr>
        <p:spPr>
          <a:xfrm>
            <a:off x="640080" y="685800"/>
            <a:ext cx="5212080" cy="329184"/>
          </a:xfrm>
          <a:prstGeom prst="rect">
            <a:avLst/>
          </a:prstGeom>
          <a:noFill/>
          <a:ln/>
        </p:spPr>
        <p:txBody>
          <a:bodyPr wrap="square" lIns="0" tIns="0" rIns="0" bIns="0" rtlCol="0" anchor="ctr"/>
          <a:lstStyle/>
          <a:p>
            <a:pPr algn="ctr" indent="0" marL="0">
              <a:buNone/>
            </a:pPr>
            <a:r>
              <a:rPr lang="en-US" sz="1100" b="1" spc="200" kern="0" dirty="0">
                <a:solidFill>
                  <a:schemeClr val="accent1"/>
                </a:solidFill>
              </a:rPr>
              <a:t>IT23502  ·  WEB PROGRAMMING  ·  MINI PROJECT</a:t>
            </a:r>
            <a:endParaRPr lang="en-US" sz="1100" dirty="0"/>
          </a:p>
        </p:txBody>
      </p:sp>
      <p:sp>
        <p:nvSpPr>
          <p:cNvPr id="7" name="Text 4"/>
          <p:cNvSpPr txBox="1"/>
          <p:nvPr/>
        </p:nvSpPr>
        <p:spPr>
          <a:xfrm>
            <a:off x="640080" y="1234440"/>
            <a:ext cx="6400800" cy="1737360"/>
          </a:xfrm>
          <a:prstGeom prst="rect">
            <a:avLst/>
          </a:prstGeom>
          <a:noFill/>
          <a:ln/>
        </p:spPr>
        <p:txBody>
          <a:bodyPr wrap="square" lIns="0" tIns="0" rIns="0" bIns="0" rtlCol="0" anchor="t"/>
          <a:lstStyle/>
          <a:p>
            <a:pPr indent="0" marL="0">
              <a:buNone/>
            </a:pPr>
            <a:r>
              <a:rPr lang="en-US" sz="12000" b="1" dirty="0">
                <a:solidFill>
                  <a:schemeClr val="bg1"/>
                </a:solidFill>
                <a:latin typeface="+mj-lt" pitchFamily="34" charset="0"/>
                <a:ea typeface="+mj-lt" pitchFamily="34" charset="-122"/>
                <a:cs typeface="+mj-lt" pitchFamily="34" charset="-120"/>
              </a:rPr>
              <a:t>NoQ</a:t>
            </a:r>
            <a:endParaRPr lang="en-US" sz="12000" dirty="0"/>
          </a:p>
        </p:txBody>
      </p:sp>
      <p:sp>
        <p:nvSpPr>
          <p:cNvPr id="8" name="Text 5"/>
          <p:cNvSpPr txBox="1"/>
          <p:nvPr/>
        </p:nvSpPr>
        <p:spPr>
          <a:xfrm>
            <a:off x="685800" y="2971800"/>
            <a:ext cx="6400800" cy="548640"/>
          </a:xfrm>
          <a:prstGeom prst="rect">
            <a:avLst/>
          </a:prstGeom>
          <a:noFill/>
          <a:ln/>
        </p:spPr>
        <p:txBody>
          <a:bodyPr wrap="square" lIns="0" tIns="0" rIns="0" bIns="0" rtlCol="0" anchor="t"/>
          <a:lstStyle/>
          <a:p>
            <a:pPr indent="0" marL="0">
              <a:buNone/>
            </a:pPr>
            <a:r>
              <a:rPr lang="en-US" sz="3000" i="1" dirty="0">
                <a:solidFill>
                  <a:schemeClr val="accent1"/>
                </a:solidFill>
                <a:latin typeface="+mj-lt" pitchFamily="34" charset="0"/>
                <a:ea typeface="+mj-lt" pitchFamily="34" charset="-122"/>
                <a:cs typeface="+mj-lt" pitchFamily="34" charset="-120"/>
              </a:rPr>
              <a:t>No Queue. Just Order.</a:t>
            </a:r>
            <a:endParaRPr lang="en-US" sz="3000" dirty="0"/>
          </a:p>
        </p:txBody>
      </p:sp>
      <p:sp>
        <p:nvSpPr>
          <p:cNvPr id="9" name="Text 6"/>
          <p:cNvSpPr txBox="1"/>
          <p:nvPr/>
        </p:nvSpPr>
        <p:spPr>
          <a:xfrm>
            <a:off x="685800" y="3657600"/>
            <a:ext cx="6035040" cy="822960"/>
          </a:xfrm>
          <a:prstGeom prst="rect">
            <a:avLst/>
          </a:prstGeom>
          <a:noFill/>
          <a:ln/>
        </p:spPr>
        <p:txBody>
          <a:bodyPr wrap="square" lIns="0" tIns="0" rIns="0" bIns="0" rtlCol="0" anchor="t"/>
          <a:lstStyle/>
          <a:p>
            <a:pPr indent="0" marL="0">
              <a:buNone/>
            </a:pPr>
            <a:r>
              <a:rPr lang="en-US" sz="1800" dirty="0">
                <a:solidFill>
                  <a:schemeClr val="accent4"/>
                </a:solidFill>
              </a:rPr>
              <a:t>A smart canteen pre-ordering and pickup system that moves the queue from the counter to the phone.</a:t>
            </a:r>
            <a:endParaRPr lang="en-US" sz="1800" dirty="0"/>
          </a:p>
        </p:txBody>
      </p:sp>
      <p:sp>
        <p:nvSpPr>
          <p:cNvPr id="10" name="Text 7"/>
          <p:cNvSpPr txBox="1"/>
          <p:nvPr/>
        </p:nvSpPr>
        <p:spPr>
          <a:xfrm>
            <a:off x="685800" y="4983480"/>
            <a:ext cx="1828800" cy="228600"/>
          </a:xfrm>
          <a:prstGeom prst="rect">
            <a:avLst/>
          </a:prstGeom>
          <a:noFill/>
          <a:ln/>
        </p:spPr>
        <p:txBody>
          <a:bodyPr wrap="square" lIns="0" tIns="0" rIns="0" bIns="0" rtlCol="0" anchor="t"/>
          <a:lstStyle/>
          <a:p>
            <a:pPr indent="0" marL="0">
              <a:buNone/>
            </a:pPr>
            <a:r>
              <a:rPr lang="en-US" sz="1100" b="1" spc="300" kern="0" dirty="0">
                <a:solidFill>
                  <a:schemeClr val="accent3"/>
                </a:solidFill>
              </a:rPr>
              <a:t>TEAM</a:t>
            </a:r>
            <a:endParaRPr lang="en-US" sz="1100" dirty="0"/>
          </a:p>
        </p:txBody>
      </p:sp>
      <p:sp>
        <p:nvSpPr>
          <p:cNvPr id="11" name="Text 8"/>
          <p:cNvSpPr txBox="1"/>
          <p:nvPr/>
        </p:nvSpPr>
        <p:spPr>
          <a:xfrm>
            <a:off x="685800" y="5303520"/>
            <a:ext cx="2194560" cy="320040"/>
          </a:xfrm>
          <a:prstGeom prst="rect">
            <a:avLst/>
          </a:prstGeom>
          <a:noFill/>
          <a:ln/>
        </p:spPr>
        <p:txBody>
          <a:bodyPr wrap="square" lIns="0" tIns="0" rIns="0" bIns="0" rtlCol="0" anchor="t"/>
          <a:lstStyle/>
          <a:p>
            <a:pPr indent="0" marL="0">
              <a:buNone/>
            </a:pPr>
            <a:r>
              <a:rPr lang="en-US" sz="1800" b="1" dirty="0">
                <a:solidFill>
                  <a:schemeClr val="bg1"/>
                </a:solidFill>
              </a:rPr>
              <a:t>Harish M</a:t>
            </a:r>
            <a:endParaRPr lang="en-US" sz="1800" dirty="0"/>
          </a:p>
        </p:txBody>
      </p:sp>
      <p:sp>
        <p:nvSpPr>
          <p:cNvPr id="12" name="Text 9"/>
          <p:cNvSpPr txBox="1"/>
          <p:nvPr/>
        </p:nvSpPr>
        <p:spPr>
          <a:xfrm>
            <a:off x="685800" y="5650992"/>
            <a:ext cx="2194560" cy="274320"/>
          </a:xfrm>
          <a:prstGeom prst="rect">
            <a:avLst/>
          </a:prstGeom>
          <a:noFill/>
          <a:ln/>
        </p:spPr>
        <p:txBody>
          <a:bodyPr wrap="square" lIns="0" tIns="0" rIns="0" bIns="0" rtlCol="0" anchor="t"/>
          <a:lstStyle/>
          <a:p>
            <a:pPr indent="0" marL="0">
              <a:buNone/>
            </a:pPr>
            <a:r>
              <a:rPr lang="en-US" sz="1400" dirty="0">
                <a:solidFill>
                  <a:schemeClr val="accent3"/>
                </a:solidFill>
                <a:latin typeface="Courier New" pitchFamily="34" charset="0"/>
                <a:ea typeface="Courier New" pitchFamily="34" charset="-122"/>
                <a:cs typeface="Courier New" pitchFamily="34" charset="-120"/>
              </a:rPr>
              <a:t>2024115118</a:t>
            </a:r>
            <a:endParaRPr lang="en-US" sz="1400" dirty="0"/>
          </a:p>
        </p:txBody>
      </p:sp>
      <p:sp>
        <p:nvSpPr>
          <p:cNvPr id="13" name="Text 10"/>
          <p:cNvSpPr txBox="1"/>
          <p:nvPr/>
        </p:nvSpPr>
        <p:spPr>
          <a:xfrm>
            <a:off x="2971800" y="5303520"/>
            <a:ext cx="2194560" cy="320040"/>
          </a:xfrm>
          <a:prstGeom prst="rect">
            <a:avLst/>
          </a:prstGeom>
          <a:noFill/>
          <a:ln/>
        </p:spPr>
        <p:txBody>
          <a:bodyPr wrap="square" lIns="0" tIns="0" rIns="0" bIns="0" rtlCol="0" anchor="t"/>
          <a:lstStyle/>
          <a:p>
            <a:pPr indent="0" marL="0">
              <a:buNone/>
            </a:pPr>
            <a:r>
              <a:rPr lang="en-US" sz="1800" b="1" dirty="0">
                <a:solidFill>
                  <a:schemeClr val="bg1"/>
                </a:solidFill>
              </a:rPr>
              <a:t>Arun M</a:t>
            </a:r>
            <a:endParaRPr lang="en-US" sz="1800" dirty="0"/>
          </a:p>
        </p:txBody>
      </p:sp>
      <p:sp>
        <p:nvSpPr>
          <p:cNvPr id="14" name="Text 11"/>
          <p:cNvSpPr txBox="1"/>
          <p:nvPr/>
        </p:nvSpPr>
        <p:spPr>
          <a:xfrm>
            <a:off x="2971800" y="5650992"/>
            <a:ext cx="2194560" cy="274320"/>
          </a:xfrm>
          <a:prstGeom prst="rect">
            <a:avLst/>
          </a:prstGeom>
          <a:noFill/>
          <a:ln/>
        </p:spPr>
        <p:txBody>
          <a:bodyPr wrap="square" lIns="0" tIns="0" rIns="0" bIns="0" rtlCol="0" anchor="t"/>
          <a:lstStyle/>
          <a:p>
            <a:pPr indent="0" marL="0">
              <a:buNone/>
            </a:pPr>
            <a:r>
              <a:rPr lang="en-US" sz="1400" dirty="0">
                <a:solidFill>
                  <a:schemeClr val="accent3"/>
                </a:solidFill>
                <a:latin typeface="Courier New" pitchFamily="34" charset="0"/>
                <a:ea typeface="Courier New" pitchFamily="34" charset="-122"/>
                <a:cs typeface="Courier New" pitchFamily="34" charset="-120"/>
              </a:rPr>
              <a:t>2024115098</a:t>
            </a:r>
            <a:endParaRPr lang="en-US" sz="1400" dirty="0"/>
          </a:p>
        </p:txBody>
      </p:sp>
      <p:sp>
        <p:nvSpPr>
          <p:cNvPr id="15" name="Text 12"/>
          <p:cNvSpPr txBox="1"/>
          <p:nvPr/>
        </p:nvSpPr>
        <p:spPr>
          <a:xfrm>
            <a:off x="5257800" y="5303520"/>
            <a:ext cx="2194560" cy="320040"/>
          </a:xfrm>
          <a:prstGeom prst="rect">
            <a:avLst/>
          </a:prstGeom>
          <a:noFill/>
          <a:ln/>
        </p:spPr>
        <p:txBody>
          <a:bodyPr wrap="square" lIns="0" tIns="0" rIns="0" bIns="0" rtlCol="0" anchor="t"/>
          <a:lstStyle/>
          <a:p>
            <a:pPr indent="0" marL="0">
              <a:buNone/>
            </a:pPr>
            <a:r>
              <a:rPr lang="en-US" sz="1800" b="1" dirty="0">
                <a:solidFill>
                  <a:schemeClr val="bg1"/>
                </a:solidFill>
              </a:rPr>
              <a:t>Sreeram Santhosh</a:t>
            </a:r>
            <a:endParaRPr lang="en-US" sz="1800" dirty="0"/>
          </a:p>
        </p:txBody>
      </p:sp>
      <p:sp>
        <p:nvSpPr>
          <p:cNvPr id="16" name="Text 13"/>
          <p:cNvSpPr txBox="1"/>
          <p:nvPr/>
        </p:nvSpPr>
        <p:spPr>
          <a:xfrm>
            <a:off x="5257800" y="5650992"/>
            <a:ext cx="2194560" cy="274320"/>
          </a:xfrm>
          <a:prstGeom prst="rect">
            <a:avLst/>
          </a:prstGeom>
          <a:noFill/>
          <a:ln/>
        </p:spPr>
        <p:txBody>
          <a:bodyPr wrap="square" lIns="0" tIns="0" rIns="0" bIns="0" rtlCol="0" anchor="t"/>
          <a:lstStyle/>
          <a:p>
            <a:pPr indent="0" marL="0">
              <a:buNone/>
            </a:pPr>
            <a:r>
              <a:rPr lang="en-US" sz="1400" dirty="0">
                <a:solidFill>
                  <a:schemeClr val="accent3"/>
                </a:solidFill>
                <a:latin typeface="Courier New" pitchFamily="34" charset="0"/>
                <a:ea typeface="Courier New" pitchFamily="34" charset="-122"/>
                <a:cs typeface="Courier New" pitchFamily="34" charset="-120"/>
              </a:rPr>
              <a:t>2024115126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ection pill"/>
          <p:cNvSpPr/>
          <p:nvPr/>
        </p:nvSpPr>
        <p:spPr>
          <a:xfrm>
            <a:off x="548640" y="347472"/>
            <a:ext cx="2679192" cy="292608"/>
          </a:xfrm>
          <a:prstGeom prst="roundRect">
            <a:avLst>
              <a:gd name="adj" fmla="val 50000"/>
            </a:avLst>
          </a:prstGeom>
          <a:ln w="12700">
            <a:solidFill>
              <a:schemeClr val="accent6"/>
            </a:solidFill>
            <a:prstDash val="solid"/>
          </a:ln>
        </p:spPr>
      </p:sp>
      <p:sp>
        <p:nvSpPr>
          <p:cNvPr id="3" name="Text 1"/>
          <p:cNvSpPr txBox="1"/>
          <p:nvPr/>
        </p:nvSpPr>
        <p:spPr>
          <a:xfrm>
            <a:off x="548640" y="347472"/>
            <a:ext cx="2679192" cy="292608"/>
          </a:xfrm>
          <a:prstGeom prst="rect">
            <a:avLst/>
          </a:prstGeom>
          <a:noFill/>
          <a:ln/>
        </p:spPr>
        <p:txBody>
          <a:bodyPr wrap="square" lIns="0" tIns="0" rIns="0" bIns="0" rtlCol="0" anchor="ctr"/>
          <a:lstStyle/>
          <a:p>
            <a:pPr algn="ctr" indent="0" marL="0">
              <a:buNone/>
            </a:pPr>
            <a:r>
              <a:rPr lang="en-US" sz="1100" b="1" spc="200" kern="0" dirty="0">
                <a:solidFill>
                  <a:schemeClr val="accent6"/>
                </a:solidFill>
              </a:rPr>
              <a:t>01  ·  THE PROBLEM</a:t>
            </a:r>
            <a:endParaRPr lang="en-US" sz="1100" dirty="0"/>
          </a:p>
        </p:txBody>
      </p:sp>
      <p:sp>
        <p:nvSpPr>
          <p:cNvPr id="4" name="Text 0"/>
          <p:cNvSpPr/>
          <p:nvPr>
            <p:ph idx="100" type="title" hasCustomPrompt="1"/>
          </p:nvPr>
        </p:nvSpPr>
        <p:spPr>
          <a:xfrm>
            <a:off x="548640" y="749808"/>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The canteen counter is the bottleneck</a:t>
            </a:r>
            <a:endParaRPr lang="en-US" sz="3600" dirty="0"/>
          </a:p>
        </p:txBody>
      </p:sp>
      <p:sp>
        <p:nvSpPr>
          <p:cNvPr id="5" name="Text 3"/>
          <p:cNvSpPr txBox="1"/>
          <p:nvPr/>
        </p:nvSpPr>
        <p:spPr>
          <a:xfrm>
            <a:off x="548640" y="1417320"/>
            <a:ext cx="11064240" cy="365760"/>
          </a:xfrm>
          <a:prstGeom prst="rect">
            <a:avLst/>
          </a:prstGeom>
          <a:noFill/>
          <a:ln/>
        </p:spPr>
        <p:txBody>
          <a:bodyPr wrap="square" lIns="0" tIns="0" rIns="0" bIns="0" rtlCol="0" anchor="t"/>
          <a:lstStyle/>
          <a:p>
            <a:pPr indent="0" marL="0">
              <a:buNone/>
            </a:pPr>
            <a:r>
              <a:rPr lang="en-US" sz="1800" dirty="0">
                <a:solidFill>
                  <a:schemeClr val="accent5"/>
                </a:solidFill>
              </a:rPr>
              <a:t>At peak hours a student burns a good part of the break standing in three separate queues.</a:t>
            </a:r>
            <a:endParaRPr lang="en-US" sz="1800" dirty="0"/>
          </a:p>
        </p:txBody>
      </p:sp>
      <p:sp>
        <p:nvSpPr>
          <p:cNvPr id="6" name="Wait card"/>
          <p:cNvSpPr/>
          <p:nvPr/>
        </p:nvSpPr>
        <p:spPr>
          <a:xfrm>
            <a:off x="548640" y="2103120"/>
            <a:ext cx="3611880" cy="2148840"/>
          </a:xfrm>
          <a:prstGeom prst="roundRect">
            <a:avLst>
              <a:gd name="adj" fmla="val 5106"/>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7" name="Icon disc"/>
          <p:cNvSpPr/>
          <p:nvPr/>
        </p:nvSpPr>
        <p:spPr>
          <a:xfrm>
            <a:off x="822960" y="2377440"/>
            <a:ext cx="731520" cy="731520"/>
          </a:xfrm>
          <a:prstGeom prst="ellipse">
            <a:avLst/>
          </a:prstGeom>
          <a:solidFill>
            <a:schemeClr val="accent1"/>
          </a:solidFill>
          <a:ln/>
        </p:spPr>
      </p:sp>
      <p:pic>
        <p:nvPicPr>
          <p:cNvPr id="8" name="Image 0" descr="ClipboardList icon">    </p:cNvPr>
          <p:cNvPicPr>
            <a:picLocks noChangeAspect="1"/>
          </p:cNvPicPr>
          <p:nvPr/>
        </p:nvPicPr>
        <p:blipFill>
          <a:blip r:embed="rId1"/>
          <a:stretch>
            <a:fillRect/>
          </a:stretch>
        </p:blipFill>
        <p:spPr>
          <a:xfrm>
            <a:off x="998525" y="2553005"/>
            <a:ext cx="380390" cy="380390"/>
          </a:xfrm>
          <a:prstGeom prst="rect">
            <a:avLst/>
          </a:prstGeom>
        </p:spPr>
      </p:pic>
      <p:sp>
        <p:nvSpPr>
          <p:cNvPr id="9" name="Text 6"/>
          <p:cNvSpPr txBox="1"/>
          <p:nvPr/>
        </p:nvSpPr>
        <p:spPr>
          <a:xfrm>
            <a:off x="3566160" y="2331720"/>
            <a:ext cx="411480" cy="548640"/>
          </a:xfrm>
          <a:prstGeom prst="rect">
            <a:avLst/>
          </a:prstGeom>
          <a:noFill/>
          <a:ln/>
        </p:spPr>
        <p:txBody>
          <a:bodyPr wrap="square" lIns="0" tIns="0" rIns="0" bIns="0" rtlCol="0" anchor="t"/>
          <a:lstStyle/>
          <a:p>
            <a:pPr algn="r" indent="0" marL="0">
              <a:buNone/>
            </a:pPr>
            <a:r>
              <a:rPr lang="en-US" sz="3600" b="1" dirty="0">
                <a:solidFill>
                  <a:schemeClr val="accent4"/>
                </a:solidFill>
                <a:latin typeface="+mj-lt" pitchFamily="34" charset="0"/>
                <a:ea typeface="+mj-lt" pitchFamily="34" charset="-122"/>
                <a:cs typeface="+mj-lt" pitchFamily="34" charset="-120"/>
              </a:rPr>
              <a:t>1</a:t>
            </a:r>
            <a:endParaRPr lang="en-US" sz="3600" dirty="0"/>
          </a:p>
        </p:txBody>
      </p:sp>
      <p:sp>
        <p:nvSpPr>
          <p:cNvPr id="10" name="Text 7"/>
          <p:cNvSpPr txBox="1"/>
          <p:nvPr/>
        </p:nvSpPr>
        <p:spPr>
          <a:xfrm>
            <a:off x="822960" y="3291840"/>
            <a:ext cx="3108960" cy="36576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Wait to order</a:t>
            </a:r>
            <a:endParaRPr lang="en-US" sz="2200" dirty="0"/>
          </a:p>
        </p:txBody>
      </p:sp>
      <p:sp>
        <p:nvSpPr>
          <p:cNvPr id="11" name="Text 8"/>
          <p:cNvSpPr txBox="1"/>
          <p:nvPr/>
        </p:nvSpPr>
        <p:spPr>
          <a:xfrm>
            <a:off x="822960" y="3657600"/>
            <a:ext cx="3108960" cy="548640"/>
          </a:xfrm>
          <a:prstGeom prst="rect">
            <a:avLst/>
          </a:prstGeom>
          <a:noFill/>
          <a:ln/>
        </p:spPr>
        <p:txBody>
          <a:bodyPr wrap="square" lIns="0" tIns="0" rIns="0" bIns="0" rtlCol="0" anchor="t"/>
          <a:lstStyle/>
          <a:p>
            <a:pPr indent="0" marL="0">
              <a:buNone/>
            </a:pPr>
            <a:r>
              <a:rPr lang="en-US" sz="1400" dirty="0">
                <a:solidFill>
                  <a:schemeClr val="accent5"/>
                </a:solidFill>
              </a:rPr>
              <a:t>Orders are taken verbally at one counter, one student at a time.</a:t>
            </a:r>
            <a:endParaRPr lang="en-US" sz="1400" dirty="0"/>
          </a:p>
        </p:txBody>
      </p:sp>
      <p:sp>
        <p:nvSpPr>
          <p:cNvPr id="12" name="Wait card"/>
          <p:cNvSpPr/>
          <p:nvPr/>
        </p:nvSpPr>
        <p:spPr>
          <a:xfrm>
            <a:off x="4288536" y="2103120"/>
            <a:ext cx="3611880" cy="2148840"/>
          </a:xfrm>
          <a:prstGeom prst="roundRect">
            <a:avLst>
              <a:gd name="adj" fmla="val 5106"/>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13" name="Icon disc"/>
          <p:cNvSpPr/>
          <p:nvPr/>
        </p:nvSpPr>
        <p:spPr>
          <a:xfrm>
            <a:off x="4562856" y="2377440"/>
            <a:ext cx="731520" cy="731520"/>
          </a:xfrm>
          <a:prstGeom prst="ellipse">
            <a:avLst/>
          </a:prstGeom>
          <a:solidFill>
            <a:schemeClr val="accent1"/>
          </a:solidFill>
          <a:ln/>
        </p:spPr>
      </p:sp>
      <p:pic>
        <p:nvPicPr>
          <p:cNvPr id="14" name="Image 1" descr="RupeeSign icon">    </p:cNvPr>
          <p:cNvPicPr>
            <a:picLocks noChangeAspect="1"/>
          </p:cNvPicPr>
          <p:nvPr/>
        </p:nvPicPr>
        <p:blipFill>
          <a:blip r:embed="rId2"/>
          <a:stretch>
            <a:fillRect/>
          </a:stretch>
        </p:blipFill>
        <p:spPr>
          <a:xfrm>
            <a:off x="4738421" y="2553005"/>
            <a:ext cx="380390" cy="380390"/>
          </a:xfrm>
          <a:prstGeom prst="rect">
            <a:avLst/>
          </a:prstGeom>
        </p:spPr>
      </p:pic>
      <p:sp>
        <p:nvSpPr>
          <p:cNvPr id="15" name="Text 11"/>
          <p:cNvSpPr txBox="1"/>
          <p:nvPr/>
        </p:nvSpPr>
        <p:spPr>
          <a:xfrm>
            <a:off x="7306056" y="2331720"/>
            <a:ext cx="411480" cy="548640"/>
          </a:xfrm>
          <a:prstGeom prst="rect">
            <a:avLst/>
          </a:prstGeom>
          <a:noFill/>
          <a:ln/>
        </p:spPr>
        <p:txBody>
          <a:bodyPr wrap="square" lIns="0" tIns="0" rIns="0" bIns="0" rtlCol="0" anchor="t"/>
          <a:lstStyle/>
          <a:p>
            <a:pPr algn="r" indent="0" marL="0">
              <a:buNone/>
            </a:pPr>
            <a:r>
              <a:rPr lang="en-US" sz="3600" b="1" dirty="0">
                <a:solidFill>
                  <a:schemeClr val="accent4"/>
                </a:solidFill>
                <a:latin typeface="+mj-lt" pitchFamily="34" charset="0"/>
                <a:ea typeface="+mj-lt" pitchFamily="34" charset="-122"/>
                <a:cs typeface="+mj-lt" pitchFamily="34" charset="-120"/>
              </a:rPr>
              <a:t>2</a:t>
            </a:r>
            <a:endParaRPr lang="en-US" sz="3600" dirty="0"/>
          </a:p>
        </p:txBody>
      </p:sp>
      <p:sp>
        <p:nvSpPr>
          <p:cNvPr id="16" name="Text 12"/>
          <p:cNvSpPr txBox="1"/>
          <p:nvPr/>
        </p:nvSpPr>
        <p:spPr>
          <a:xfrm>
            <a:off x="4562856" y="3291840"/>
            <a:ext cx="3108960" cy="36576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Wait to pay</a:t>
            </a:r>
            <a:endParaRPr lang="en-US" sz="2200" dirty="0"/>
          </a:p>
        </p:txBody>
      </p:sp>
      <p:sp>
        <p:nvSpPr>
          <p:cNvPr id="17" name="Text 13"/>
          <p:cNvSpPr txBox="1"/>
          <p:nvPr/>
        </p:nvSpPr>
        <p:spPr>
          <a:xfrm>
            <a:off x="4562856" y="3657600"/>
            <a:ext cx="3108960" cy="548640"/>
          </a:xfrm>
          <a:prstGeom prst="rect">
            <a:avLst/>
          </a:prstGeom>
          <a:noFill/>
          <a:ln/>
        </p:spPr>
        <p:txBody>
          <a:bodyPr wrap="square" lIns="0" tIns="0" rIns="0" bIns="0" rtlCol="0" anchor="t"/>
          <a:lstStyle/>
          <a:p>
            <a:pPr indent="0" marL="0">
              <a:buNone/>
            </a:pPr>
            <a:r>
              <a:rPr lang="en-US" sz="1400" dirty="0">
                <a:solidFill>
                  <a:schemeClr val="accent5"/>
                </a:solidFill>
              </a:rPr>
              <a:t>Payment is another line, while staff juggle orders from memory.</a:t>
            </a:r>
            <a:endParaRPr lang="en-US" sz="1400" dirty="0"/>
          </a:p>
        </p:txBody>
      </p:sp>
      <p:sp>
        <p:nvSpPr>
          <p:cNvPr id="18" name="Wait card"/>
          <p:cNvSpPr/>
          <p:nvPr/>
        </p:nvSpPr>
        <p:spPr>
          <a:xfrm>
            <a:off x="8028432" y="2103120"/>
            <a:ext cx="3611880" cy="2148840"/>
          </a:xfrm>
          <a:prstGeom prst="roundRect">
            <a:avLst>
              <a:gd name="adj" fmla="val 5106"/>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19" name="Icon disc"/>
          <p:cNvSpPr/>
          <p:nvPr/>
        </p:nvSpPr>
        <p:spPr>
          <a:xfrm>
            <a:off x="8302752" y="2377440"/>
            <a:ext cx="731520" cy="731520"/>
          </a:xfrm>
          <a:prstGeom prst="ellipse">
            <a:avLst/>
          </a:prstGeom>
          <a:solidFill>
            <a:schemeClr val="accent1"/>
          </a:solidFill>
          <a:ln/>
        </p:spPr>
      </p:sp>
      <p:pic>
        <p:nvPicPr>
          <p:cNvPr id="20" name="Image 2" descr="ShoppingBag icon">    </p:cNvPr>
          <p:cNvPicPr>
            <a:picLocks noChangeAspect="1"/>
          </p:cNvPicPr>
          <p:nvPr/>
        </p:nvPicPr>
        <p:blipFill>
          <a:blip r:embed="rId3"/>
          <a:stretch>
            <a:fillRect/>
          </a:stretch>
        </p:blipFill>
        <p:spPr>
          <a:xfrm>
            <a:off x="8478317" y="2553005"/>
            <a:ext cx="380390" cy="380390"/>
          </a:xfrm>
          <a:prstGeom prst="rect">
            <a:avLst/>
          </a:prstGeom>
        </p:spPr>
      </p:pic>
      <p:sp>
        <p:nvSpPr>
          <p:cNvPr id="21" name="Text 16"/>
          <p:cNvSpPr txBox="1"/>
          <p:nvPr/>
        </p:nvSpPr>
        <p:spPr>
          <a:xfrm>
            <a:off x="11045952" y="2331720"/>
            <a:ext cx="411480" cy="548640"/>
          </a:xfrm>
          <a:prstGeom prst="rect">
            <a:avLst/>
          </a:prstGeom>
          <a:noFill/>
          <a:ln/>
        </p:spPr>
        <p:txBody>
          <a:bodyPr wrap="square" lIns="0" tIns="0" rIns="0" bIns="0" rtlCol="0" anchor="t"/>
          <a:lstStyle/>
          <a:p>
            <a:pPr algn="r" indent="0" marL="0">
              <a:buNone/>
            </a:pPr>
            <a:r>
              <a:rPr lang="en-US" sz="3600" b="1" dirty="0">
                <a:solidFill>
                  <a:schemeClr val="accent4"/>
                </a:solidFill>
                <a:latin typeface="+mj-lt" pitchFamily="34" charset="0"/>
                <a:ea typeface="+mj-lt" pitchFamily="34" charset="-122"/>
                <a:cs typeface="+mj-lt" pitchFamily="34" charset="-120"/>
              </a:rPr>
              <a:t>3</a:t>
            </a:r>
            <a:endParaRPr lang="en-US" sz="3600" dirty="0"/>
          </a:p>
        </p:txBody>
      </p:sp>
      <p:sp>
        <p:nvSpPr>
          <p:cNvPr id="22" name="Text 17"/>
          <p:cNvSpPr txBox="1"/>
          <p:nvPr/>
        </p:nvSpPr>
        <p:spPr>
          <a:xfrm>
            <a:off x="8302752" y="3291840"/>
            <a:ext cx="3108960" cy="36576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Wait to collect</a:t>
            </a:r>
            <a:endParaRPr lang="en-US" sz="2200" dirty="0"/>
          </a:p>
        </p:txBody>
      </p:sp>
      <p:sp>
        <p:nvSpPr>
          <p:cNvPr id="23" name="Text 18"/>
          <p:cNvSpPr txBox="1"/>
          <p:nvPr/>
        </p:nvSpPr>
        <p:spPr>
          <a:xfrm>
            <a:off x="8302752" y="3657600"/>
            <a:ext cx="3108960" cy="548640"/>
          </a:xfrm>
          <a:prstGeom prst="rect">
            <a:avLst/>
          </a:prstGeom>
          <a:noFill/>
          <a:ln/>
        </p:spPr>
        <p:txBody>
          <a:bodyPr wrap="square" lIns="0" tIns="0" rIns="0" bIns="0" rtlCol="0" anchor="t"/>
          <a:lstStyle/>
          <a:p>
            <a:pPr indent="0" marL="0">
              <a:buNone/>
            </a:pPr>
            <a:r>
              <a:rPr lang="en-US" sz="1400" dirty="0">
                <a:solidFill>
                  <a:schemeClr val="accent5"/>
                </a:solidFill>
              </a:rPr>
              <a:t>Then a third wait for the food, with no signal for when it is ready.</a:t>
            </a:r>
            <a:endParaRPr lang="en-US" sz="1400" dirty="0"/>
          </a:p>
        </p:txBody>
      </p:sp>
      <p:sp>
        <p:nvSpPr>
          <p:cNvPr id="24" name="Pain card"/>
          <p:cNvSpPr/>
          <p:nvPr/>
        </p:nvSpPr>
        <p:spPr>
          <a:xfrm>
            <a:off x="548640" y="4526280"/>
            <a:ext cx="5468112" cy="1554480"/>
          </a:xfrm>
          <a:prstGeom prst="roundRect">
            <a:avLst>
              <a:gd name="adj" fmla="val 7059"/>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25" name="Icon disc"/>
          <p:cNvSpPr/>
          <p:nvPr/>
        </p:nvSpPr>
        <p:spPr>
          <a:xfrm>
            <a:off x="822960" y="4937760"/>
            <a:ext cx="731520" cy="731520"/>
          </a:xfrm>
          <a:prstGeom prst="ellipse">
            <a:avLst/>
          </a:prstGeom>
          <a:solidFill>
            <a:schemeClr val="tx2"/>
          </a:solidFill>
          <a:ln/>
        </p:spPr>
      </p:sp>
      <p:pic>
        <p:nvPicPr>
          <p:cNvPr id="26" name="Image 3" descr="Ban icon">    </p:cNvPr>
          <p:cNvPicPr>
            <a:picLocks noChangeAspect="1"/>
          </p:cNvPicPr>
          <p:nvPr/>
        </p:nvPicPr>
        <p:blipFill>
          <a:blip r:embed="rId4"/>
          <a:stretch>
            <a:fillRect/>
          </a:stretch>
        </p:blipFill>
        <p:spPr>
          <a:xfrm>
            <a:off x="998525" y="5113325"/>
            <a:ext cx="380390" cy="380390"/>
          </a:xfrm>
          <a:prstGeom prst="rect">
            <a:avLst/>
          </a:prstGeom>
        </p:spPr>
      </p:pic>
      <p:sp>
        <p:nvSpPr>
          <p:cNvPr id="27" name="Text 21"/>
          <p:cNvSpPr txBox="1"/>
          <p:nvPr/>
        </p:nvSpPr>
        <p:spPr>
          <a:xfrm>
            <a:off x="1737360" y="4846320"/>
            <a:ext cx="402336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Items sell out while people queue</a:t>
            </a:r>
            <a:endParaRPr lang="en-US" sz="2000" dirty="0"/>
          </a:p>
        </p:txBody>
      </p:sp>
      <p:sp>
        <p:nvSpPr>
          <p:cNvPr id="28" name="Text 22"/>
          <p:cNvSpPr txBox="1"/>
          <p:nvPr/>
        </p:nvSpPr>
        <p:spPr>
          <a:xfrm>
            <a:off x="1737360" y="5257800"/>
            <a:ext cx="4023360" cy="640080"/>
          </a:xfrm>
          <a:prstGeom prst="rect">
            <a:avLst/>
          </a:prstGeom>
          <a:noFill/>
          <a:ln/>
        </p:spPr>
        <p:txBody>
          <a:bodyPr wrap="square" lIns="0" tIns="0" rIns="0" bIns="0" rtlCol="0" anchor="t"/>
          <a:lstStyle/>
          <a:p>
            <a:pPr indent="0" marL="0">
              <a:buNone/>
            </a:pPr>
            <a:r>
              <a:rPr lang="en-US" sz="1400" dirty="0">
                <a:solidFill>
                  <a:schemeClr val="accent5"/>
                </a:solidFill>
              </a:rPr>
              <a:t>Students reach the front only to hear the dish is finished.</a:t>
            </a:r>
            <a:endParaRPr lang="en-US" sz="1400" dirty="0"/>
          </a:p>
        </p:txBody>
      </p:sp>
      <p:sp>
        <p:nvSpPr>
          <p:cNvPr id="29" name="Pain card"/>
          <p:cNvSpPr/>
          <p:nvPr/>
        </p:nvSpPr>
        <p:spPr>
          <a:xfrm>
            <a:off x="6172200" y="4526280"/>
            <a:ext cx="5468112" cy="1554480"/>
          </a:xfrm>
          <a:prstGeom prst="roundRect">
            <a:avLst>
              <a:gd name="adj" fmla="val 7059"/>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30" name="Icon disc"/>
          <p:cNvSpPr/>
          <p:nvPr/>
        </p:nvSpPr>
        <p:spPr>
          <a:xfrm>
            <a:off x="6446520" y="4937760"/>
            <a:ext cx="731520" cy="731520"/>
          </a:xfrm>
          <a:prstGeom prst="ellipse">
            <a:avLst/>
          </a:prstGeom>
          <a:solidFill>
            <a:schemeClr val="tx2"/>
          </a:solidFill>
          <a:ln/>
        </p:spPr>
      </p:sp>
      <p:pic>
        <p:nvPicPr>
          <p:cNvPr id="31" name="Image 4" descr="ChartBar icon">    </p:cNvPr>
          <p:cNvPicPr>
            <a:picLocks noChangeAspect="1"/>
          </p:cNvPicPr>
          <p:nvPr/>
        </p:nvPicPr>
        <p:blipFill>
          <a:blip r:embed="rId5"/>
          <a:stretch>
            <a:fillRect/>
          </a:stretch>
        </p:blipFill>
        <p:spPr>
          <a:xfrm>
            <a:off x="6622085" y="5113325"/>
            <a:ext cx="380390" cy="380390"/>
          </a:xfrm>
          <a:prstGeom prst="rect">
            <a:avLst/>
          </a:prstGeom>
        </p:spPr>
      </p:pic>
      <p:sp>
        <p:nvSpPr>
          <p:cNvPr id="32" name="Text 25"/>
          <p:cNvSpPr txBox="1"/>
          <p:nvPr/>
        </p:nvSpPr>
        <p:spPr>
          <a:xfrm>
            <a:off x="7360920" y="4846320"/>
            <a:ext cx="4023360" cy="365760"/>
          </a:xfrm>
          <a:prstGeom prst="rect">
            <a:avLst/>
          </a:prstGeom>
          <a:noFill/>
          <a:ln/>
        </p:spPr>
        <p:txBody>
          <a:bodyPr wrap="square" lIns="0" tIns="0" rIns="0" bIns="0" rtlCol="0" anchor="t"/>
          <a:lstStyle/>
          <a:p>
            <a:pPr indent="0" marL="0">
              <a:buNone/>
            </a:pPr>
            <a:r>
              <a:rPr lang="en-US" sz="2000" b="1" dirty="0">
                <a:solidFill>
                  <a:schemeClr val="tx1"/>
                </a:solidFill>
                <a:latin typeface="+mj-lt" pitchFamily="34" charset="0"/>
                <a:ea typeface="+mj-lt" pitchFamily="34" charset="-122"/>
                <a:cs typeface="+mj-lt" pitchFamily="34" charset="-120"/>
              </a:rPr>
              <a:t>No record of what sells best</a:t>
            </a:r>
            <a:endParaRPr lang="en-US" sz="2000" dirty="0"/>
          </a:p>
        </p:txBody>
      </p:sp>
      <p:sp>
        <p:nvSpPr>
          <p:cNvPr id="33" name="Text 26"/>
          <p:cNvSpPr txBox="1"/>
          <p:nvPr/>
        </p:nvSpPr>
        <p:spPr>
          <a:xfrm>
            <a:off x="7360920" y="5257800"/>
            <a:ext cx="4023360" cy="640080"/>
          </a:xfrm>
          <a:prstGeom prst="rect">
            <a:avLst/>
          </a:prstGeom>
          <a:noFill/>
          <a:ln/>
        </p:spPr>
        <p:txBody>
          <a:bodyPr wrap="square" lIns="0" tIns="0" rIns="0" bIns="0" rtlCol="0" anchor="t"/>
          <a:lstStyle/>
          <a:p>
            <a:pPr indent="0" marL="0">
              <a:buNone/>
            </a:pPr>
            <a:r>
              <a:rPr lang="en-US" sz="1400" dirty="0">
                <a:solidFill>
                  <a:schemeClr val="accent5"/>
                </a:solidFill>
              </a:rPr>
              <a:t>Nothing is captured, so the kitchen cannot plan what to cook.</a:t>
            </a:r>
            <a:endParaRPr lang="en-US" sz="14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pill"/>
          <p:cNvSpPr/>
          <p:nvPr/>
        </p:nvSpPr>
        <p:spPr>
          <a:xfrm>
            <a:off x="548640" y="347472"/>
            <a:ext cx="2802636" cy="292608"/>
          </a:xfrm>
          <a:prstGeom prst="roundRect">
            <a:avLst>
              <a:gd name="adj" fmla="val 50000"/>
            </a:avLst>
          </a:prstGeom>
          <a:ln w="12700">
            <a:solidFill>
              <a:schemeClr val="accent6"/>
            </a:solidFill>
            <a:prstDash val="solid"/>
          </a:ln>
        </p:spPr>
      </p:sp>
      <p:sp>
        <p:nvSpPr>
          <p:cNvPr id="3" name="Text 1"/>
          <p:cNvSpPr txBox="1"/>
          <p:nvPr/>
        </p:nvSpPr>
        <p:spPr>
          <a:xfrm>
            <a:off x="548640" y="347472"/>
            <a:ext cx="2802636" cy="292608"/>
          </a:xfrm>
          <a:prstGeom prst="rect">
            <a:avLst/>
          </a:prstGeom>
          <a:noFill/>
          <a:ln/>
        </p:spPr>
        <p:txBody>
          <a:bodyPr wrap="square" lIns="0" tIns="0" rIns="0" bIns="0" rtlCol="0" anchor="ctr"/>
          <a:lstStyle/>
          <a:p>
            <a:pPr algn="ctr" indent="0" marL="0">
              <a:buNone/>
            </a:pPr>
            <a:r>
              <a:rPr lang="en-US" sz="1100" b="1" spc="200" kern="0" dirty="0">
                <a:solidFill>
                  <a:schemeClr val="accent6"/>
                </a:solidFill>
              </a:rPr>
              <a:t>02  ·  THE SOLUTION</a:t>
            </a:r>
            <a:endParaRPr lang="en-US" sz="1100" dirty="0"/>
          </a:p>
        </p:txBody>
      </p:sp>
      <p:sp>
        <p:nvSpPr>
          <p:cNvPr id="4" name="Text 0"/>
          <p:cNvSpPr/>
          <p:nvPr>
            <p:ph idx="100" type="title" hasCustomPrompt="1"/>
          </p:nvPr>
        </p:nvSpPr>
        <p:spPr>
          <a:xfrm>
            <a:off x="548640" y="749808"/>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Order ahead. Collect with a code</a:t>
            </a:r>
            <a:endParaRPr lang="en-US" sz="3600" dirty="0"/>
          </a:p>
        </p:txBody>
      </p:sp>
      <p:sp>
        <p:nvSpPr>
          <p:cNvPr id="5" name="Text 3"/>
          <p:cNvSpPr txBox="1"/>
          <p:nvPr/>
        </p:nvSpPr>
        <p:spPr>
          <a:xfrm>
            <a:off x="548640" y="1417320"/>
            <a:ext cx="11064240" cy="365760"/>
          </a:xfrm>
          <a:prstGeom prst="rect">
            <a:avLst/>
          </a:prstGeom>
          <a:noFill/>
          <a:ln/>
        </p:spPr>
        <p:txBody>
          <a:bodyPr wrap="square" lIns="0" tIns="0" rIns="0" bIns="0" rtlCol="0" anchor="t"/>
          <a:lstStyle/>
          <a:p>
            <a:pPr indent="0" marL="0">
              <a:buNone/>
            </a:pPr>
            <a:r>
              <a:rPr lang="en-US" sz="1800" dirty="0">
                <a:solidFill>
                  <a:schemeClr val="accent5"/>
                </a:solidFill>
              </a:rPr>
              <a:t>Students order from their seat. The kitchen and the counter each get exactly one screen.</a:t>
            </a:r>
            <a:endParaRPr lang="en-US" sz="1800" dirty="0"/>
          </a:p>
        </p:txBody>
      </p:sp>
      <p:sp>
        <p:nvSpPr>
          <p:cNvPr id="6" name="Step card"/>
          <p:cNvSpPr/>
          <p:nvPr/>
        </p:nvSpPr>
        <p:spPr>
          <a:xfrm>
            <a:off x="548640" y="2057400"/>
            <a:ext cx="2514600" cy="2468880"/>
          </a:xfrm>
          <a:prstGeom prst="roundRect">
            <a:avLst>
              <a:gd name="adj" fmla="val 4444"/>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7" name="Number disc"/>
          <p:cNvSpPr/>
          <p:nvPr/>
        </p:nvSpPr>
        <p:spPr>
          <a:xfrm>
            <a:off x="777240" y="2286000"/>
            <a:ext cx="548640" cy="548640"/>
          </a:xfrm>
          <a:prstGeom prst="ellipse">
            <a:avLst/>
          </a:prstGeom>
          <a:solidFill>
            <a:schemeClr val="accent1"/>
          </a:solidFill>
          <a:ln/>
        </p:spPr>
      </p:sp>
      <p:sp>
        <p:nvSpPr>
          <p:cNvPr id="8" name="Text 6"/>
          <p:cNvSpPr txBox="1"/>
          <p:nvPr/>
        </p:nvSpPr>
        <p:spPr>
          <a:xfrm>
            <a:off x="777240" y="22860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1</a:t>
            </a:r>
            <a:endParaRPr lang="en-US" sz="1800" dirty="0"/>
          </a:p>
        </p:txBody>
      </p:sp>
      <p:sp>
        <p:nvSpPr>
          <p:cNvPr id="9" name="Text 7"/>
          <p:cNvSpPr txBox="1"/>
          <p:nvPr/>
        </p:nvSpPr>
        <p:spPr>
          <a:xfrm>
            <a:off x="777240" y="2971800"/>
            <a:ext cx="2103120" cy="36576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Order</a:t>
            </a:r>
            <a:endParaRPr lang="en-US" sz="2200" dirty="0"/>
          </a:p>
        </p:txBody>
      </p:sp>
      <p:sp>
        <p:nvSpPr>
          <p:cNvPr id="10" name="Text 8"/>
          <p:cNvSpPr txBox="1"/>
          <p:nvPr/>
        </p:nvSpPr>
        <p:spPr>
          <a:xfrm>
            <a:off x="777240" y="3364992"/>
            <a:ext cx="2103120" cy="914400"/>
          </a:xfrm>
          <a:prstGeom prst="rect">
            <a:avLst/>
          </a:prstGeom>
          <a:noFill/>
          <a:ln/>
        </p:spPr>
        <p:txBody>
          <a:bodyPr wrap="square" lIns="0" tIns="0" rIns="0" bIns="0" rtlCol="0" anchor="t"/>
          <a:lstStyle/>
          <a:p>
            <a:pPr indent="0" marL="0">
              <a:buNone/>
            </a:pPr>
            <a:r>
              <a:rPr lang="en-US" sz="1400" dirty="0">
                <a:solidFill>
                  <a:schemeClr val="accent5"/>
                </a:solidFill>
              </a:rPr>
              <a:t>Browse the live menu, add to cart, place the order. No account needed.</a:t>
            </a:r>
            <a:endParaRPr lang="en-US" sz="1400" dirty="0"/>
          </a:p>
        </p:txBody>
      </p:sp>
      <p:sp>
        <p:nvSpPr>
          <p:cNvPr id="11" name="Step arrow"/>
          <p:cNvSpPr/>
          <p:nvPr/>
        </p:nvSpPr>
        <p:spPr>
          <a:xfrm>
            <a:off x="3108960" y="3063240"/>
            <a:ext cx="246888" cy="274320"/>
          </a:xfrm>
          <a:prstGeom prst="rightArrow">
            <a:avLst/>
          </a:prstGeom>
          <a:solidFill>
            <a:schemeClr val="accent3"/>
          </a:solidFill>
          <a:ln/>
        </p:spPr>
      </p:sp>
      <p:sp>
        <p:nvSpPr>
          <p:cNvPr id="12" name="Step card"/>
          <p:cNvSpPr/>
          <p:nvPr/>
        </p:nvSpPr>
        <p:spPr>
          <a:xfrm>
            <a:off x="3401568" y="2057400"/>
            <a:ext cx="2514600" cy="2468880"/>
          </a:xfrm>
          <a:prstGeom prst="roundRect">
            <a:avLst>
              <a:gd name="adj" fmla="val 4444"/>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13" name="Number disc"/>
          <p:cNvSpPr/>
          <p:nvPr/>
        </p:nvSpPr>
        <p:spPr>
          <a:xfrm>
            <a:off x="3630168" y="2286000"/>
            <a:ext cx="548640" cy="548640"/>
          </a:xfrm>
          <a:prstGeom prst="ellipse">
            <a:avLst/>
          </a:prstGeom>
          <a:solidFill>
            <a:schemeClr val="accent1"/>
          </a:solidFill>
          <a:ln/>
        </p:spPr>
      </p:sp>
      <p:sp>
        <p:nvSpPr>
          <p:cNvPr id="14" name="Text 12"/>
          <p:cNvSpPr txBox="1"/>
          <p:nvPr/>
        </p:nvSpPr>
        <p:spPr>
          <a:xfrm>
            <a:off x="3630168" y="22860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2</a:t>
            </a:r>
            <a:endParaRPr lang="en-US" sz="1800" dirty="0"/>
          </a:p>
        </p:txBody>
      </p:sp>
      <p:sp>
        <p:nvSpPr>
          <p:cNvPr id="15" name="Text 13"/>
          <p:cNvSpPr txBox="1"/>
          <p:nvPr/>
        </p:nvSpPr>
        <p:spPr>
          <a:xfrm>
            <a:off x="3630168" y="2971800"/>
            <a:ext cx="2103120" cy="36576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Cook</a:t>
            </a:r>
            <a:endParaRPr lang="en-US" sz="2200" dirty="0"/>
          </a:p>
        </p:txBody>
      </p:sp>
      <p:sp>
        <p:nvSpPr>
          <p:cNvPr id="16" name="Text 14"/>
          <p:cNvSpPr txBox="1"/>
          <p:nvPr/>
        </p:nvSpPr>
        <p:spPr>
          <a:xfrm>
            <a:off x="3630168" y="3364992"/>
            <a:ext cx="2103120" cy="914400"/>
          </a:xfrm>
          <a:prstGeom prst="rect">
            <a:avLst/>
          </a:prstGeom>
          <a:noFill/>
          <a:ln/>
        </p:spPr>
        <p:txBody>
          <a:bodyPr wrap="square" lIns="0" tIns="0" rIns="0" bIns="0" rtlCol="0" anchor="t"/>
          <a:lstStyle/>
          <a:p>
            <a:pPr indent="0" marL="0">
              <a:buNone/>
            </a:pPr>
            <a:r>
              <a:rPr lang="en-US" sz="1400" dirty="0">
                <a:solidFill>
                  <a:schemeClr val="accent5"/>
                </a:solidFill>
              </a:rPr>
              <a:t>The kitchen sees it within 10 seconds and taps Ready for Pickup.</a:t>
            </a:r>
            <a:endParaRPr lang="en-US" sz="1400" dirty="0"/>
          </a:p>
        </p:txBody>
      </p:sp>
      <p:sp>
        <p:nvSpPr>
          <p:cNvPr id="17" name="Step arrow"/>
          <p:cNvSpPr/>
          <p:nvPr/>
        </p:nvSpPr>
        <p:spPr>
          <a:xfrm>
            <a:off x="5961888" y="3063240"/>
            <a:ext cx="246888" cy="274320"/>
          </a:xfrm>
          <a:prstGeom prst="rightArrow">
            <a:avLst/>
          </a:prstGeom>
          <a:solidFill>
            <a:schemeClr val="accent3"/>
          </a:solidFill>
          <a:ln/>
        </p:spPr>
      </p:sp>
      <p:sp>
        <p:nvSpPr>
          <p:cNvPr id="18" name="Step card"/>
          <p:cNvSpPr/>
          <p:nvPr/>
        </p:nvSpPr>
        <p:spPr>
          <a:xfrm>
            <a:off x="6254496" y="2057400"/>
            <a:ext cx="2514600" cy="2468880"/>
          </a:xfrm>
          <a:prstGeom prst="roundRect">
            <a:avLst>
              <a:gd name="adj" fmla="val 4444"/>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19" name="Number disc"/>
          <p:cNvSpPr/>
          <p:nvPr/>
        </p:nvSpPr>
        <p:spPr>
          <a:xfrm>
            <a:off x="6483096" y="2286000"/>
            <a:ext cx="548640" cy="548640"/>
          </a:xfrm>
          <a:prstGeom prst="ellipse">
            <a:avLst/>
          </a:prstGeom>
          <a:solidFill>
            <a:schemeClr val="accent1"/>
          </a:solidFill>
          <a:ln/>
        </p:spPr>
      </p:sp>
      <p:sp>
        <p:nvSpPr>
          <p:cNvPr id="20" name="Text 18"/>
          <p:cNvSpPr txBox="1"/>
          <p:nvPr/>
        </p:nvSpPr>
        <p:spPr>
          <a:xfrm>
            <a:off x="6483096" y="22860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3</a:t>
            </a:r>
            <a:endParaRPr lang="en-US" sz="1800" dirty="0"/>
          </a:p>
        </p:txBody>
      </p:sp>
      <p:sp>
        <p:nvSpPr>
          <p:cNvPr id="21" name="Text 19"/>
          <p:cNvSpPr txBox="1"/>
          <p:nvPr/>
        </p:nvSpPr>
        <p:spPr>
          <a:xfrm>
            <a:off x="6483096" y="2971800"/>
            <a:ext cx="2103120" cy="36576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Get alerted</a:t>
            </a:r>
            <a:endParaRPr lang="en-US" sz="2200" dirty="0"/>
          </a:p>
        </p:txBody>
      </p:sp>
      <p:sp>
        <p:nvSpPr>
          <p:cNvPr id="22" name="Text 20"/>
          <p:cNvSpPr txBox="1"/>
          <p:nvPr/>
        </p:nvSpPr>
        <p:spPr>
          <a:xfrm>
            <a:off x="6483096" y="3364992"/>
            <a:ext cx="2103120" cy="914400"/>
          </a:xfrm>
          <a:prstGeom prst="rect">
            <a:avLst/>
          </a:prstGeom>
          <a:noFill/>
          <a:ln/>
        </p:spPr>
        <p:txBody>
          <a:bodyPr wrap="square" lIns="0" tIns="0" rIns="0" bIns="0" rtlCol="0" anchor="t"/>
          <a:lstStyle/>
          <a:p>
            <a:pPr indent="0" marL="0">
              <a:buNone/>
            </a:pPr>
            <a:r>
              <a:rPr lang="en-US" sz="1400" dirty="0">
                <a:solidFill>
                  <a:schemeClr val="accent5"/>
                </a:solidFill>
              </a:rPr>
              <a:t>A notification service is told; the customer page turns READY FOR PICKUP.</a:t>
            </a:r>
            <a:endParaRPr lang="en-US" sz="1400" dirty="0"/>
          </a:p>
        </p:txBody>
      </p:sp>
      <p:sp>
        <p:nvSpPr>
          <p:cNvPr id="23" name="Step arrow"/>
          <p:cNvSpPr/>
          <p:nvPr/>
        </p:nvSpPr>
        <p:spPr>
          <a:xfrm>
            <a:off x="8814816" y="3063240"/>
            <a:ext cx="246888" cy="274320"/>
          </a:xfrm>
          <a:prstGeom prst="rightArrow">
            <a:avLst/>
          </a:prstGeom>
          <a:solidFill>
            <a:schemeClr val="accent3"/>
          </a:solidFill>
          <a:ln/>
        </p:spPr>
      </p:sp>
      <p:sp>
        <p:nvSpPr>
          <p:cNvPr id="24" name="Step card"/>
          <p:cNvSpPr/>
          <p:nvPr/>
        </p:nvSpPr>
        <p:spPr>
          <a:xfrm>
            <a:off x="9107424" y="2057400"/>
            <a:ext cx="2514600" cy="2468880"/>
          </a:xfrm>
          <a:prstGeom prst="roundRect">
            <a:avLst>
              <a:gd name="adj" fmla="val 4444"/>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25" name="Number disc"/>
          <p:cNvSpPr/>
          <p:nvPr/>
        </p:nvSpPr>
        <p:spPr>
          <a:xfrm>
            <a:off x="9336024" y="2286000"/>
            <a:ext cx="548640" cy="548640"/>
          </a:xfrm>
          <a:prstGeom prst="ellipse">
            <a:avLst/>
          </a:prstGeom>
          <a:solidFill>
            <a:schemeClr val="accent1"/>
          </a:solidFill>
          <a:ln/>
        </p:spPr>
      </p:sp>
      <p:sp>
        <p:nvSpPr>
          <p:cNvPr id="26" name="Text 24"/>
          <p:cNvSpPr txBox="1"/>
          <p:nvPr/>
        </p:nvSpPr>
        <p:spPr>
          <a:xfrm>
            <a:off x="9336024" y="22860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mj-lt" pitchFamily="34" charset="0"/>
                <a:ea typeface="+mj-lt" pitchFamily="34" charset="-122"/>
                <a:cs typeface="+mj-lt" pitchFamily="34" charset="-120"/>
              </a:rPr>
              <a:t>4</a:t>
            </a:r>
            <a:endParaRPr lang="en-US" sz="1800" dirty="0"/>
          </a:p>
        </p:txBody>
      </p:sp>
      <p:sp>
        <p:nvSpPr>
          <p:cNvPr id="27" name="Text 25"/>
          <p:cNvSpPr txBox="1"/>
          <p:nvPr/>
        </p:nvSpPr>
        <p:spPr>
          <a:xfrm>
            <a:off x="9336024" y="2971800"/>
            <a:ext cx="2103120" cy="365760"/>
          </a:xfrm>
          <a:prstGeom prst="rect">
            <a:avLst/>
          </a:prstGeom>
          <a:noFill/>
          <a:ln/>
        </p:spPr>
        <p:txBody>
          <a:bodyPr wrap="square" lIns="0" tIns="0" rIns="0" bIns="0" rtlCol="0" anchor="t"/>
          <a:lstStyle/>
          <a:p>
            <a:pPr indent="0" marL="0">
              <a:buNone/>
            </a:pPr>
            <a:r>
              <a:rPr lang="en-US" sz="2200" b="1" dirty="0">
                <a:solidFill>
                  <a:schemeClr val="tx1"/>
                </a:solidFill>
                <a:latin typeface="+mj-lt" pitchFamily="34" charset="0"/>
                <a:ea typeface="+mj-lt" pitchFamily="34" charset="-122"/>
                <a:cs typeface="+mj-lt" pitchFamily="34" charset="-120"/>
              </a:rPr>
              <a:t>Collect</a:t>
            </a:r>
            <a:endParaRPr lang="en-US" sz="2200" dirty="0"/>
          </a:p>
        </p:txBody>
      </p:sp>
      <p:sp>
        <p:nvSpPr>
          <p:cNvPr id="28" name="Text 26"/>
          <p:cNvSpPr txBox="1"/>
          <p:nvPr/>
        </p:nvSpPr>
        <p:spPr>
          <a:xfrm>
            <a:off x="9336024" y="3364992"/>
            <a:ext cx="2103120" cy="914400"/>
          </a:xfrm>
          <a:prstGeom prst="rect">
            <a:avLst/>
          </a:prstGeom>
          <a:noFill/>
          <a:ln/>
        </p:spPr>
        <p:txBody>
          <a:bodyPr wrap="square" lIns="0" tIns="0" rIns="0" bIns="0" rtlCol="0" anchor="t"/>
          <a:lstStyle/>
          <a:p>
            <a:pPr indent="0" marL="0">
              <a:buNone/>
            </a:pPr>
            <a:r>
              <a:rPr lang="en-US" sz="1400" dirty="0">
                <a:solidFill>
                  <a:schemeClr val="accent5"/>
                </a:solidFill>
              </a:rPr>
              <a:t>Staff check the 6-digit code, record the payment and hand the food over.</a:t>
            </a:r>
            <a:endParaRPr lang="en-US" sz="1400" dirty="0"/>
          </a:p>
        </p:txBody>
      </p:sp>
      <p:sp>
        <p:nvSpPr>
          <p:cNvPr id="29" name="Roles panel"/>
          <p:cNvSpPr/>
          <p:nvPr/>
        </p:nvSpPr>
        <p:spPr>
          <a:xfrm>
            <a:off x="548640" y="4800600"/>
            <a:ext cx="11091672" cy="1463040"/>
          </a:xfrm>
          <a:prstGeom prst="roundRect">
            <a:avLst>
              <a:gd name="adj" fmla="val 7500"/>
            </a:avLst>
          </a:prstGeom>
          <a:solidFill>
            <a:schemeClr val="tx2"/>
          </a:solidFill>
          <a:ln/>
        </p:spPr>
      </p:sp>
      <p:sp>
        <p:nvSpPr>
          <p:cNvPr id="30" name="Icon disc"/>
          <p:cNvSpPr/>
          <p:nvPr/>
        </p:nvSpPr>
        <p:spPr>
          <a:xfrm>
            <a:off x="868680" y="5166360"/>
            <a:ext cx="685800" cy="685800"/>
          </a:xfrm>
          <a:prstGeom prst="ellipse">
            <a:avLst/>
          </a:prstGeom>
          <a:solidFill>
            <a:schemeClr val="accent1"/>
          </a:solidFill>
          <a:ln/>
        </p:spPr>
      </p:sp>
      <p:pic>
        <p:nvPicPr>
          <p:cNvPr id="31" name="Image 0" descr="MobileAlt icon">    </p:cNvPr>
          <p:cNvPicPr>
            <a:picLocks noChangeAspect="1"/>
          </p:cNvPicPr>
          <p:nvPr/>
        </p:nvPicPr>
        <p:blipFill>
          <a:blip r:embed="rId1"/>
          <a:stretch>
            <a:fillRect/>
          </a:stretch>
        </p:blipFill>
        <p:spPr>
          <a:xfrm>
            <a:off x="1033272" y="5330952"/>
            <a:ext cx="356616" cy="356616"/>
          </a:xfrm>
          <a:prstGeom prst="rect">
            <a:avLst/>
          </a:prstGeom>
        </p:spPr>
      </p:pic>
      <p:sp>
        <p:nvSpPr>
          <p:cNvPr id="32" name="Text 29"/>
          <p:cNvSpPr txBox="1"/>
          <p:nvPr/>
        </p:nvSpPr>
        <p:spPr>
          <a:xfrm>
            <a:off x="1737360" y="5102352"/>
            <a:ext cx="2468880" cy="320040"/>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Customer</a:t>
            </a:r>
            <a:endParaRPr lang="en-US" sz="1800" dirty="0"/>
          </a:p>
        </p:txBody>
      </p:sp>
      <p:sp>
        <p:nvSpPr>
          <p:cNvPr id="33" name="Text 30"/>
          <p:cNvSpPr txBox="1"/>
          <p:nvPr/>
        </p:nvSpPr>
        <p:spPr>
          <a:xfrm>
            <a:off x="1737360" y="5440680"/>
            <a:ext cx="2514600" cy="731520"/>
          </a:xfrm>
          <a:prstGeom prst="rect">
            <a:avLst/>
          </a:prstGeom>
          <a:noFill/>
          <a:ln/>
        </p:spPr>
        <p:txBody>
          <a:bodyPr wrap="square" lIns="0" tIns="0" rIns="0" bIns="0" rtlCol="0" anchor="t"/>
          <a:lstStyle/>
          <a:p>
            <a:pPr indent="0" marL="0">
              <a:buNone/>
            </a:pPr>
            <a:r>
              <a:rPr lang="en-US" sz="1400" dirty="0">
                <a:solidFill>
                  <a:schemeClr val="accent4"/>
                </a:solidFill>
              </a:rPr>
              <a:t>Browses, orders, gets a code. Never logs in.</a:t>
            </a:r>
            <a:endParaRPr lang="en-US" sz="1400" dirty="0"/>
          </a:p>
        </p:txBody>
      </p:sp>
      <p:sp>
        <p:nvSpPr>
          <p:cNvPr id="34" name="Icon disc"/>
          <p:cNvSpPr/>
          <p:nvPr/>
        </p:nvSpPr>
        <p:spPr>
          <a:xfrm>
            <a:off x="4480560" y="5166360"/>
            <a:ext cx="685800" cy="685800"/>
          </a:xfrm>
          <a:prstGeom prst="ellipse">
            <a:avLst/>
          </a:prstGeom>
          <a:solidFill>
            <a:schemeClr val="accent1"/>
          </a:solidFill>
          <a:ln/>
        </p:spPr>
      </p:sp>
      <p:pic>
        <p:nvPicPr>
          <p:cNvPr id="35" name="Image 1" descr="Utensils icon">    </p:cNvPr>
          <p:cNvPicPr>
            <a:picLocks noChangeAspect="1"/>
          </p:cNvPicPr>
          <p:nvPr/>
        </p:nvPicPr>
        <p:blipFill>
          <a:blip r:embed="rId2"/>
          <a:stretch>
            <a:fillRect/>
          </a:stretch>
        </p:blipFill>
        <p:spPr>
          <a:xfrm>
            <a:off x="4645152" y="5330952"/>
            <a:ext cx="356616" cy="356616"/>
          </a:xfrm>
          <a:prstGeom prst="rect">
            <a:avLst/>
          </a:prstGeom>
        </p:spPr>
      </p:pic>
      <p:sp>
        <p:nvSpPr>
          <p:cNvPr id="36" name="Text 32"/>
          <p:cNvSpPr txBox="1"/>
          <p:nvPr/>
        </p:nvSpPr>
        <p:spPr>
          <a:xfrm>
            <a:off x="5349240" y="5102352"/>
            <a:ext cx="2468880" cy="320040"/>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Kitchen</a:t>
            </a:r>
            <a:endParaRPr lang="en-US" sz="1800" dirty="0"/>
          </a:p>
        </p:txBody>
      </p:sp>
      <p:sp>
        <p:nvSpPr>
          <p:cNvPr id="37" name="Text 33"/>
          <p:cNvSpPr txBox="1"/>
          <p:nvPr/>
        </p:nvSpPr>
        <p:spPr>
          <a:xfrm>
            <a:off x="5349240" y="5440680"/>
            <a:ext cx="2514600" cy="731520"/>
          </a:xfrm>
          <a:prstGeom prst="rect">
            <a:avLst/>
          </a:prstGeom>
          <a:noFill/>
          <a:ln/>
        </p:spPr>
        <p:txBody>
          <a:bodyPr wrap="square" lIns="0" tIns="0" rIns="0" bIns="0" rtlCol="0" anchor="t"/>
          <a:lstStyle/>
          <a:p>
            <a:pPr indent="0" marL="0">
              <a:buNone/>
            </a:pPr>
            <a:r>
              <a:rPr lang="en-US" sz="1400" dirty="0">
                <a:solidFill>
                  <a:schemeClr val="accent4"/>
                </a:solidFill>
              </a:rPr>
              <a:t>Owns the food: availability and Ready for Pickup.</a:t>
            </a:r>
            <a:endParaRPr lang="en-US" sz="1400" dirty="0"/>
          </a:p>
        </p:txBody>
      </p:sp>
      <p:sp>
        <p:nvSpPr>
          <p:cNvPr id="38" name="Icon disc"/>
          <p:cNvSpPr/>
          <p:nvPr/>
        </p:nvSpPr>
        <p:spPr>
          <a:xfrm>
            <a:off x="8092440" y="5166360"/>
            <a:ext cx="685800" cy="685800"/>
          </a:xfrm>
          <a:prstGeom prst="ellipse">
            <a:avLst/>
          </a:prstGeom>
          <a:solidFill>
            <a:schemeClr val="accent1"/>
          </a:solidFill>
          <a:ln/>
        </p:spPr>
      </p:sp>
      <p:pic>
        <p:nvPicPr>
          <p:cNvPr id="39" name="Image 2" descr="Key icon">    </p:cNvPr>
          <p:cNvPicPr>
            <a:picLocks noChangeAspect="1"/>
          </p:cNvPicPr>
          <p:nvPr/>
        </p:nvPicPr>
        <p:blipFill>
          <a:blip r:embed="rId3"/>
          <a:stretch>
            <a:fillRect/>
          </a:stretch>
        </p:blipFill>
        <p:spPr>
          <a:xfrm>
            <a:off x="8257032" y="5330952"/>
            <a:ext cx="356616" cy="356616"/>
          </a:xfrm>
          <a:prstGeom prst="rect">
            <a:avLst/>
          </a:prstGeom>
        </p:spPr>
      </p:pic>
      <p:sp>
        <p:nvSpPr>
          <p:cNvPr id="40" name="Text 35"/>
          <p:cNvSpPr txBox="1"/>
          <p:nvPr/>
        </p:nvSpPr>
        <p:spPr>
          <a:xfrm>
            <a:off x="8961120" y="5102352"/>
            <a:ext cx="2468880" cy="320040"/>
          </a:xfrm>
          <a:prstGeom prst="rect">
            <a:avLst/>
          </a:prstGeom>
          <a:noFill/>
          <a:ln/>
        </p:spPr>
        <p:txBody>
          <a:bodyPr wrap="square" lIns="0" tIns="0" rIns="0" bIns="0" rtlCol="0" anchor="t"/>
          <a:lstStyle/>
          <a:p>
            <a:pPr indent="0" marL="0">
              <a:buNone/>
            </a:pPr>
            <a:r>
              <a:rPr lang="en-US" sz="1800" b="1" dirty="0">
                <a:solidFill>
                  <a:schemeClr val="bg1"/>
                </a:solidFill>
                <a:latin typeface="+mj-lt" pitchFamily="34" charset="0"/>
                <a:ea typeface="+mj-lt" pitchFamily="34" charset="-122"/>
                <a:cs typeface="+mj-lt" pitchFamily="34" charset="-120"/>
              </a:rPr>
              <a:t>Counter staff</a:t>
            </a:r>
            <a:endParaRPr lang="en-US" sz="1800" dirty="0"/>
          </a:p>
        </p:txBody>
      </p:sp>
      <p:sp>
        <p:nvSpPr>
          <p:cNvPr id="41" name="Text 36"/>
          <p:cNvSpPr txBox="1"/>
          <p:nvPr/>
        </p:nvSpPr>
        <p:spPr>
          <a:xfrm>
            <a:off x="8961120" y="5440680"/>
            <a:ext cx="2514600" cy="731520"/>
          </a:xfrm>
          <a:prstGeom prst="rect">
            <a:avLst/>
          </a:prstGeom>
          <a:noFill/>
          <a:ln/>
        </p:spPr>
        <p:txBody>
          <a:bodyPr wrap="square" lIns="0" tIns="0" rIns="0" bIns="0" rtlCol="0" anchor="t"/>
          <a:lstStyle/>
          <a:p>
            <a:pPr indent="0" marL="0">
              <a:buNone/>
            </a:pPr>
            <a:r>
              <a:rPr lang="en-US" sz="1400" dirty="0">
                <a:solidFill>
                  <a:schemeClr val="accent4"/>
                </a:solidFill>
              </a:rPr>
              <a:t>Owns the money: OTP check, payment, handover.</a:t>
            </a:r>
            <a:endParaRPr lang="en-US" sz="14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ection pill"/>
          <p:cNvSpPr/>
          <p:nvPr/>
        </p:nvSpPr>
        <p:spPr>
          <a:xfrm>
            <a:off x="548640" y="347472"/>
            <a:ext cx="2802636" cy="292608"/>
          </a:xfrm>
          <a:prstGeom prst="roundRect">
            <a:avLst>
              <a:gd name="adj" fmla="val 50000"/>
            </a:avLst>
          </a:prstGeom>
          <a:ln w="12700">
            <a:solidFill>
              <a:schemeClr val="accent3"/>
            </a:solidFill>
            <a:prstDash val="solid"/>
          </a:ln>
        </p:spPr>
      </p:sp>
      <p:sp>
        <p:nvSpPr>
          <p:cNvPr id="3" name="Text 1"/>
          <p:cNvSpPr txBox="1"/>
          <p:nvPr/>
        </p:nvSpPr>
        <p:spPr>
          <a:xfrm>
            <a:off x="548640" y="347472"/>
            <a:ext cx="2802636" cy="292608"/>
          </a:xfrm>
          <a:prstGeom prst="rect">
            <a:avLst/>
          </a:prstGeom>
          <a:noFill/>
          <a:ln/>
        </p:spPr>
        <p:txBody>
          <a:bodyPr wrap="square" lIns="0" tIns="0" rIns="0" bIns="0" rtlCol="0" anchor="ctr"/>
          <a:lstStyle/>
          <a:p>
            <a:pPr algn="ctr" indent="0" marL="0">
              <a:buNone/>
            </a:pPr>
            <a:r>
              <a:rPr lang="en-US" sz="1100" b="1" spc="200" kern="0" dirty="0">
                <a:solidFill>
                  <a:schemeClr val="accent3"/>
                </a:solidFill>
              </a:rPr>
              <a:t>03  ·  ARCHITECTURE</a:t>
            </a:r>
            <a:endParaRPr lang="en-US" sz="1100" dirty="0"/>
          </a:p>
        </p:txBody>
      </p:sp>
      <p:sp>
        <p:nvSpPr>
          <p:cNvPr id="4" name="Text 0"/>
          <p:cNvSpPr/>
          <p:nvPr>
            <p:ph idx="100" type="title" hasCustomPrompt="1"/>
          </p:nvPr>
        </p:nvSpPr>
        <p:spPr>
          <a:xfrm>
            <a:off x="548640" y="749808"/>
            <a:ext cx="11091672" cy="685800"/>
          </a:xfrm>
          <a:prstGeom prst="rect">
            <a:avLst/>
          </a:prstGeom>
          <a:noFill/>
          <a:ln/>
        </p:spPr>
        <p:txBody>
          <a:bodyPr wrap="square" lIns="0" tIns="0" rIns="0" bIns="0" rtlCol="0" anchor="t"/>
          <a:lstStyle/>
          <a:p>
            <a:pPr algn="l" indent="0" marL="0">
              <a:buNone/>
            </a:pPr>
            <a:r>
              <a:rPr lang="en-US" sz="3600" b="1" dirty="0">
                <a:solidFill>
                  <a:schemeClr val="bg1"/>
                </a:solidFill>
              </a:rPr>
              <a:t>One monolith, one microservice</a:t>
            </a:r>
            <a:endParaRPr lang="en-US" sz="3600" dirty="0"/>
          </a:p>
        </p:txBody>
      </p:sp>
      <p:sp>
        <p:nvSpPr>
          <p:cNvPr id="5" name="Browser group"/>
          <p:cNvSpPr/>
          <p:nvPr/>
        </p:nvSpPr>
        <p:spPr>
          <a:xfrm>
            <a:off x="457200" y="1783080"/>
            <a:ext cx="2240280" cy="4343400"/>
          </a:xfrm>
          <a:prstGeom prst="roundRect">
            <a:avLst>
              <a:gd name="adj" fmla="val 4898"/>
            </a:avLst>
          </a:prstGeom>
          <a:ln w="15875">
            <a:solidFill>
              <a:schemeClr val="accent5"/>
            </a:solidFill>
            <a:prstDash val="dash"/>
          </a:ln>
        </p:spPr>
      </p:sp>
      <p:sp>
        <p:nvSpPr>
          <p:cNvPr id="6" name="Text 4"/>
          <p:cNvSpPr txBox="1"/>
          <p:nvPr/>
        </p:nvSpPr>
        <p:spPr>
          <a:xfrm>
            <a:off x="594360" y="1874520"/>
            <a:ext cx="1828800" cy="228600"/>
          </a:xfrm>
          <a:prstGeom prst="rect">
            <a:avLst/>
          </a:prstGeom>
          <a:noFill/>
          <a:ln/>
        </p:spPr>
        <p:txBody>
          <a:bodyPr wrap="square" lIns="0" tIns="0" rIns="0" bIns="0" rtlCol="0" anchor="t"/>
          <a:lstStyle/>
          <a:p>
            <a:pPr indent="0" marL="0">
              <a:buNone/>
            </a:pPr>
            <a:r>
              <a:rPr lang="en-US" sz="1100" b="1" spc="200" kern="0" dirty="0">
                <a:solidFill>
                  <a:schemeClr val="accent3"/>
                </a:solidFill>
              </a:rPr>
              <a:t>BROWSER</a:t>
            </a:r>
            <a:endParaRPr lang="en-US" sz="1100" dirty="0"/>
          </a:p>
        </p:txBody>
      </p:sp>
      <p:sp>
        <p:nvSpPr>
          <p:cNvPr id="7" name="Customer pages"/>
          <p:cNvSpPr/>
          <p:nvPr/>
        </p:nvSpPr>
        <p:spPr>
          <a:xfrm>
            <a:off x="640080" y="2240280"/>
            <a:ext cx="1874520" cy="1051560"/>
          </a:xfrm>
          <a:prstGeom prst="roundRect">
            <a:avLst>
              <a:gd name="adj" fmla="val 8696"/>
            </a:avLst>
          </a:prstGeom>
          <a:solidFill>
            <a:schemeClr val="tx2"/>
          </a:solidFill>
          <a:ln/>
        </p:spPr>
      </p:sp>
      <p:sp>
        <p:nvSpPr>
          <p:cNvPr id="8" name="Text 6"/>
          <p:cNvSpPr txBox="1"/>
          <p:nvPr/>
        </p:nvSpPr>
        <p:spPr>
          <a:xfrm>
            <a:off x="713232" y="2240280"/>
            <a:ext cx="1728216" cy="1051560"/>
          </a:xfrm>
          <a:prstGeom prst="rect">
            <a:avLst/>
          </a:prstGeom>
          <a:noFill/>
          <a:ln/>
        </p:spPr>
        <p:txBody>
          <a:bodyPr wrap="square" lIns="0" tIns="0" rIns="0" bIns="0" rtlCol="0" anchor="ctr"/>
          <a:lstStyle/>
          <a:p>
            <a:pPr algn="ctr" indent="0" marL="0">
              <a:buNone/>
            </a:pPr>
            <a:r>
              <a:rPr lang="en-US" sz="1400" b="1" dirty="0">
                <a:solidFill>
                  <a:schemeClr val="bg1"/>
                </a:solidFill>
              </a:rPr>
              <a:t>Customer pages</a:t>
            </a:r>
            <a:endParaRPr lang="en-US" sz="1400" dirty="0"/>
          </a:p>
          <a:p>
            <a:pPr algn="ctr" indent="0" marL="0">
              <a:buNone/>
            </a:pPr>
            <a:r>
              <a:rPr lang="en-US" sz="1100" dirty="0">
                <a:solidFill>
                  <a:schemeClr val="bg1"/>
                </a:solidFill>
              </a:rPr>
              <a:t>menu · cart · order status</a:t>
            </a:r>
            <a:endParaRPr lang="en-US" sz="1400" dirty="0"/>
          </a:p>
        </p:txBody>
      </p:sp>
      <p:sp>
        <p:nvSpPr>
          <p:cNvPr id="9" name="Kitchen &amp; Staff"/>
          <p:cNvSpPr/>
          <p:nvPr/>
        </p:nvSpPr>
        <p:spPr>
          <a:xfrm>
            <a:off x="640080" y="3474720"/>
            <a:ext cx="1874520" cy="1051560"/>
          </a:xfrm>
          <a:prstGeom prst="roundRect">
            <a:avLst>
              <a:gd name="adj" fmla="val 8696"/>
            </a:avLst>
          </a:prstGeom>
          <a:solidFill>
            <a:schemeClr val="tx2"/>
          </a:solidFill>
          <a:ln/>
        </p:spPr>
      </p:sp>
      <p:sp>
        <p:nvSpPr>
          <p:cNvPr id="10" name="Text 8"/>
          <p:cNvSpPr txBox="1"/>
          <p:nvPr/>
        </p:nvSpPr>
        <p:spPr>
          <a:xfrm>
            <a:off x="713232" y="3474720"/>
            <a:ext cx="1728216" cy="1051560"/>
          </a:xfrm>
          <a:prstGeom prst="rect">
            <a:avLst/>
          </a:prstGeom>
          <a:noFill/>
          <a:ln/>
        </p:spPr>
        <p:txBody>
          <a:bodyPr wrap="square" lIns="0" tIns="0" rIns="0" bIns="0" rtlCol="0" anchor="ctr"/>
          <a:lstStyle/>
          <a:p>
            <a:pPr algn="ctr" indent="0" marL="0">
              <a:buNone/>
            </a:pPr>
            <a:r>
              <a:rPr lang="en-US" sz="1400" b="1" dirty="0">
                <a:solidFill>
                  <a:schemeClr val="bg1"/>
                </a:solidFill>
              </a:rPr>
              <a:t>Kitchen &amp; Staff</a:t>
            </a:r>
            <a:endParaRPr lang="en-US" sz="1400" dirty="0"/>
          </a:p>
          <a:p>
            <a:pPr algn="ctr" indent="0" marL="0">
              <a:buNone/>
            </a:pPr>
            <a:r>
              <a:rPr lang="en-US" sz="1100" dirty="0">
                <a:solidFill>
                  <a:schemeClr val="bg1"/>
                </a:solidFill>
              </a:rPr>
              <a:t>Thymeleaf + vanilla JS</a:t>
            </a:r>
            <a:endParaRPr lang="en-US" sz="1400" dirty="0"/>
          </a:p>
        </p:txBody>
      </p:sp>
      <p:sp>
        <p:nvSpPr>
          <p:cNvPr id="11" name="Postman"/>
          <p:cNvSpPr/>
          <p:nvPr/>
        </p:nvSpPr>
        <p:spPr>
          <a:xfrm>
            <a:off x="640080" y="4709160"/>
            <a:ext cx="1874520" cy="1051560"/>
          </a:xfrm>
          <a:prstGeom prst="roundRect">
            <a:avLst>
              <a:gd name="adj" fmla="val 8696"/>
            </a:avLst>
          </a:prstGeom>
          <a:solidFill>
            <a:schemeClr val="tx2"/>
          </a:solidFill>
          <a:ln/>
        </p:spPr>
      </p:sp>
      <p:sp>
        <p:nvSpPr>
          <p:cNvPr id="12" name="Text 10"/>
          <p:cNvSpPr txBox="1"/>
          <p:nvPr/>
        </p:nvSpPr>
        <p:spPr>
          <a:xfrm>
            <a:off x="713232" y="4709160"/>
            <a:ext cx="1728216" cy="1051560"/>
          </a:xfrm>
          <a:prstGeom prst="rect">
            <a:avLst/>
          </a:prstGeom>
          <a:noFill/>
          <a:ln/>
        </p:spPr>
        <p:txBody>
          <a:bodyPr wrap="square" lIns="0" tIns="0" rIns="0" bIns="0" rtlCol="0" anchor="ctr"/>
          <a:lstStyle/>
          <a:p>
            <a:pPr algn="ctr" indent="0" marL="0">
              <a:buNone/>
            </a:pPr>
            <a:r>
              <a:rPr lang="en-US" sz="1400" b="1" dirty="0">
                <a:solidFill>
                  <a:schemeClr val="bg1"/>
                </a:solidFill>
              </a:rPr>
              <a:t>Postman</a:t>
            </a:r>
            <a:endParaRPr lang="en-US" sz="1400" dirty="0"/>
          </a:p>
          <a:p>
            <a:pPr algn="ctr" indent="0" marL="0">
              <a:buNone/>
            </a:pPr>
            <a:r>
              <a:rPr lang="en-US" sz="1100" dirty="0">
                <a:solidFill>
                  <a:schemeClr val="bg1"/>
                </a:solidFill>
              </a:rPr>
              <a:t>JSON + HTTP Basic</a:t>
            </a:r>
            <a:endParaRPr lang="en-US" sz="1400" dirty="0"/>
          </a:p>
        </p:txBody>
      </p:sp>
      <p:sp>
        <p:nvSpPr>
          <p:cNvPr id="13" name="Arrow"/>
          <p:cNvSpPr/>
          <p:nvPr/>
        </p:nvSpPr>
        <p:spPr>
          <a:xfrm>
            <a:off x="2697480" y="3840480"/>
            <a:ext cx="228600" cy="0"/>
          </a:xfrm>
          <a:prstGeom prst="line">
            <a:avLst/>
          </a:prstGeom>
          <a:noFill/>
          <a:ln w="22225">
            <a:solidFill>
              <a:srgbClr val="9CBFA9"/>
            </a:solidFill>
            <a:prstDash val="solid"/>
            <a:tailEnd type="triangle"/>
          </a:ln>
        </p:spPr>
      </p:sp>
      <p:sp>
        <p:nvSpPr>
          <p:cNvPr id="14" name="Spring Security"/>
          <p:cNvSpPr/>
          <p:nvPr/>
        </p:nvSpPr>
        <p:spPr>
          <a:xfrm>
            <a:off x="2926080" y="2880360"/>
            <a:ext cx="1417320" cy="1920240"/>
          </a:xfrm>
          <a:prstGeom prst="roundRect">
            <a:avLst>
              <a:gd name="adj" fmla="val 6452"/>
            </a:avLst>
          </a:prstGeom>
          <a:solidFill>
            <a:schemeClr val="accent1"/>
          </a:solidFill>
          <a:ln/>
        </p:spPr>
      </p:sp>
      <p:sp>
        <p:nvSpPr>
          <p:cNvPr id="15" name="Text 13"/>
          <p:cNvSpPr txBox="1"/>
          <p:nvPr/>
        </p:nvSpPr>
        <p:spPr>
          <a:xfrm>
            <a:off x="2999232" y="2880360"/>
            <a:ext cx="1271016" cy="1920240"/>
          </a:xfrm>
          <a:prstGeom prst="rect">
            <a:avLst/>
          </a:prstGeom>
          <a:noFill/>
          <a:ln/>
        </p:spPr>
        <p:txBody>
          <a:bodyPr wrap="square" lIns="0" tIns="0" rIns="0" bIns="0" rtlCol="0" anchor="ctr"/>
          <a:lstStyle/>
          <a:p>
            <a:pPr algn="ctr" indent="0" marL="0">
              <a:buNone/>
            </a:pPr>
            <a:r>
              <a:rPr lang="en-US" sz="1400" b="1" dirty="0">
                <a:solidFill>
                  <a:schemeClr val="bg1"/>
                </a:solidFill>
              </a:rPr>
              <a:t>Spring Security</a:t>
            </a:r>
            <a:endParaRPr lang="en-US" sz="1400" dirty="0"/>
          </a:p>
          <a:p>
            <a:pPr algn="ctr" indent="0" marL="0">
              <a:buNone/>
            </a:pPr>
            <a:r>
              <a:rPr lang="en-US" sz="1100" dirty="0">
                <a:solidFill>
                  <a:schemeClr val="bg1"/>
                </a:solidFill>
              </a:rPr>
              <a:t>form login · Basic · roles · 401/403</a:t>
            </a:r>
            <a:endParaRPr lang="en-US" sz="1400" dirty="0"/>
          </a:p>
        </p:txBody>
      </p:sp>
      <p:sp>
        <p:nvSpPr>
          <p:cNvPr id="16" name="Arrow"/>
          <p:cNvSpPr/>
          <p:nvPr/>
        </p:nvSpPr>
        <p:spPr>
          <a:xfrm>
            <a:off x="4343400" y="3840480"/>
            <a:ext cx="411480" cy="0"/>
          </a:xfrm>
          <a:prstGeom prst="line">
            <a:avLst/>
          </a:prstGeom>
          <a:noFill/>
          <a:ln w="22225">
            <a:solidFill>
              <a:srgbClr val="9CBFA9"/>
            </a:solidFill>
            <a:prstDash val="solid"/>
            <a:tailEnd type="triangle"/>
          </a:ln>
        </p:spPr>
      </p:sp>
      <p:sp>
        <p:nvSpPr>
          <p:cNvPr id="17" name="noq-app group"/>
          <p:cNvSpPr/>
          <p:nvPr/>
        </p:nvSpPr>
        <p:spPr>
          <a:xfrm>
            <a:off x="4572000" y="1783080"/>
            <a:ext cx="5486400" cy="4343400"/>
          </a:xfrm>
          <a:prstGeom prst="roundRect">
            <a:avLst>
              <a:gd name="adj" fmla="val 2526"/>
            </a:avLst>
          </a:prstGeom>
          <a:ln w="15875">
            <a:solidFill>
              <a:schemeClr val="accent3"/>
            </a:solidFill>
            <a:prstDash val="dash"/>
          </a:ln>
        </p:spPr>
      </p:sp>
      <p:sp>
        <p:nvSpPr>
          <p:cNvPr id="18" name="Text 16"/>
          <p:cNvSpPr txBox="1"/>
          <p:nvPr/>
        </p:nvSpPr>
        <p:spPr>
          <a:xfrm>
            <a:off x="4754880" y="1874520"/>
            <a:ext cx="5029200" cy="228600"/>
          </a:xfrm>
          <a:prstGeom prst="rect">
            <a:avLst/>
          </a:prstGeom>
          <a:noFill/>
          <a:ln/>
        </p:spPr>
        <p:txBody>
          <a:bodyPr wrap="square" lIns="0" tIns="0" rIns="0" bIns="0" rtlCol="0" anchor="t"/>
          <a:lstStyle/>
          <a:p>
            <a:pPr indent="0" marL="0">
              <a:buNone/>
            </a:pPr>
            <a:r>
              <a:rPr lang="en-US" sz="1100" b="1" spc="200" kern="0" dirty="0">
                <a:solidFill>
                  <a:schemeClr val="accent3"/>
                </a:solidFill>
              </a:rPr>
              <a:t>noq-app  ·  Spring Boot  ·  :8080</a:t>
            </a:r>
            <a:endParaRPr lang="en-US" sz="1100" dirty="0"/>
          </a:p>
        </p:txBody>
      </p:sp>
      <p:sp>
        <p:nvSpPr>
          <p:cNvPr id="19" name="Controllers"/>
          <p:cNvSpPr/>
          <p:nvPr/>
        </p:nvSpPr>
        <p:spPr>
          <a:xfrm>
            <a:off x="4754880" y="3200400"/>
            <a:ext cx="1371600" cy="1280160"/>
          </a:xfrm>
          <a:prstGeom prst="roundRect">
            <a:avLst>
              <a:gd name="adj" fmla="val 7143"/>
            </a:avLst>
          </a:prstGeom>
          <a:solidFill>
            <a:schemeClr val="tx2"/>
          </a:solidFill>
          <a:ln/>
        </p:spPr>
      </p:sp>
      <p:sp>
        <p:nvSpPr>
          <p:cNvPr id="20" name="Text 18"/>
          <p:cNvSpPr txBox="1"/>
          <p:nvPr/>
        </p:nvSpPr>
        <p:spPr>
          <a:xfrm>
            <a:off x="4828032" y="3200400"/>
            <a:ext cx="1225296" cy="1280160"/>
          </a:xfrm>
          <a:prstGeom prst="rect">
            <a:avLst/>
          </a:prstGeom>
          <a:noFill/>
          <a:ln/>
        </p:spPr>
        <p:txBody>
          <a:bodyPr wrap="square" lIns="0" tIns="0" rIns="0" bIns="0" rtlCol="0" anchor="ctr"/>
          <a:lstStyle/>
          <a:p>
            <a:pPr algn="ctr" indent="0" marL="0">
              <a:buNone/>
            </a:pPr>
            <a:r>
              <a:rPr lang="en-US" sz="1400" b="1" dirty="0">
                <a:solidFill>
                  <a:schemeClr val="bg1"/>
                </a:solidFill>
              </a:rPr>
              <a:t>Controllers</a:t>
            </a:r>
            <a:endParaRPr lang="en-US" sz="1400" dirty="0"/>
          </a:p>
          <a:p>
            <a:pPr algn="ctr" indent="0" marL="0">
              <a:buNone/>
            </a:pPr>
            <a:r>
              <a:rPr lang="en-US" sz="1100" dirty="0">
                <a:solidFill>
                  <a:schemeClr val="bg1"/>
                </a:solidFill>
              </a:rPr>
              <a:t>MVC pages + REST /api</a:t>
            </a:r>
            <a:endParaRPr lang="en-US" sz="1400" dirty="0"/>
          </a:p>
        </p:txBody>
      </p:sp>
      <p:sp>
        <p:nvSpPr>
          <p:cNvPr id="21" name="Services"/>
          <p:cNvSpPr/>
          <p:nvPr/>
        </p:nvSpPr>
        <p:spPr>
          <a:xfrm>
            <a:off x="6583680" y="3200400"/>
            <a:ext cx="1463040" cy="1280160"/>
          </a:xfrm>
          <a:prstGeom prst="roundRect">
            <a:avLst>
              <a:gd name="adj" fmla="val 7143"/>
            </a:avLst>
          </a:prstGeom>
          <a:solidFill>
            <a:schemeClr val="accent2"/>
          </a:solidFill>
          <a:ln/>
        </p:spPr>
      </p:sp>
      <p:sp>
        <p:nvSpPr>
          <p:cNvPr id="22" name="Text 20"/>
          <p:cNvSpPr txBox="1"/>
          <p:nvPr/>
        </p:nvSpPr>
        <p:spPr>
          <a:xfrm>
            <a:off x="6656832" y="3200400"/>
            <a:ext cx="1316736" cy="1280160"/>
          </a:xfrm>
          <a:prstGeom prst="rect">
            <a:avLst/>
          </a:prstGeom>
          <a:noFill/>
          <a:ln/>
        </p:spPr>
        <p:txBody>
          <a:bodyPr wrap="square" lIns="0" tIns="0" rIns="0" bIns="0" rtlCol="0" anchor="ctr"/>
          <a:lstStyle/>
          <a:p>
            <a:pPr algn="ctr" indent="0" marL="0">
              <a:buNone/>
            </a:pPr>
            <a:r>
              <a:rPr lang="en-US" sz="1400" b="1" dirty="0">
                <a:solidFill>
                  <a:schemeClr val="bg1"/>
                </a:solidFill>
              </a:rPr>
              <a:t>Services</a:t>
            </a:r>
            <a:endParaRPr lang="en-US" sz="1400" dirty="0"/>
          </a:p>
          <a:p>
            <a:pPr algn="ctr" indent="0" marL="0">
              <a:buNone/>
            </a:pPr>
            <a:r>
              <a:rPr lang="en-US" sz="1100" dirty="0">
                <a:solidFill>
                  <a:schemeClr val="bg1"/>
                </a:solidFill>
              </a:rPr>
              <a:t>@Transactional business rules</a:t>
            </a:r>
            <a:endParaRPr lang="en-US" sz="1400" dirty="0"/>
          </a:p>
        </p:txBody>
      </p:sp>
      <p:sp>
        <p:nvSpPr>
          <p:cNvPr id="23" name="JPA + Hibernate"/>
          <p:cNvSpPr/>
          <p:nvPr/>
        </p:nvSpPr>
        <p:spPr>
          <a:xfrm>
            <a:off x="8503920" y="3200400"/>
            <a:ext cx="1371600" cy="1280160"/>
          </a:xfrm>
          <a:prstGeom prst="roundRect">
            <a:avLst>
              <a:gd name="adj" fmla="val 7143"/>
            </a:avLst>
          </a:prstGeom>
          <a:solidFill>
            <a:schemeClr val="tx2"/>
          </a:solidFill>
          <a:ln/>
        </p:spPr>
      </p:sp>
      <p:sp>
        <p:nvSpPr>
          <p:cNvPr id="24" name="Text 22"/>
          <p:cNvSpPr txBox="1"/>
          <p:nvPr/>
        </p:nvSpPr>
        <p:spPr>
          <a:xfrm>
            <a:off x="8577072" y="3200400"/>
            <a:ext cx="1225296" cy="1280160"/>
          </a:xfrm>
          <a:prstGeom prst="rect">
            <a:avLst/>
          </a:prstGeom>
          <a:noFill/>
          <a:ln/>
        </p:spPr>
        <p:txBody>
          <a:bodyPr wrap="square" lIns="0" tIns="0" rIns="0" bIns="0" rtlCol="0" anchor="ctr"/>
          <a:lstStyle/>
          <a:p>
            <a:pPr algn="ctr" indent="0" marL="0">
              <a:buNone/>
            </a:pPr>
            <a:r>
              <a:rPr lang="en-US" sz="1400" b="1" dirty="0">
                <a:solidFill>
                  <a:schemeClr val="bg1"/>
                </a:solidFill>
              </a:rPr>
              <a:t>JPA + Hibernate</a:t>
            </a:r>
            <a:endParaRPr lang="en-US" sz="1400" dirty="0"/>
          </a:p>
          <a:p>
            <a:pPr algn="ctr" indent="0" marL="0">
              <a:buNone/>
            </a:pPr>
            <a:r>
              <a:rPr lang="en-US" sz="1100" dirty="0">
                <a:solidFill>
                  <a:schemeClr val="bg1"/>
                </a:solidFill>
              </a:rPr>
              <a:t>repositories · HQL</a:t>
            </a:r>
            <a:endParaRPr lang="en-US" sz="1400" dirty="0"/>
          </a:p>
        </p:txBody>
      </p:sp>
      <p:sp>
        <p:nvSpPr>
          <p:cNvPr id="25" name="Caffeine cache"/>
          <p:cNvSpPr/>
          <p:nvPr/>
        </p:nvSpPr>
        <p:spPr>
          <a:xfrm>
            <a:off x="6583680" y="2240280"/>
            <a:ext cx="1463040" cy="731520"/>
          </a:xfrm>
          <a:prstGeom prst="roundRect">
            <a:avLst>
              <a:gd name="adj" fmla="val 12500"/>
            </a:avLst>
          </a:prstGeom>
          <a:solidFill>
            <a:schemeClr val="accent4"/>
          </a:solidFill>
          <a:ln/>
        </p:spPr>
      </p:sp>
      <p:sp>
        <p:nvSpPr>
          <p:cNvPr id="26" name="Text 24"/>
          <p:cNvSpPr txBox="1"/>
          <p:nvPr/>
        </p:nvSpPr>
        <p:spPr>
          <a:xfrm>
            <a:off x="6656832" y="2240280"/>
            <a:ext cx="1316736" cy="731520"/>
          </a:xfrm>
          <a:prstGeom prst="rect">
            <a:avLst/>
          </a:prstGeom>
          <a:noFill/>
          <a:ln/>
        </p:spPr>
        <p:txBody>
          <a:bodyPr wrap="square" lIns="0" tIns="0" rIns="0" bIns="0" rtlCol="0" anchor="ctr"/>
          <a:lstStyle/>
          <a:p>
            <a:pPr algn="ctr" indent="0" marL="0">
              <a:buNone/>
            </a:pPr>
            <a:r>
              <a:rPr lang="en-US" sz="1400" b="1" dirty="0">
                <a:solidFill>
                  <a:schemeClr val="tx1"/>
                </a:solidFill>
              </a:rPr>
              <a:t>Caffeine cache</a:t>
            </a:r>
            <a:endParaRPr lang="en-US" sz="1400" dirty="0"/>
          </a:p>
          <a:p>
            <a:pPr algn="ctr" indent="0" marL="0">
              <a:buNone/>
            </a:pPr>
            <a:r>
              <a:rPr lang="en-US" sz="1100" dirty="0">
                <a:solidFill>
                  <a:schemeClr val="tx1"/>
                </a:solidFill>
              </a:rPr>
              <a:t>menu · 60 s TTL</a:t>
            </a:r>
            <a:endParaRPr lang="en-US" sz="1400" dirty="0"/>
          </a:p>
        </p:txBody>
      </p:sp>
      <p:sp>
        <p:nvSpPr>
          <p:cNvPr id="27" name="Error handler"/>
          <p:cNvSpPr/>
          <p:nvPr/>
        </p:nvSpPr>
        <p:spPr>
          <a:xfrm>
            <a:off x="4754880" y="4754880"/>
            <a:ext cx="1371600" cy="777240"/>
          </a:xfrm>
          <a:prstGeom prst="roundRect">
            <a:avLst>
              <a:gd name="adj" fmla="val 11765"/>
            </a:avLst>
          </a:prstGeom>
          <a:solidFill>
            <a:schemeClr val="tx2"/>
          </a:solidFill>
          <a:ln/>
        </p:spPr>
      </p:sp>
      <p:sp>
        <p:nvSpPr>
          <p:cNvPr id="28" name="Text 26"/>
          <p:cNvSpPr txBox="1"/>
          <p:nvPr/>
        </p:nvSpPr>
        <p:spPr>
          <a:xfrm>
            <a:off x="4828032" y="4754880"/>
            <a:ext cx="1225296" cy="777240"/>
          </a:xfrm>
          <a:prstGeom prst="rect">
            <a:avLst/>
          </a:prstGeom>
          <a:noFill/>
          <a:ln/>
        </p:spPr>
        <p:txBody>
          <a:bodyPr wrap="square" lIns="0" tIns="0" rIns="0" bIns="0" rtlCol="0" anchor="ctr"/>
          <a:lstStyle/>
          <a:p>
            <a:pPr algn="ctr" indent="0" marL="0">
              <a:buNone/>
            </a:pPr>
            <a:r>
              <a:rPr lang="en-US" sz="1400" b="1" dirty="0">
                <a:solidFill>
                  <a:schemeClr val="bg1"/>
                </a:solidFill>
              </a:rPr>
              <a:t>Error handler</a:t>
            </a:r>
            <a:endParaRPr lang="en-US" sz="1400" dirty="0"/>
          </a:p>
          <a:p>
            <a:pPr algn="ctr" indent="0" marL="0">
              <a:buNone/>
            </a:pPr>
            <a:r>
              <a:rPr lang="en-US" sz="1100" dirty="0">
                <a:solidFill>
                  <a:schemeClr val="bg1"/>
                </a:solidFill>
              </a:rPr>
              <a:t>uniform JSON errors</a:t>
            </a:r>
            <a:endParaRPr lang="en-US" sz="1400" dirty="0"/>
          </a:p>
        </p:txBody>
      </p:sp>
      <p:sp>
        <p:nvSpPr>
          <p:cNvPr id="29" name="LoggingAspect (AOP) wraps every service call"/>
          <p:cNvSpPr/>
          <p:nvPr/>
        </p:nvSpPr>
        <p:spPr>
          <a:xfrm>
            <a:off x="4754880" y="5623560"/>
            <a:ext cx="5120640" cy="365760"/>
          </a:xfrm>
          <a:prstGeom prst="roundRect">
            <a:avLst>
              <a:gd name="adj" fmla="val 25000"/>
            </a:avLst>
          </a:prstGeom>
          <a:solidFill>
            <a:schemeClr val="tx2"/>
          </a:solidFill>
          <a:ln/>
        </p:spPr>
      </p:sp>
      <p:sp>
        <p:nvSpPr>
          <p:cNvPr id="30" name="Text 28"/>
          <p:cNvSpPr txBox="1"/>
          <p:nvPr/>
        </p:nvSpPr>
        <p:spPr>
          <a:xfrm>
            <a:off x="4828032" y="5623560"/>
            <a:ext cx="4974336" cy="365760"/>
          </a:xfrm>
          <a:prstGeom prst="rect">
            <a:avLst/>
          </a:prstGeom>
          <a:noFill/>
          <a:ln/>
        </p:spPr>
        <p:txBody>
          <a:bodyPr wrap="square" lIns="0" tIns="0" rIns="0" bIns="0" rtlCol="0" anchor="ctr"/>
          <a:lstStyle/>
          <a:p>
            <a:pPr algn="ctr" indent="0" marL="0">
              <a:buNone/>
            </a:pPr>
            <a:r>
              <a:rPr lang="en-US" sz="1300" b="1" dirty="0">
                <a:solidFill>
                  <a:schemeClr val="accent3"/>
                </a:solidFill>
              </a:rPr>
              <a:t>LoggingAspect (AOP) wraps every service call</a:t>
            </a:r>
            <a:endParaRPr lang="en-US" sz="1300" dirty="0"/>
          </a:p>
        </p:txBody>
      </p:sp>
      <p:sp>
        <p:nvSpPr>
          <p:cNvPr id="31" name="Arrow"/>
          <p:cNvSpPr/>
          <p:nvPr/>
        </p:nvSpPr>
        <p:spPr>
          <a:xfrm>
            <a:off x="6126480" y="3840480"/>
            <a:ext cx="457200" cy="0"/>
          </a:xfrm>
          <a:prstGeom prst="line">
            <a:avLst/>
          </a:prstGeom>
          <a:noFill/>
          <a:ln w="22225">
            <a:solidFill>
              <a:srgbClr val="9CBFA9"/>
            </a:solidFill>
            <a:prstDash val="solid"/>
            <a:tailEnd type="triangle"/>
          </a:ln>
        </p:spPr>
      </p:sp>
      <p:sp>
        <p:nvSpPr>
          <p:cNvPr id="32" name="Arrow"/>
          <p:cNvSpPr/>
          <p:nvPr/>
        </p:nvSpPr>
        <p:spPr>
          <a:xfrm>
            <a:off x="8046720" y="3840480"/>
            <a:ext cx="457200" cy="0"/>
          </a:xfrm>
          <a:prstGeom prst="line">
            <a:avLst/>
          </a:prstGeom>
          <a:noFill/>
          <a:ln w="22225">
            <a:solidFill>
              <a:srgbClr val="9CBFA9"/>
            </a:solidFill>
            <a:prstDash val="solid"/>
            <a:tailEnd type="triangle"/>
          </a:ln>
        </p:spPr>
      </p:sp>
      <p:sp>
        <p:nvSpPr>
          <p:cNvPr id="33" name="Arrow"/>
          <p:cNvSpPr/>
          <p:nvPr/>
        </p:nvSpPr>
        <p:spPr>
          <a:xfrm flipV="1">
            <a:off x="7315200" y="2971800"/>
            <a:ext cx="0" cy="228600"/>
          </a:xfrm>
          <a:prstGeom prst="line">
            <a:avLst/>
          </a:prstGeom>
          <a:noFill/>
          <a:ln w="22225">
            <a:solidFill>
              <a:srgbClr val="9CBFA9"/>
            </a:solidFill>
            <a:prstDash val="solid"/>
            <a:headEnd type="triangle"/>
            <a:tailEnd type="triangle"/>
          </a:ln>
        </p:spPr>
      </p:sp>
      <p:sp>
        <p:nvSpPr>
          <p:cNvPr id="34" name="MySQL 8"/>
          <p:cNvSpPr/>
          <p:nvPr/>
        </p:nvSpPr>
        <p:spPr>
          <a:xfrm>
            <a:off x="10469880" y="3200400"/>
            <a:ext cx="1280160" cy="1280160"/>
          </a:xfrm>
          <a:prstGeom prst="roundRect">
            <a:avLst>
              <a:gd name="adj" fmla="val 7143"/>
            </a:avLst>
          </a:prstGeom>
          <a:solidFill>
            <a:schemeClr val="accent4"/>
          </a:solidFill>
          <a:ln/>
        </p:spPr>
      </p:sp>
      <p:sp>
        <p:nvSpPr>
          <p:cNvPr id="35" name="Text 33"/>
          <p:cNvSpPr txBox="1"/>
          <p:nvPr/>
        </p:nvSpPr>
        <p:spPr>
          <a:xfrm>
            <a:off x="10543032" y="3200400"/>
            <a:ext cx="1133856" cy="1280160"/>
          </a:xfrm>
          <a:prstGeom prst="rect">
            <a:avLst/>
          </a:prstGeom>
          <a:noFill/>
          <a:ln/>
        </p:spPr>
        <p:txBody>
          <a:bodyPr wrap="square" lIns="0" tIns="0" rIns="0" bIns="0" rtlCol="0" anchor="ctr"/>
          <a:lstStyle/>
          <a:p>
            <a:pPr algn="ctr" indent="0" marL="0">
              <a:buNone/>
            </a:pPr>
            <a:r>
              <a:rPr lang="en-US" sz="1400" b="1" dirty="0">
                <a:solidFill>
                  <a:schemeClr val="tx1"/>
                </a:solidFill>
              </a:rPr>
              <a:t>MySQL 8</a:t>
            </a:r>
            <a:endParaRPr lang="en-US" sz="1400" dirty="0"/>
          </a:p>
          <a:p>
            <a:pPr algn="ctr" indent="0" marL="0">
              <a:buNone/>
            </a:pPr>
            <a:r>
              <a:rPr lang="en-US" sz="1100" dirty="0">
                <a:solidFill>
                  <a:schemeClr val="tx1"/>
                </a:solidFill>
              </a:rPr>
              <a:t>noq_db</a:t>
            </a:r>
            <a:endParaRPr lang="en-US" sz="1400" dirty="0"/>
          </a:p>
        </p:txBody>
      </p:sp>
      <p:sp>
        <p:nvSpPr>
          <p:cNvPr id="36" name="Arrow"/>
          <p:cNvSpPr/>
          <p:nvPr/>
        </p:nvSpPr>
        <p:spPr>
          <a:xfrm>
            <a:off x="9875520" y="3840480"/>
            <a:ext cx="594360" cy="0"/>
          </a:xfrm>
          <a:prstGeom prst="line">
            <a:avLst/>
          </a:prstGeom>
          <a:noFill/>
          <a:ln w="22225">
            <a:solidFill>
              <a:srgbClr val="9CBFA9"/>
            </a:solidFill>
            <a:prstDash val="solid"/>
            <a:tailEnd type="triangle"/>
          </a:ln>
        </p:spPr>
      </p:sp>
      <p:sp>
        <p:nvSpPr>
          <p:cNvPr id="37" name="Text 35"/>
          <p:cNvSpPr txBox="1"/>
          <p:nvPr/>
        </p:nvSpPr>
        <p:spPr>
          <a:xfrm>
            <a:off x="9875520" y="3520440"/>
            <a:ext cx="594360" cy="228600"/>
          </a:xfrm>
          <a:prstGeom prst="rect">
            <a:avLst/>
          </a:prstGeom>
          <a:noFill/>
          <a:ln/>
        </p:spPr>
        <p:txBody>
          <a:bodyPr wrap="square" lIns="0" tIns="0" rIns="0" bIns="0" rtlCol="0" anchor="t"/>
          <a:lstStyle/>
          <a:p>
            <a:pPr algn="ctr" indent="0" marL="0">
              <a:buNone/>
            </a:pPr>
            <a:r>
              <a:rPr lang="en-US" sz="1100" dirty="0">
                <a:solidFill>
                  <a:schemeClr val="accent4"/>
                </a:solidFill>
              </a:rPr>
              <a:t>SQL</a:t>
            </a:r>
            <a:endParaRPr lang="en-US" sz="1100" dirty="0"/>
          </a:p>
        </p:txBody>
      </p:sp>
      <p:sp>
        <p:nvSpPr>
          <p:cNvPr id="38" name="Notification service"/>
          <p:cNvSpPr/>
          <p:nvPr/>
        </p:nvSpPr>
        <p:spPr>
          <a:xfrm>
            <a:off x="10469880" y="4663440"/>
            <a:ext cx="1280160" cy="1234440"/>
          </a:xfrm>
          <a:prstGeom prst="roundRect">
            <a:avLst>
              <a:gd name="adj" fmla="val 7407"/>
            </a:avLst>
          </a:prstGeom>
          <a:solidFill>
            <a:schemeClr val="tx2"/>
          </a:solidFill>
          <a:ln w="25400">
            <a:solidFill>
              <a:srgbClr val="E0532B"/>
            </a:solidFill>
            <a:prstDash val="solid"/>
          </a:ln>
        </p:spPr>
      </p:sp>
      <p:sp>
        <p:nvSpPr>
          <p:cNvPr id="39" name="Text 37"/>
          <p:cNvSpPr txBox="1"/>
          <p:nvPr/>
        </p:nvSpPr>
        <p:spPr>
          <a:xfrm>
            <a:off x="10543032" y="4663440"/>
            <a:ext cx="1133856" cy="1234440"/>
          </a:xfrm>
          <a:prstGeom prst="rect">
            <a:avLst/>
          </a:prstGeom>
          <a:noFill/>
          <a:ln/>
        </p:spPr>
        <p:txBody>
          <a:bodyPr wrap="square" lIns="0" tIns="0" rIns="0" bIns="0" rtlCol="0" anchor="ctr"/>
          <a:lstStyle/>
          <a:p>
            <a:pPr algn="ctr" indent="0" marL="0">
              <a:buNone/>
            </a:pPr>
            <a:r>
              <a:rPr lang="en-US" sz="1400" b="1" dirty="0">
                <a:solidFill>
                  <a:schemeClr val="bg1"/>
                </a:solidFill>
              </a:rPr>
              <a:t>Notification service</a:t>
            </a:r>
            <a:endParaRPr lang="en-US" sz="1400" dirty="0"/>
          </a:p>
          <a:p>
            <a:pPr algn="ctr" indent="0" marL="0">
              <a:buNone/>
            </a:pPr>
            <a:r>
              <a:rPr lang="en-US" sz="1100" dirty="0">
                <a:solidFill>
                  <a:schemeClr val="bg1"/>
                </a:solidFill>
              </a:rPr>
              <a:t>separate app :8081</a:t>
            </a:r>
            <a:endParaRPr lang="en-US" sz="1400" dirty="0"/>
          </a:p>
        </p:txBody>
      </p:sp>
      <p:sp>
        <p:nvSpPr>
          <p:cNvPr id="40" name="Notify route (down)"/>
          <p:cNvSpPr/>
          <p:nvPr/>
        </p:nvSpPr>
        <p:spPr>
          <a:xfrm>
            <a:off x="7315200" y="4480560"/>
            <a:ext cx="0" cy="777240"/>
          </a:xfrm>
          <a:prstGeom prst="line">
            <a:avLst/>
          </a:prstGeom>
          <a:noFill/>
          <a:ln w="22225">
            <a:solidFill>
              <a:srgbClr val="E0532B"/>
            </a:solidFill>
            <a:prstDash val="dash"/>
          </a:ln>
        </p:spPr>
      </p:sp>
      <p:sp>
        <p:nvSpPr>
          <p:cNvPr id="41" name="Arrow"/>
          <p:cNvSpPr/>
          <p:nvPr/>
        </p:nvSpPr>
        <p:spPr>
          <a:xfrm>
            <a:off x="7315200" y="5257800"/>
            <a:ext cx="3154680" cy="0"/>
          </a:xfrm>
          <a:prstGeom prst="line">
            <a:avLst/>
          </a:prstGeom>
          <a:noFill/>
          <a:ln w="22225">
            <a:solidFill>
              <a:srgbClr val="E0532B"/>
            </a:solidFill>
            <a:prstDash val="solid"/>
            <a:tailEnd type="triangle"/>
          </a:ln>
        </p:spPr>
      </p:sp>
      <p:sp>
        <p:nvSpPr>
          <p:cNvPr id="42" name="Text 40"/>
          <p:cNvSpPr txBox="1"/>
          <p:nvPr/>
        </p:nvSpPr>
        <p:spPr>
          <a:xfrm>
            <a:off x="8138160" y="4937760"/>
            <a:ext cx="2011680" cy="274320"/>
          </a:xfrm>
          <a:prstGeom prst="rect">
            <a:avLst/>
          </a:prstGeom>
          <a:noFill/>
          <a:ln/>
        </p:spPr>
        <p:txBody>
          <a:bodyPr wrap="square" lIns="0" tIns="0" rIns="0" bIns="0" rtlCol="0" anchor="t"/>
          <a:lstStyle/>
          <a:p>
            <a:pPr algn="ctr" indent="0" marL="0">
              <a:buNone/>
            </a:pPr>
            <a:r>
              <a:rPr lang="en-US" sz="1200" dirty="0">
                <a:solidFill>
                  <a:srgbClr val="F2A58E"/>
                </a:solidFill>
              </a:rPr>
              <a:t>POST after commit</a:t>
            </a:r>
            <a:endParaRPr lang="en-US" sz="12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pill"/>
          <p:cNvSpPr/>
          <p:nvPr/>
        </p:nvSpPr>
        <p:spPr>
          <a:xfrm>
            <a:off x="548640" y="347472"/>
            <a:ext cx="2555748" cy="292608"/>
          </a:xfrm>
          <a:prstGeom prst="roundRect">
            <a:avLst>
              <a:gd name="adj" fmla="val 50000"/>
            </a:avLst>
          </a:prstGeom>
          <a:ln w="12700">
            <a:solidFill>
              <a:schemeClr val="accent6"/>
            </a:solidFill>
            <a:prstDash val="solid"/>
          </a:ln>
        </p:spPr>
      </p:sp>
      <p:sp>
        <p:nvSpPr>
          <p:cNvPr id="3" name="Text 1"/>
          <p:cNvSpPr txBox="1"/>
          <p:nvPr/>
        </p:nvSpPr>
        <p:spPr>
          <a:xfrm>
            <a:off x="548640" y="347472"/>
            <a:ext cx="2555748" cy="292608"/>
          </a:xfrm>
          <a:prstGeom prst="rect">
            <a:avLst/>
          </a:prstGeom>
          <a:noFill/>
          <a:ln/>
        </p:spPr>
        <p:txBody>
          <a:bodyPr wrap="square" lIns="0" tIns="0" rIns="0" bIns="0" rtlCol="0" anchor="ctr"/>
          <a:lstStyle/>
          <a:p>
            <a:pPr algn="ctr" indent="0" marL="0">
              <a:buNone/>
            </a:pPr>
            <a:r>
              <a:rPr lang="en-US" sz="1100" b="1" spc="200" kern="0" dirty="0">
                <a:solidFill>
                  <a:schemeClr val="accent6"/>
                </a:solidFill>
              </a:rPr>
              <a:t>04  ·  COMPONENTS</a:t>
            </a:r>
            <a:endParaRPr lang="en-US" sz="1100" dirty="0"/>
          </a:p>
        </p:txBody>
      </p:sp>
      <p:sp>
        <p:nvSpPr>
          <p:cNvPr id="4" name="Text 0"/>
          <p:cNvSpPr/>
          <p:nvPr>
            <p:ph idx="100" type="title" hasCustomPrompt="1"/>
          </p:nvPr>
        </p:nvSpPr>
        <p:spPr>
          <a:xfrm>
            <a:off x="548640" y="749808"/>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What each component does</a:t>
            </a:r>
            <a:endParaRPr lang="en-US" sz="3600" dirty="0"/>
          </a:p>
        </p:txBody>
      </p:sp>
      <p:sp>
        <p:nvSpPr>
          <p:cNvPr id="5" name="Component card"/>
          <p:cNvSpPr/>
          <p:nvPr/>
        </p:nvSpPr>
        <p:spPr>
          <a:xfrm>
            <a:off x="548640" y="1737360"/>
            <a:ext cx="2679192" cy="2212848"/>
          </a:xfrm>
          <a:prstGeom prst="roundRect">
            <a:avLst>
              <a:gd name="adj" fmla="val 4959"/>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6" name="Icon disc"/>
          <p:cNvSpPr/>
          <p:nvPr/>
        </p:nvSpPr>
        <p:spPr>
          <a:xfrm>
            <a:off x="777240" y="1965960"/>
            <a:ext cx="566928" cy="566928"/>
          </a:xfrm>
          <a:prstGeom prst="ellipse">
            <a:avLst/>
          </a:prstGeom>
          <a:solidFill>
            <a:schemeClr val="accent2"/>
          </a:solidFill>
          <a:ln/>
        </p:spPr>
      </p:sp>
      <p:pic>
        <p:nvPicPr>
          <p:cNvPr id="7" name="Image 0" descr="Route icon">    </p:cNvPr>
          <p:cNvPicPr>
            <a:picLocks noChangeAspect="1"/>
          </p:cNvPicPr>
          <p:nvPr/>
        </p:nvPicPr>
        <p:blipFill>
          <a:blip r:embed="rId1"/>
          <a:stretch>
            <a:fillRect/>
          </a:stretch>
        </p:blipFill>
        <p:spPr>
          <a:xfrm>
            <a:off x="913303" y="2102023"/>
            <a:ext cx="294803" cy="294803"/>
          </a:xfrm>
          <a:prstGeom prst="rect">
            <a:avLst/>
          </a:prstGeom>
        </p:spPr>
      </p:pic>
      <p:sp>
        <p:nvSpPr>
          <p:cNvPr id="8" name="Text 5"/>
          <p:cNvSpPr txBox="1"/>
          <p:nvPr/>
        </p:nvSpPr>
        <p:spPr>
          <a:xfrm>
            <a:off x="777240" y="2651760"/>
            <a:ext cx="224028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Controllers</a:t>
            </a:r>
            <a:endParaRPr lang="en-US" sz="1700" dirty="0"/>
          </a:p>
        </p:txBody>
      </p:sp>
      <p:sp>
        <p:nvSpPr>
          <p:cNvPr id="9" name="Text 6"/>
          <p:cNvSpPr txBox="1"/>
          <p:nvPr/>
        </p:nvSpPr>
        <p:spPr>
          <a:xfrm>
            <a:off x="777240" y="2999232"/>
            <a:ext cx="2240280" cy="822960"/>
          </a:xfrm>
          <a:prstGeom prst="rect">
            <a:avLst/>
          </a:prstGeom>
          <a:noFill/>
          <a:ln/>
        </p:spPr>
        <p:txBody>
          <a:bodyPr wrap="square" lIns="0" tIns="0" rIns="0" bIns="0" rtlCol="0" anchor="t"/>
          <a:lstStyle/>
          <a:p>
            <a:pPr indent="0" marL="0">
              <a:buNone/>
            </a:pPr>
            <a:r>
              <a:rPr lang="en-US" sz="1300" dirty="0">
                <a:solidFill>
                  <a:schemeClr val="accent5"/>
                </a:solidFill>
              </a:rPr>
              <a:t>@Controller serves the Thymeleaf pages (/, /cart, /staff). @RestController serves JSON under /api.</a:t>
            </a:r>
            <a:endParaRPr lang="en-US" sz="1300" dirty="0"/>
          </a:p>
        </p:txBody>
      </p:sp>
      <p:sp>
        <p:nvSpPr>
          <p:cNvPr id="10" name="Component card"/>
          <p:cNvSpPr/>
          <p:nvPr/>
        </p:nvSpPr>
        <p:spPr>
          <a:xfrm>
            <a:off x="3383280" y="1737360"/>
            <a:ext cx="2679192" cy="2212848"/>
          </a:xfrm>
          <a:prstGeom prst="roundRect">
            <a:avLst>
              <a:gd name="adj" fmla="val 4959"/>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11" name="Icon disc"/>
          <p:cNvSpPr/>
          <p:nvPr/>
        </p:nvSpPr>
        <p:spPr>
          <a:xfrm>
            <a:off x="3611880" y="1965960"/>
            <a:ext cx="566928" cy="566928"/>
          </a:xfrm>
          <a:prstGeom prst="ellipse">
            <a:avLst/>
          </a:prstGeom>
          <a:solidFill>
            <a:schemeClr val="accent2"/>
          </a:solidFill>
          <a:ln/>
        </p:spPr>
      </p:sp>
      <p:pic>
        <p:nvPicPr>
          <p:cNvPr id="12" name="Image 1" descr="ShieldAlt icon">    </p:cNvPr>
          <p:cNvPicPr>
            <a:picLocks noChangeAspect="1"/>
          </p:cNvPicPr>
          <p:nvPr/>
        </p:nvPicPr>
        <p:blipFill>
          <a:blip r:embed="rId2"/>
          <a:stretch>
            <a:fillRect/>
          </a:stretch>
        </p:blipFill>
        <p:spPr>
          <a:xfrm>
            <a:off x="3747943" y="2102023"/>
            <a:ext cx="294803" cy="294803"/>
          </a:xfrm>
          <a:prstGeom prst="rect">
            <a:avLst/>
          </a:prstGeom>
        </p:spPr>
      </p:pic>
      <p:sp>
        <p:nvSpPr>
          <p:cNvPr id="13" name="Text 9"/>
          <p:cNvSpPr txBox="1"/>
          <p:nvPr/>
        </p:nvSpPr>
        <p:spPr>
          <a:xfrm>
            <a:off x="3611880" y="2651760"/>
            <a:ext cx="224028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Spring Security</a:t>
            </a:r>
            <a:endParaRPr lang="en-US" sz="1700" dirty="0"/>
          </a:p>
        </p:txBody>
      </p:sp>
      <p:sp>
        <p:nvSpPr>
          <p:cNvPr id="14" name="Text 10"/>
          <p:cNvSpPr txBox="1"/>
          <p:nvPr/>
        </p:nvSpPr>
        <p:spPr>
          <a:xfrm>
            <a:off x="3611880" y="2999232"/>
            <a:ext cx="2240280" cy="822960"/>
          </a:xfrm>
          <a:prstGeom prst="rect">
            <a:avLst/>
          </a:prstGeom>
          <a:noFill/>
          <a:ln/>
        </p:spPr>
        <p:txBody>
          <a:bodyPr wrap="square" lIns="0" tIns="0" rIns="0" bIns="0" rtlCol="0" anchor="t"/>
          <a:lstStyle/>
          <a:p>
            <a:pPr indent="0" marL="0">
              <a:buNone/>
            </a:pPr>
            <a:r>
              <a:rPr lang="en-US" sz="1300" dirty="0">
                <a:solidFill>
                  <a:schemeClr val="accent5"/>
                </a:solidFill>
              </a:rPr>
              <a:t>Form login for pages, HTTP Basic for the API. Roles KITCHEN and STAFF, JSON 401 / 403.</a:t>
            </a:r>
            <a:endParaRPr lang="en-US" sz="1300" dirty="0"/>
          </a:p>
        </p:txBody>
      </p:sp>
      <p:sp>
        <p:nvSpPr>
          <p:cNvPr id="15" name="Component card"/>
          <p:cNvSpPr/>
          <p:nvPr/>
        </p:nvSpPr>
        <p:spPr>
          <a:xfrm>
            <a:off x="6217920" y="1737360"/>
            <a:ext cx="2679192" cy="2212848"/>
          </a:xfrm>
          <a:prstGeom prst="roundRect">
            <a:avLst>
              <a:gd name="adj" fmla="val 4959"/>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16" name="Icon disc"/>
          <p:cNvSpPr/>
          <p:nvPr/>
        </p:nvSpPr>
        <p:spPr>
          <a:xfrm>
            <a:off x="6446520" y="1965960"/>
            <a:ext cx="566928" cy="566928"/>
          </a:xfrm>
          <a:prstGeom prst="ellipse">
            <a:avLst/>
          </a:prstGeom>
          <a:solidFill>
            <a:schemeClr val="accent2"/>
          </a:solidFill>
          <a:ln/>
        </p:spPr>
      </p:sp>
      <p:pic>
        <p:nvPicPr>
          <p:cNvPr id="17" name="Image 2" descr="Cogs icon">    </p:cNvPr>
          <p:cNvPicPr>
            <a:picLocks noChangeAspect="1"/>
          </p:cNvPicPr>
          <p:nvPr/>
        </p:nvPicPr>
        <p:blipFill>
          <a:blip r:embed="rId3"/>
          <a:stretch>
            <a:fillRect/>
          </a:stretch>
        </p:blipFill>
        <p:spPr>
          <a:xfrm>
            <a:off x="6582583" y="2102023"/>
            <a:ext cx="294803" cy="294803"/>
          </a:xfrm>
          <a:prstGeom prst="rect">
            <a:avLst/>
          </a:prstGeom>
        </p:spPr>
      </p:pic>
      <p:sp>
        <p:nvSpPr>
          <p:cNvPr id="18" name="Text 13"/>
          <p:cNvSpPr txBox="1"/>
          <p:nvPr/>
        </p:nvSpPr>
        <p:spPr>
          <a:xfrm>
            <a:off x="6446520" y="2651760"/>
            <a:ext cx="224028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Services</a:t>
            </a:r>
            <a:endParaRPr lang="en-US" sz="1700" dirty="0"/>
          </a:p>
        </p:txBody>
      </p:sp>
      <p:sp>
        <p:nvSpPr>
          <p:cNvPr id="19" name="Text 14"/>
          <p:cNvSpPr txBox="1"/>
          <p:nvPr/>
        </p:nvSpPr>
        <p:spPr>
          <a:xfrm>
            <a:off x="6446520" y="2999232"/>
            <a:ext cx="2240280" cy="822960"/>
          </a:xfrm>
          <a:prstGeom prst="rect">
            <a:avLst/>
          </a:prstGeom>
          <a:noFill/>
          <a:ln/>
        </p:spPr>
        <p:txBody>
          <a:bodyPr wrap="square" lIns="0" tIns="0" rIns="0" bIns="0" rtlCol="0" anchor="t"/>
          <a:lstStyle/>
          <a:p>
            <a:pPr indent="0" marL="0">
              <a:buNone/>
            </a:pPr>
            <a:r>
              <a:rPr lang="en-US" sz="1300" dirty="0">
                <a:solidFill>
                  <a:schemeClr val="accent5"/>
                </a:solidFill>
              </a:rPr>
              <a:t>All business rules inside @Transactional: checkout, status changes, payments, pickup OTP.</a:t>
            </a:r>
            <a:endParaRPr lang="en-US" sz="1300" dirty="0"/>
          </a:p>
        </p:txBody>
      </p:sp>
      <p:sp>
        <p:nvSpPr>
          <p:cNvPr id="20" name="Component card"/>
          <p:cNvSpPr/>
          <p:nvPr/>
        </p:nvSpPr>
        <p:spPr>
          <a:xfrm>
            <a:off x="9052560" y="1737360"/>
            <a:ext cx="2679192" cy="2212848"/>
          </a:xfrm>
          <a:prstGeom prst="roundRect">
            <a:avLst>
              <a:gd name="adj" fmla="val 4959"/>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21" name="Icon disc"/>
          <p:cNvSpPr/>
          <p:nvPr/>
        </p:nvSpPr>
        <p:spPr>
          <a:xfrm>
            <a:off x="9281160" y="1965960"/>
            <a:ext cx="566928" cy="566928"/>
          </a:xfrm>
          <a:prstGeom prst="ellipse">
            <a:avLst/>
          </a:prstGeom>
          <a:solidFill>
            <a:schemeClr val="accent2"/>
          </a:solidFill>
          <a:ln/>
        </p:spPr>
      </p:sp>
      <p:pic>
        <p:nvPicPr>
          <p:cNvPr id="22" name="Image 3" descr="Database icon">    </p:cNvPr>
          <p:cNvPicPr>
            <a:picLocks noChangeAspect="1"/>
          </p:cNvPicPr>
          <p:nvPr/>
        </p:nvPicPr>
        <p:blipFill>
          <a:blip r:embed="rId4"/>
          <a:stretch>
            <a:fillRect/>
          </a:stretch>
        </p:blipFill>
        <p:spPr>
          <a:xfrm>
            <a:off x="9417223" y="2102023"/>
            <a:ext cx="294803" cy="294803"/>
          </a:xfrm>
          <a:prstGeom prst="rect">
            <a:avLst/>
          </a:prstGeom>
        </p:spPr>
      </p:pic>
      <p:sp>
        <p:nvSpPr>
          <p:cNvPr id="23" name="Text 17"/>
          <p:cNvSpPr txBox="1"/>
          <p:nvPr/>
        </p:nvSpPr>
        <p:spPr>
          <a:xfrm>
            <a:off x="9281160" y="2651760"/>
            <a:ext cx="224028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JPA + Hibernate</a:t>
            </a:r>
            <a:endParaRPr lang="en-US" sz="1700" dirty="0"/>
          </a:p>
        </p:txBody>
      </p:sp>
      <p:sp>
        <p:nvSpPr>
          <p:cNvPr id="24" name="Text 18"/>
          <p:cNvSpPr txBox="1"/>
          <p:nvPr/>
        </p:nvSpPr>
        <p:spPr>
          <a:xfrm>
            <a:off x="9281160" y="2999232"/>
            <a:ext cx="2240280" cy="822960"/>
          </a:xfrm>
          <a:prstGeom prst="rect">
            <a:avLst/>
          </a:prstGeom>
          <a:noFill/>
          <a:ln/>
        </p:spPr>
        <p:txBody>
          <a:bodyPr wrap="square" lIns="0" tIns="0" rIns="0" bIns="0" rtlCol="0" anchor="t"/>
          <a:lstStyle/>
          <a:p>
            <a:pPr indent="0" marL="0">
              <a:buNone/>
            </a:pPr>
            <a:r>
              <a:rPr lang="en-US" sz="1300" dirty="0">
                <a:solidFill>
                  <a:schemeClr val="accent5"/>
                </a:solidFill>
              </a:rPr>
              <a:t>Spring Data repositories, two HQL queries, entities mapped to MySQL tables.</a:t>
            </a:r>
            <a:endParaRPr lang="en-US" sz="1300" dirty="0"/>
          </a:p>
        </p:txBody>
      </p:sp>
      <p:sp>
        <p:nvSpPr>
          <p:cNvPr id="25" name="Component card"/>
          <p:cNvSpPr/>
          <p:nvPr/>
        </p:nvSpPr>
        <p:spPr>
          <a:xfrm>
            <a:off x="548640" y="4069080"/>
            <a:ext cx="2679192" cy="2212848"/>
          </a:xfrm>
          <a:prstGeom prst="roundRect">
            <a:avLst>
              <a:gd name="adj" fmla="val 4959"/>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26" name="Icon disc"/>
          <p:cNvSpPr/>
          <p:nvPr/>
        </p:nvSpPr>
        <p:spPr>
          <a:xfrm>
            <a:off x="777240" y="4297680"/>
            <a:ext cx="566928" cy="566928"/>
          </a:xfrm>
          <a:prstGeom prst="ellipse">
            <a:avLst/>
          </a:prstGeom>
          <a:solidFill>
            <a:schemeClr val="accent2"/>
          </a:solidFill>
          <a:ln/>
        </p:spPr>
      </p:sp>
      <p:pic>
        <p:nvPicPr>
          <p:cNvPr id="27" name="Image 4" descr="Bolt icon">    </p:cNvPr>
          <p:cNvPicPr>
            <a:picLocks noChangeAspect="1"/>
          </p:cNvPicPr>
          <p:nvPr/>
        </p:nvPicPr>
        <p:blipFill>
          <a:blip r:embed="rId5"/>
          <a:stretch>
            <a:fillRect/>
          </a:stretch>
        </p:blipFill>
        <p:spPr>
          <a:xfrm>
            <a:off x="913303" y="4433743"/>
            <a:ext cx="294803" cy="294803"/>
          </a:xfrm>
          <a:prstGeom prst="rect">
            <a:avLst/>
          </a:prstGeom>
        </p:spPr>
      </p:pic>
      <p:sp>
        <p:nvSpPr>
          <p:cNvPr id="28" name="Text 21"/>
          <p:cNvSpPr txBox="1"/>
          <p:nvPr/>
        </p:nvSpPr>
        <p:spPr>
          <a:xfrm>
            <a:off x="777240" y="4983480"/>
            <a:ext cx="224028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Caffeine cache</a:t>
            </a:r>
            <a:endParaRPr lang="en-US" sz="1700" dirty="0"/>
          </a:p>
        </p:txBody>
      </p:sp>
      <p:sp>
        <p:nvSpPr>
          <p:cNvPr id="29" name="Text 22"/>
          <p:cNvSpPr txBox="1"/>
          <p:nvPr/>
        </p:nvSpPr>
        <p:spPr>
          <a:xfrm>
            <a:off x="777240" y="5330952"/>
            <a:ext cx="2240280" cy="822960"/>
          </a:xfrm>
          <a:prstGeom prst="rect">
            <a:avLst/>
          </a:prstGeom>
          <a:noFill/>
          <a:ln/>
        </p:spPr>
        <p:txBody>
          <a:bodyPr wrap="square" lIns="0" tIns="0" rIns="0" bIns="0" rtlCol="0" anchor="t"/>
          <a:lstStyle/>
          <a:p>
            <a:pPr indent="0" marL="0">
              <a:buNone/>
            </a:pPr>
            <a:r>
              <a:rPr lang="en-US" sz="1300" dirty="0">
                <a:solidFill>
                  <a:schemeClr val="accent5"/>
                </a:solidFill>
              </a:rPr>
              <a:t>Menu and popular items cached for 60 s. Cleared right after an order commits.</a:t>
            </a:r>
            <a:endParaRPr lang="en-US" sz="1300" dirty="0"/>
          </a:p>
        </p:txBody>
      </p:sp>
      <p:sp>
        <p:nvSpPr>
          <p:cNvPr id="30" name="Component card"/>
          <p:cNvSpPr/>
          <p:nvPr/>
        </p:nvSpPr>
        <p:spPr>
          <a:xfrm>
            <a:off x="3383280" y="4069080"/>
            <a:ext cx="2679192" cy="2212848"/>
          </a:xfrm>
          <a:prstGeom prst="roundRect">
            <a:avLst>
              <a:gd name="adj" fmla="val 4959"/>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31" name="Icon disc"/>
          <p:cNvSpPr/>
          <p:nvPr/>
        </p:nvSpPr>
        <p:spPr>
          <a:xfrm>
            <a:off x="3611880" y="4297680"/>
            <a:ext cx="566928" cy="566928"/>
          </a:xfrm>
          <a:prstGeom prst="ellipse">
            <a:avLst/>
          </a:prstGeom>
          <a:solidFill>
            <a:schemeClr val="accent2"/>
          </a:solidFill>
          <a:ln/>
        </p:spPr>
      </p:sp>
      <p:pic>
        <p:nvPicPr>
          <p:cNvPr id="32" name="Image 5" descr="Stopwatch icon">    </p:cNvPr>
          <p:cNvPicPr>
            <a:picLocks noChangeAspect="1"/>
          </p:cNvPicPr>
          <p:nvPr/>
        </p:nvPicPr>
        <p:blipFill>
          <a:blip r:embed="rId6"/>
          <a:stretch>
            <a:fillRect/>
          </a:stretch>
        </p:blipFill>
        <p:spPr>
          <a:xfrm>
            <a:off x="3747943" y="4433743"/>
            <a:ext cx="294803" cy="294803"/>
          </a:xfrm>
          <a:prstGeom prst="rect">
            <a:avLst/>
          </a:prstGeom>
        </p:spPr>
      </p:pic>
      <p:sp>
        <p:nvSpPr>
          <p:cNvPr id="33" name="Text 25"/>
          <p:cNvSpPr txBox="1"/>
          <p:nvPr/>
        </p:nvSpPr>
        <p:spPr>
          <a:xfrm>
            <a:off x="3611880" y="4983480"/>
            <a:ext cx="224028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LoggingAspect (AOP)</a:t>
            </a:r>
            <a:endParaRPr lang="en-US" sz="1700" dirty="0"/>
          </a:p>
        </p:txBody>
      </p:sp>
      <p:sp>
        <p:nvSpPr>
          <p:cNvPr id="34" name="Text 26"/>
          <p:cNvSpPr txBox="1"/>
          <p:nvPr/>
        </p:nvSpPr>
        <p:spPr>
          <a:xfrm>
            <a:off x="3611880" y="5330952"/>
            <a:ext cx="2240280" cy="822960"/>
          </a:xfrm>
          <a:prstGeom prst="rect">
            <a:avLst/>
          </a:prstGeom>
          <a:noFill/>
          <a:ln/>
        </p:spPr>
        <p:txBody>
          <a:bodyPr wrap="square" lIns="0" tIns="0" rIns="0" bIns="0" rtlCol="0" anchor="t"/>
          <a:lstStyle/>
          <a:p>
            <a:pPr indent="0" marL="0">
              <a:buNone/>
            </a:pPr>
            <a:r>
              <a:rPr lang="en-US" sz="1300" dirty="0">
                <a:solidFill>
                  <a:schemeClr val="accent5"/>
                </a:solidFill>
              </a:rPr>
              <a:t>@Around every service method: logs the time taken and any failure.</a:t>
            </a:r>
            <a:endParaRPr lang="en-US" sz="1300" dirty="0"/>
          </a:p>
        </p:txBody>
      </p:sp>
      <p:sp>
        <p:nvSpPr>
          <p:cNvPr id="35" name="Component card"/>
          <p:cNvSpPr/>
          <p:nvPr/>
        </p:nvSpPr>
        <p:spPr>
          <a:xfrm>
            <a:off x="6217920" y="4069080"/>
            <a:ext cx="2679192" cy="2212848"/>
          </a:xfrm>
          <a:prstGeom prst="roundRect">
            <a:avLst>
              <a:gd name="adj" fmla="val 4959"/>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36" name="Icon disc"/>
          <p:cNvSpPr/>
          <p:nvPr/>
        </p:nvSpPr>
        <p:spPr>
          <a:xfrm>
            <a:off x="6446520" y="4297680"/>
            <a:ext cx="566928" cy="566928"/>
          </a:xfrm>
          <a:prstGeom prst="ellipse">
            <a:avLst/>
          </a:prstGeom>
          <a:solidFill>
            <a:schemeClr val="accent2"/>
          </a:solidFill>
          <a:ln/>
        </p:spPr>
      </p:sp>
      <p:pic>
        <p:nvPicPr>
          <p:cNvPr id="37" name="Image 6" descr="ExclamationTriangle icon">    </p:cNvPr>
          <p:cNvPicPr>
            <a:picLocks noChangeAspect="1"/>
          </p:cNvPicPr>
          <p:nvPr/>
        </p:nvPicPr>
        <p:blipFill>
          <a:blip r:embed="rId7"/>
          <a:stretch>
            <a:fillRect/>
          </a:stretch>
        </p:blipFill>
        <p:spPr>
          <a:xfrm>
            <a:off x="6582583" y="4433743"/>
            <a:ext cx="294803" cy="294803"/>
          </a:xfrm>
          <a:prstGeom prst="rect">
            <a:avLst/>
          </a:prstGeom>
        </p:spPr>
      </p:pic>
      <p:sp>
        <p:nvSpPr>
          <p:cNvPr id="38" name="Text 29"/>
          <p:cNvSpPr txBox="1"/>
          <p:nvPr/>
        </p:nvSpPr>
        <p:spPr>
          <a:xfrm>
            <a:off x="6446520" y="4983480"/>
            <a:ext cx="224028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Error handler</a:t>
            </a:r>
            <a:endParaRPr lang="en-US" sz="1700" dirty="0"/>
          </a:p>
        </p:txBody>
      </p:sp>
      <p:sp>
        <p:nvSpPr>
          <p:cNvPr id="39" name="Text 30"/>
          <p:cNvSpPr txBox="1"/>
          <p:nvPr/>
        </p:nvSpPr>
        <p:spPr>
          <a:xfrm>
            <a:off x="6446520" y="5330952"/>
            <a:ext cx="2240280" cy="822960"/>
          </a:xfrm>
          <a:prstGeom prst="rect">
            <a:avLst/>
          </a:prstGeom>
          <a:noFill/>
          <a:ln/>
        </p:spPr>
        <p:txBody>
          <a:bodyPr wrap="square" lIns="0" tIns="0" rIns="0" bIns="0" rtlCol="0" anchor="t"/>
          <a:lstStyle/>
          <a:p>
            <a:pPr indent="0" marL="0">
              <a:buNone/>
            </a:pPr>
            <a:r>
              <a:rPr lang="en-US" sz="1300" dirty="0">
                <a:solidFill>
                  <a:schemeClr val="accent5"/>
                </a:solidFill>
              </a:rPr>
              <a:t>One @RestControllerAdvice turns every failure into a uniform JSON error (400 to 409).</a:t>
            </a:r>
            <a:endParaRPr lang="en-US" sz="1300" dirty="0"/>
          </a:p>
        </p:txBody>
      </p:sp>
      <p:sp>
        <p:nvSpPr>
          <p:cNvPr id="40" name="Component card"/>
          <p:cNvSpPr/>
          <p:nvPr/>
        </p:nvSpPr>
        <p:spPr>
          <a:xfrm>
            <a:off x="9052560" y="4069080"/>
            <a:ext cx="2679192" cy="2212848"/>
          </a:xfrm>
          <a:prstGeom prst="roundRect">
            <a:avLst>
              <a:gd name="adj" fmla="val 4959"/>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41" name="Icon disc"/>
          <p:cNvSpPr/>
          <p:nvPr/>
        </p:nvSpPr>
        <p:spPr>
          <a:xfrm>
            <a:off x="9281160" y="4297680"/>
            <a:ext cx="566928" cy="566928"/>
          </a:xfrm>
          <a:prstGeom prst="ellipse">
            <a:avLst/>
          </a:prstGeom>
          <a:solidFill>
            <a:schemeClr val="accent1"/>
          </a:solidFill>
          <a:ln/>
        </p:spPr>
      </p:sp>
      <p:pic>
        <p:nvPicPr>
          <p:cNvPr id="42" name="Image 7" descr="Bell icon">    </p:cNvPr>
          <p:cNvPicPr>
            <a:picLocks noChangeAspect="1"/>
          </p:cNvPicPr>
          <p:nvPr/>
        </p:nvPicPr>
        <p:blipFill>
          <a:blip r:embed="rId8"/>
          <a:stretch>
            <a:fillRect/>
          </a:stretch>
        </p:blipFill>
        <p:spPr>
          <a:xfrm>
            <a:off x="9417223" y="4433743"/>
            <a:ext cx="294803" cy="294803"/>
          </a:xfrm>
          <a:prstGeom prst="rect">
            <a:avLst/>
          </a:prstGeom>
        </p:spPr>
      </p:pic>
      <p:sp>
        <p:nvSpPr>
          <p:cNvPr id="43" name="Text 33"/>
          <p:cNvSpPr txBox="1"/>
          <p:nvPr/>
        </p:nvSpPr>
        <p:spPr>
          <a:xfrm>
            <a:off x="9281160" y="4983480"/>
            <a:ext cx="2240280" cy="32004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Notification service</a:t>
            </a:r>
            <a:endParaRPr lang="en-US" sz="1700" dirty="0"/>
          </a:p>
        </p:txBody>
      </p:sp>
      <p:sp>
        <p:nvSpPr>
          <p:cNvPr id="44" name="Text 34"/>
          <p:cNvSpPr txBox="1"/>
          <p:nvPr/>
        </p:nvSpPr>
        <p:spPr>
          <a:xfrm>
            <a:off x="9281160" y="5330952"/>
            <a:ext cx="2240280" cy="822960"/>
          </a:xfrm>
          <a:prstGeom prst="rect">
            <a:avLst/>
          </a:prstGeom>
          <a:noFill/>
          <a:ln/>
        </p:spPr>
        <p:txBody>
          <a:bodyPr wrap="square" lIns="0" tIns="0" rIns="0" bIns="0" rtlCol="0" anchor="t"/>
          <a:lstStyle/>
          <a:p>
            <a:pPr indent="0" marL="0">
              <a:buNone/>
            </a:pPr>
            <a:r>
              <a:rPr lang="en-US" sz="1300" dirty="0">
                <a:solidFill>
                  <a:schemeClr val="accent5"/>
                </a:solidFill>
              </a:rPr>
              <a:t>Separate Spring Boot app on :8081. Receives the "order ready" event over REST.</a:t>
            </a:r>
            <a:endParaRPr lang="en-US" sz="13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ection pill"/>
          <p:cNvSpPr/>
          <p:nvPr/>
        </p:nvSpPr>
        <p:spPr>
          <a:xfrm>
            <a:off x="548640" y="347472"/>
            <a:ext cx="2926080" cy="292608"/>
          </a:xfrm>
          <a:prstGeom prst="roundRect">
            <a:avLst>
              <a:gd name="adj" fmla="val 50000"/>
            </a:avLst>
          </a:prstGeom>
          <a:ln w="12700">
            <a:solidFill>
              <a:schemeClr val="accent6"/>
            </a:solidFill>
            <a:prstDash val="solid"/>
          </a:ln>
        </p:spPr>
      </p:sp>
      <p:sp>
        <p:nvSpPr>
          <p:cNvPr id="3" name="Text 1"/>
          <p:cNvSpPr txBox="1"/>
          <p:nvPr/>
        </p:nvSpPr>
        <p:spPr>
          <a:xfrm>
            <a:off x="548640" y="347472"/>
            <a:ext cx="2926080" cy="292608"/>
          </a:xfrm>
          <a:prstGeom prst="rect">
            <a:avLst/>
          </a:prstGeom>
          <a:noFill/>
          <a:ln/>
        </p:spPr>
        <p:txBody>
          <a:bodyPr wrap="square" lIns="0" tIns="0" rIns="0" bIns="0" rtlCol="0" anchor="ctr"/>
          <a:lstStyle/>
          <a:p>
            <a:pPr algn="ctr" indent="0" marL="0">
              <a:buNone/>
            </a:pPr>
            <a:r>
              <a:rPr lang="en-US" sz="1100" b="1" spc="200" kern="0" dirty="0">
                <a:solidFill>
                  <a:schemeClr val="accent6"/>
                </a:solidFill>
              </a:rPr>
              <a:t>05  ·  CUSTOMER SIDE</a:t>
            </a:r>
            <a:endParaRPr lang="en-US" sz="1100" dirty="0"/>
          </a:p>
        </p:txBody>
      </p:sp>
      <p:sp>
        <p:nvSpPr>
          <p:cNvPr id="4" name="Text 0"/>
          <p:cNvSpPr/>
          <p:nvPr>
            <p:ph idx="100" type="title" hasCustomPrompt="1"/>
          </p:nvPr>
        </p:nvSpPr>
        <p:spPr>
          <a:xfrm>
            <a:off x="548640" y="749808"/>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Customer: browse, order, get a code</a:t>
            </a:r>
            <a:endParaRPr lang="en-US" sz="3600" dirty="0"/>
          </a:p>
        </p:txBody>
      </p:sp>
      <p:sp>
        <p:nvSpPr>
          <p:cNvPr id="5" name="Screenshot frame"/>
          <p:cNvSpPr/>
          <p:nvPr/>
        </p:nvSpPr>
        <p:spPr>
          <a:xfrm>
            <a:off x="548640" y="1636776"/>
            <a:ext cx="6419088" cy="3849624"/>
          </a:xfrm>
          <a:prstGeom prst="roundRect">
            <a:avLst>
              <a:gd name="adj" fmla="val 1900"/>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pic>
        <p:nvPicPr>
          <p:cNvPr id="6" name="Image 0" descr="NoQ customer menu with search, category filters and Add buttons">    </p:cNvPr>
          <p:cNvPicPr>
            <a:picLocks noChangeAspect="1"/>
          </p:cNvPicPr>
          <p:nvPr/>
        </p:nvPicPr>
        <p:blipFill>
          <a:blip r:embed="rId1"/>
          <a:stretch>
            <a:fillRect/>
          </a:stretch>
        </p:blipFill>
        <p:spPr>
          <a:xfrm>
            <a:off x="603504" y="1691640"/>
            <a:ext cx="6309360" cy="3739896"/>
          </a:xfrm>
          <a:prstGeom prst="rect">
            <a:avLst/>
          </a:prstGeom>
        </p:spPr>
      </p:pic>
      <p:sp>
        <p:nvSpPr>
          <p:cNvPr id="7" name="Screenshot frame"/>
          <p:cNvSpPr/>
          <p:nvPr/>
        </p:nvSpPr>
        <p:spPr>
          <a:xfrm>
            <a:off x="7242048" y="1636776"/>
            <a:ext cx="4453128" cy="1335024"/>
          </a:xfrm>
          <a:prstGeom prst="roundRect">
            <a:avLst>
              <a:gd name="adj" fmla="val 5479"/>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pic>
        <p:nvPicPr>
          <p:cNvPr id="8" name="Image 1" descr="Cart with quantity controls and Place order button">    </p:cNvPr>
          <p:cNvPicPr>
            <a:picLocks noChangeAspect="1"/>
          </p:cNvPicPr>
          <p:nvPr/>
        </p:nvPicPr>
        <p:blipFill>
          <a:blip r:embed="rId2"/>
          <a:stretch>
            <a:fillRect/>
          </a:stretch>
        </p:blipFill>
        <p:spPr>
          <a:xfrm>
            <a:off x="7296912" y="1691640"/>
            <a:ext cx="4343400" cy="1225296"/>
          </a:xfrm>
          <a:prstGeom prst="rect">
            <a:avLst/>
          </a:prstGeom>
        </p:spPr>
      </p:pic>
      <p:sp>
        <p:nvSpPr>
          <p:cNvPr id="9" name="Screenshot frame"/>
          <p:cNvSpPr/>
          <p:nvPr/>
        </p:nvSpPr>
        <p:spPr>
          <a:xfrm>
            <a:off x="7242048" y="3145536"/>
            <a:ext cx="4453128" cy="2340864"/>
          </a:xfrm>
          <a:prstGeom prst="roundRect">
            <a:avLst>
              <a:gd name="adj" fmla="val 3125"/>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pic>
        <p:nvPicPr>
          <p:cNvPr id="10" name="Image 2" descr="Order confirmation with the six-digit pickup code">    </p:cNvPr>
          <p:cNvPicPr>
            <a:picLocks noChangeAspect="1"/>
          </p:cNvPicPr>
          <p:nvPr/>
        </p:nvPicPr>
        <p:blipFill>
          <a:blip r:embed="rId3"/>
          <a:stretch>
            <a:fillRect/>
          </a:stretch>
        </p:blipFill>
        <p:spPr>
          <a:xfrm>
            <a:off x="7296912" y="3200400"/>
            <a:ext cx="4343400" cy="2231136"/>
          </a:xfrm>
          <a:prstGeom prst="rect">
            <a:avLst/>
          </a:prstGeom>
        </p:spPr>
      </p:pic>
      <p:sp>
        <p:nvSpPr>
          <p:cNvPr id="11" name="Text 6"/>
          <p:cNvSpPr txBox="1"/>
          <p:nvPr/>
        </p:nvSpPr>
        <p:spPr>
          <a:xfrm>
            <a:off x="603504" y="5650992"/>
            <a:ext cx="6309360" cy="274320"/>
          </a:xfrm>
          <a:prstGeom prst="rect">
            <a:avLst/>
          </a:prstGeom>
          <a:noFill/>
          <a:ln/>
        </p:spPr>
        <p:txBody>
          <a:bodyPr wrap="square" lIns="0" tIns="0" rIns="0" bIns="0" rtlCol="0" anchor="t"/>
          <a:lstStyle/>
          <a:p>
            <a:pPr indent="0" marL="0">
              <a:buNone/>
            </a:pPr>
            <a:r>
              <a:rPr lang="en-US" sz="1600" b="1" dirty="0">
                <a:solidFill>
                  <a:schemeClr val="accent6"/>
                </a:solidFill>
              </a:rPr>
              <a:t>1  Browse</a:t>
            </a:r>
            <a:endParaRPr lang="en-US" sz="1600" dirty="0"/>
          </a:p>
        </p:txBody>
      </p:sp>
      <p:sp>
        <p:nvSpPr>
          <p:cNvPr id="12" name="Text 7"/>
          <p:cNvSpPr txBox="1"/>
          <p:nvPr/>
        </p:nvSpPr>
        <p:spPr>
          <a:xfrm>
            <a:off x="603504" y="5943600"/>
            <a:ext cx="6309360" cy="411480"/>
          </a:xfrm>
          <a:prstGeom prst="rect">
            <a:avLst/>
          </a:prstGeom>
          <a:noFill/>
          <a:ln/>
        </p:spPr>
        <p:txBody>
          <a:bodyPr wrap="square" lIns="0" tIns="0" rIns="0" bIns="0" rtlCol="0" anchor="t"/>
          <a:lstStyle/>
          <a:p>
            <a:pPr indent="0" marL="0">
              <a:buNone/>
            </a:pPr>
            <a:r>
              <a:rPr lang="en-US" sz="1400" dirty="0">
                <a:solidFill>
                  <a:schemeClr val="accent5"/>
                </a:solidFill>
              </a:rPr>
              <a:t>Search, filter and sort. Menu is cached; sold-out dishes are greyed out.</a:t>
            </a:r>
            <a:endParaRPr lang="en-US" sz="1400" dirty="0"/>
          </a:p>
        </p:txBody>
      </p:sp>
      <p:sp>
        <p:nvSpPr>
          <p:cNvPr id="13" name="Text 8"/>
          <p:cNvSpPr txBox="1"/>
          <p:nvPr/>
        </p:nvSpPr>
        <p:spPr>
          <a:xfrm>
            <a:off x="7296912" y="5650992"/>
            <a:ext cx="4343400" cy="274320"/>
          </a:xfrm>
          <a:prstGeom prst="rect">
            <a:avLst/>
          </a:prstGeom>
          <a:noFill/>
          <a:ln/>
        </p:spPr>
        <p:txBody>
          <a:bodyPr wrap="square" lIns="0" tIns="0" rIns="0" bIns="0" rtlCol="0" anchor="t"/>
          <a:lstStyle/>
          <a:p>
            <a:pPr indent="0" marL="0">
              <a:buNone/>
            </a:pPr>
            <a:r>
              <a:rPr lang="en-US" sz="1600" b="1" dirty="0">
                <a:solidFill>
                  <a:schemeClr val="accent6"/>
                </a:solidFill>
              </a:rPr>
              <a:t>2  Cart   ·   3  Confirm</a:t>
            </a:r>
            <a:endParaRPr lang="en-US" sz="1600" dirty="0"/>
          </a:p>
        </p:txBody>
      </p:sp>
      <p:sp>
        <p:nvSpPr>
          <p:cNvPr id="14" name="Text 9"/>
          <p:cNvSpPr txBox="1"/>
          <p:nvPr/>
        </p:nvSpPr>
        <p:spPr>
          <a:xfrm>
            <a:off x="7296912" y="5943600"/>
            <a:ext cx="4343400" cy="457200"/>
          </a:xfrm>
          <a:prstGeom prst="rect">
            <a:avLst/>
          </a:prstGeom>
          <a:noFill/>
          <a:ln/>
        </p:spPr>
        <p:txBody>
          <a:bodyPr wrap="square" lIns="0" tIns="0" rIns="0" bIns="0" rtlCol="0" anchor="t"/>
          <a:lstStyle/>
          <a:p>
            <a:pPr indent="0" marL="0">
              <a:buNone/>
            </a:pPr>
            <a:r>
              <a:rPr lang="en-US" sz="1300" dirty="0">
                <a:solidFill>
                  <a:schemeClr val="accent5"/>
                </a:solidFill>
              </a:rPr>
              <a:t>Cart lives in the browser. Confirmation shows the reference and a one-time code.</a:t>
            </a:r>
            <a:endParaRPr lang="en-US" sz="13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pill"/>
          <p:cNvSpPr/>
          <p:nvPr/>
        </p:nvSpPr>
        <p:spPr>
          <a:xfrm>
            <a:off x="548640" y="347472"/>
            <a:ext cx="3419856" cy="292608"/>
          </a:xfrm>
          <a:prstGeom prst="roundRect">
            <a:avLst>
              <a:gd name="adj" fmla="val 50000"/>
            </a:avLst>
          </a:prstGeom>
          <a:ln w="12700">
            <a:solidFill>
              <a:schemeClr val="accent6"/>
            </a:solidFill>
            <a:prstDash val="solid"/>
          </a:ln>
        </p:spPr>
      </p:sp>
      <p:sp>
        <p:nvSpPr>
          <p:cNvPr id="3" name="Text 1"/>
          <p:cNvSpPr txBox="1"/>
          <p:nvPr/>
        </p:nvSpPr>
        <p:spPr>
          <a:xfrm>
            <a:off x="548640" y="347472"/>
            <a:ext cx="3419856" cy="292608"/>
          </a:xfrm>
          <a:prstGeom prst="rect">
            <a:avLst/>
          </a:prstGeom>
          <a:noFill/>
          <a:ln/>
        </p:spPr>
        <p:txBody>
          <a:bodyPr wrap="square" lIns="0" tIns="0" rIns="0" bIns="0" rtlCol="0" anchor="ctr"/>
          <a:lstStyle/>
          <a:p>
            <a:pPr algn="ctr" indent="0" marL="0">
              <a:buNone/>
            </a:pPr>
            <a:r>
              <a:rPr lang="en-US" sz="1100" b="1" spc="200" kern="0" dirty="0">
                <a:solidFill>
                  <a:schemeClr val="accent6"/>
                </a:solidFill>
              </a:rPr>
              <a:t>06  ·  KITCHEN AND STAFF</a:t>
            </a:r>
            <a:endParaRPr lang="en-US" sz="1100" dirty="0"/>
          </a:p>
        </p:txBody>
      </p:sp>
      <p:sp>
        <p:nvSpPr>
          <p:cNvPr id="4" name="Text 0"/>
          <p:cNvSpPr/>
          <p:nvPr>
            <p:ph idx="100" type="title" hasCustomPrompt="1"/>
          </p:nvPr>
        </p:nvSpPr>
        <p:spPr>
          <a:xfrm>
            <a:off x="548640" y="749808"/>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Kitchen cooks, staff hand over</a:t>
            </a:r>
            <a:endParaRPr lang="en-US" sz="3600" dirty="0"/>
          </a:p>
        </p:txBody>
      </p:sp>
      <p:sp>
        <p:nvSpPr>
          <p:cNvPr id="5" name="Status chip"/>
          <p:cNvSpPr/>
          <p:nvPr/>
        </p:nvSpPr>
        <p:spPr>
          <a:xfrm>
            <a:off x="548640" y="1600200"/>
            <a:ext cx="2377440" cy="502920"/>
          </a:xfrm>
          <a:prstGeom prst="roundRect">
            <a:avLst>
              <a:gd name="adj" fmla="val 49091"/>
            </a:avLst>
          </a:prstGeom>
          <a:solidFill>
            <a:schemeClr val="accent4"/>
          </a:solidFill>
          <a:ln/>
        </p:spPr>
      </p:sp>
      <p:sp>
        <p:nvSpPr>
          <p:cNvPr id="6" name="Text 4"/>
          <p:cNvSpPr txBox="1"/>
          <p:nvPr/>
        </p:nvSpPr>
        <p:spPr>
          <a:xfrm>
            <a:off x="548640" y="1600200"/>
            <a:ext cx="237744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PREPARING</a:t>
            </a:r>
            <a:endParaRPr lang="en-US" sz="1500" dirty="0"/>
          </a:p>
        </p:txBody>
      </p:sp>
      <p:sp>
        <p:nvSpPr>
          <p:cNvPr id="7" name="Status chip"/>
          <p:cNvSpPr/>
          <p:nvPr/>
        </p:nvSpPr>
        <p:spPr>
          <a:xfrm>
            <a:off x="4343400" y="1600200"/>
            <a:ext cx="2926080" cy="502920"/>
          </a:xfrm>
          <a:prstGeom prst="roundRect">
            <a:avLst>
              <a:gd name="adj" fmla="val 49091"/>
            </a:avLst>
          </a:prstGeom>
          <a:solidFill>
            <a:schemeClr val="accent3"/>
          </a:solidFill>
          <a:ln/>
        </p:spPr>
      </p:sp>
      <p:sp>
        <p:nvSpPr>
          <p:cNvPr id="8" name="Text 6"/>
          <p:cNvSpPr txBox="1"/>
          <p:nvPr/>
        </p:nvSpPr>
        <p:spPr>
          <a:xfrm>
            <a:off x="4343400" y="1600200"/>
            <a:ext cx="2926080" cy="502920"/>
          </a:xfrm>
          <a:prstGeom prst="rect">
            <a:avLst/>
          </a:prstGeom>
          <a:noFill/>
          <a:ln/>
        </p:spPr>
        <p:txBody>
          <a:bodyPr wrap="square" lIns="0" tIns="0" rIns="0" bIns="0" rtlCol="0" anchor="ctr"/>
          <a:lstStyle/>
          <a:p>
            <a:pPr algn="ctr" indent="0" marL="0">
              <a:buNone/>
            </a:pPr>
            <a:r>
              <a:rPr lang="en-US" sz="1500" b="1" dirty="0">
                <a:solidFill>
                  <a:schemeClr val="tx1"/>
                </a:solidFill>
                <a:latin typeface="Courier New" pitchFamily="34" charset="0"/>
                <a:ea typeface="Courier New" pitchFamily="34" charset="-122"/>
                <a:cs typeface="Courier New" pitchFamily="34" charset="-120"/>
              </a:rPr>
              <a:t>READY_FOR_PICKUP</a:t>
            </a:r>
            <a:endParaRPr lang="en-US" sz="1500" dirty="0"/>
          </a:p>
        </p:txBody>
      </p:sp>
      <p:sp>
        <p:nvSpPr>
          <p:cNvPr id="9" name="Status chip"/>
          <p:cNvSpPr/>
          <p:nvPr/>
        </p:nvSpPr>
        <p:spPr>
          <a:xfrm>
            <a:off x="8732520" y="1600200"/>
            <a:ext cx="2377440" cy="502920"/>
          </a:xfrm>
          <a:prstGeom prst="roundRect">
            <a:avLst>
              <a:gd name="adj" fmla="val 49091"/>
            </a:avLst>
          </a:prstGeom>
          <a:solidFill>
            <a:schemeClr val="accent2"/>
          </a:solidFill>
          <a:ln/>
        </p:spPr>
      </p:sp>
      <p:sp>
        <p:nvSpPr>
          <p:cNvPr id="10" name="Text 8"/>
          <p:cNvSpPr txBox="1"/>
          <p:nvPr/>
        </p:nvSpPr>
        <p:spPr>
          <a:xfrm>
            <a:off x="8732520" y="1600200"/>
            <a:ext cx="237744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ourier New" pitchFamily="34" charset="0"/>
                <a:ea typeface="Courier New" pitchFamily="34" charset="-122"/>
                <a:cs typeface="Courier New" pitchFamily="34" charset="-120"/>
              </a:rPr>
              <a:t>COLLECTED</a:t>
            </a:r>
            <a:endParaRPr lang="en-US" sz="1500" dirty="0"/>
          </a:p>
        </p:txBody>
      </p:sp>
      <p:sp>
        <p:nvSpPr>
          <p:cNvPr id="11" name="Arrow"/>
          <p:cNvSpPr/>
          <p:nvPr/>
        </p:nvSpPr>
        <p:spPr>
          <a:xfrm>
            <a:off x="2971800" y="1847088"/>
            <a:ext cx="1325880" cy="0"/>
          </a:xfrm>
          <a:prstGeom prst="line">
            <a:avLst/>
          </a:prstGeom>
          <a:noFill/>
          <a:ln w="22225">
            <a:solidFill>
              <a:srgbClr val="5F6F66"/>
            </a:solidFill>
            <a:prstDash val="solid"/>
            <a:tailEnd type="triangle"/>
          </a:ln>
        </p:spPr>
      </p:sp>
      <p:sp>
        <p:nvSpPr>
          <p:cNvPr id="12" name="Arrow"/>
          <p:cNvSpPr/>
          <p:nvPr/>
        </p:nvSpPr>
        <p:spPr>
          <a:xfrm>
            <a:off x="7315200" y="1847088"/>
            <a:ext cx="1371600" cy="0"/>
          </a:xfrm>
          <a:prstGeom prst="line">
            <a:avLst/>
          </a:prstGeom>
          <a:noFill/>
          <a:ln w="22225">
            <a:solidFill>
              <a:srgbClr val="5F6F66"/>
            </a:solidFill>
            <a:prstDash val="solid"/>
            <a:tailEnd type="triangle"/>
          </a:ln>
        </p:spPr>
      </p:sp>
      <p:sp>
        <p:nvSpPr>
          <p:cNvPr id="13" name="Text 11"/>
          <p:cNvSpPr txBox="1"/>
          <p:nvPr/>
        </p:nvSpPr>
        <p:spPr>
          <a:xfrm>
            <a:off x="2468880" y="2148840"/>
            <a:ext cx="2468880" cy="274320"/>
          </a:xfrm>
          <a:prstGeom prst="rect">
            <a:avLst/>
          </a:prstGeom>
          <a:noFill/>
          <a:ln/>
        </p:spPr>
        <p:txBody>
          <a:bodyPr wrap="square" lIns="0" tIns="0" rIns="0" bIns="0" rtlCol="0" anchor="t"/>
          <a:lstStyle/>
          <a:p>
            <a:pPr algn="ctr" indent="0" marL="0">
              <a:buNone/>
            </a:pPr>
            <a:r>
              <a:rPr lang="en-US" sz="1200" b="1" dirty="0">
                <a:solidFill>
                  <a:schemeClr val="accent6"/>
                </a:solidFill>
              </a:rPr>
              <a:t>Kitchen: Ready for Pickup</a:t>
            </a:r>
            <a:endParaRPr lang="en-US" sz="1200" dirty="0"/>
          </a:p>
        </p:txBody>
      </p:sp>
      <p:sp>
        <p:nvSpPr>
          <p:cNvPr id="14" name="Text 12"/>
          <p:cNvSpPr txBox="1"/>
          <p:nvPr/>
        </p:nvSpPr>
        <p:spPr>
          <a:xfrm>
            <a:off x="6309360" y="2148840"/>
            <a:ext cx="3291840" cy="274320"/>
          </a:xfrm>
          <a:prstGeom prst="rect">
            <a:avLst/>
          </a:prstGeom>
          <a:noFill/>
          <a:ln/>
        </p:spPr>
        <p:txBody>
          <a:bodyPr wrap="square" lIns="0" tIns="0" rIns="0" bIns="0" rtlCol="0" anchor="t"/>
          <a:lstStyle/>
          <a:p>
            <a:pPr algn="ctr" indent="0" marL="0">
              <a:buNone/>
            </a:pPr>
            <a:r>
              <a:rPr lang="en-US" sz="1200" b="1" dirty="0">
                <a:solidFill>
                  <a:schemeClr val="accent6"/>
                </a:solidFill>
              </a:rPr>
              <a:t>Staff: verify OTP, then handover</a:t>
            </a:r>
            <a:endParaRPr lang="en-US" sz="1200" dirty="0"/>
          </a:p>
        </p:txBody>
      </p:sp>
      <p:sp>
        <p:nvSpPr>
          <p:cNvPr id="15" name="Screenshot frame"/>
          <p:cNvSpPr/>
          <p:nvPr/>
        </p:nvSpPr>
        <p:spPr>
          <a:xfrm>
            <a:off x="548640" y="2688336"/>
            <a:ext cx="3630168" cy="2774290"/>
          </a:xfrm>
          <a:prstGeom prst="roundRect">
            <a:avLst>
              <a:gd name="adj" fmla="val 2637"/>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pic>
        <p:nvPicPr>
          <p:cNvPr id="16" name="Image 0" descr="Incoming Orders screen">    </p:cNvPr>
          <p:cNvPicPr>
            <a:picLocks noChangeAspect="1"/>
          </p:cNvPicPr>
          <p:nvPr/>
        </p:nvPicPr>
        <p:blipFill>
          <a:blip r:embed="rId1"/>
          <a:stretch>
            <a:fillRect/>
          </a:stretch>
        </p:blipFill>
        <p:spPr>
          <a:xfrm>
            <a:off x="603504" y="2743200"/>
            <a:ext cx="3520440" cy="2664562"/>
          </a:xfrm>
          <a:prstGeom prst="rect">
            <a:avLst/>
          </a:prstGeom>
        </p:spPr>
      </p:pic>
      <p:sp>
        <p:nvSpPr>
          <p:cNvPr id="17" name="Text 14"/>
          <p:cNvSpPr txBox="1"/>
          <p:nvPr/>
        </p:nvSpPr>
        <p:spPr>
          <a:xfrm>
            <a:off x="603504" y="5623560"/>
            <a:ext cx="3520440" cy="274320"/>
          </a:xfrm>
          <a:prstGeom prst="rect">
            <a:avLst/>
          </a:prstGeom>
          <a:noFill/>
          <a:ln/>
        </p:spPr>
        <p:txBody>
          <a:bodyPr wrap="square" lIns="0" tIns="0" rIns="0" bIns="0" rtlCol="0" anchor="t"/>
          <a:lstStyle/>
          <a:p>
            <a:pPr indent="0" marL="0">
              <a:buNone/>
            </a:pPr>
            <a:r>
              <a:rPr lang="en-US" sz="1600" b="1" dirty="0">
                <a:solidFill>
                  <a:schemeClr val="accent6"/>
                </a:solidFill>
              </a:rPr>
              <a:t>Incoming Orders</a:t>
            </a:r>
            <a:endParaRPr lang="en-US" sz="1600" dirty="0"/>
          </a:p>
        </p:txBody>
      </p:sp>
      <p:sp>
        <p:nvSpPr>
          <p:cNvPr id="18" name="Text 15"/>
          <p:cNvSpPr txBox="1"/>
          <p:nvPr/>
        </p:nvSpPr>
        <p:spPr>
          <a:xfrm>
            <a:off x="603504" y="5916168"/>
            <a:ext cx="3520440" cy="457200"/>
          </a:xfrm>
          <a:prstGeom prst="rect">
            <a:avLst/>
          </a:prstGeom>
          <a:noFill/>
          <a:ln/>
        </p:spPr>
        <p:txBody>
          <a:bodyPr wrap="square" lIns="0" tIns="0" rIns="0" bIns="0" rtlCol="0" anchor="t"/>
          <a:lstStyle/>
          <a:p>
            <a:pPr indent="0" marL="0">
              <a:buNone/>
            </a:pPr>
            <a:r>
              <a:rPr lang="en-US" sz="1300" dirty="0">
                <a:solidFill>
                  <a:schemeClr val="accent5"/>
                </a:solidFill>
              </a:rPr>
              <a:t>Kitchen: one button per order, list refreshes every 10 s.</a:t>
            </a:r>
            <a:endParaRPr lang="en-US" sz="1300" dirty="0"/>
          </a:p>
        </p:txBody>
      </p:sp>
      <p:sp>
        <p:nvSpPr>
          <p:cNvPr id="19" name="Screenshot frame"/>
          <p:cNvSpPr/>
          <p:nvPr/>
        </p:nvSpPr>
        <p:spPr>
          <a:xfrm>
            <a:off x="4315968" y="2688336"/>
            <a:ext cx="3630168" cy="2774290"/>
          </a:xfrm>
          <a:prstGeom prst="roundRect">
            <a:avLst>
              <a:gd name="adj" fmla="val 2637"/>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pic>
        <p:nvPicPr>
          <p:cNvPr id="20" name="Image 1" descr="Menu Availability screen">    </p:cNvPr>
          <p:cNvPicPr>
            <a:picLocks noChangeAspect="1"/>
          </p:cNvPicPr>
          <p:nvPr/>
        </p:nvPicPr>
        <p:blipFill>
          <a:blip r:embed="rId2"/>
          <a:stretch>
            <a:fillRect/>
          </a:stretch>
        </p:blipFill>
        <p:spPr>
          <a:xfrm>
            <a:off x="4370832" y="2743200"/>
            <a:ext cx="3520440" cy="2664562"/>
          </a:xfrm>
          <a:prstGeom prst="rect">
            <a:avLst/>
          </a:prstGeom>
        </p:spPr>
      </p:pic>
      <p:sp>
        <p:nvSpPr>
          <p:cNvPr id="21" name="Text 17"/>
          <p:cNvSpPr txBox="1"/>
          <p:nvPr/>
        </p:nvSpPr>
        <p:spPr>
          <a:xfrm>
            <a:off x="4370832" y="5623560"/>
            <a:ext cx="3520440" cy="274320"/>
          </a:xfrm>
          <a:prstGeom prst="rect">
            <a:avLst/>
          </a:prstGeom>
          <a:noFill/>
          <a:ln/>
        </p:spPr>
        <p:txBody>
          <a:bodyPr wrap="square" lIns="0" tIns="0" rIns="0" bIns="0" rtlCol="0" anchor="t"/>
          <a:lstStyle/>
          <a:p>
            <a:pPr indent="0" marL="0">
              <a:buNone/>
            </a:pPr>
            <a:r>
              <a:rPr lang="en-US" sz="1600" b="1" dirty="0">
                <a:solidFill>
                  <a:schemeClr val="accent6"/>
                </a:solidFill>
              </a:rPr>
              <a:t>Menu Availability</a:t>
            </a:r>
            <a:endParaRPr lang="en-US" sz="1600" dirty="0"/>
          </a:p>
        </p:txBody>
      </p:sp>
      <p:sp>
        <p:nvSpPr>
          <p:cNvPr id="22" name="Text 18"/>
          <p:cNvSpPr txBox="1"/>
          <p:nvPr/>
        </p:nvSpPr>
        <p:spPr>
          <a:xfrm>
            <a:off x="4370832" y="5916168"/>
            <a:ext cx="3520440" cy="457200"/>
          </a:xfrm>
          <a:prstGeom prst="rect">
            <a:avLst/>
          </a:prstGeom>
          <a:noFill/>
          <a:ln/>
        </p:spPr>
        <p:txBody>
          <a:bodyPr wrap="square" lIns="0" tIns="0" rIns="0" bIns="0" rtlCol="0" anchor="t"/>
          <a:lstStyle/>
          <a:p>
            <a:pPr indent="0" marL="0">
              <a:buNone/>
            </a:pPr>
            <a:r>
              <a:rPr lang="en-US" sz="1300" dirty="0">
                <a:solidFill>
                  <a:schemeClr val="accent5"/>
                </a:solidFill>
              </a:rPr>
              <a:t>Kitchen: one switch per dish, enforced at checkout.</a:t>
            </a:r>
            <a:endParaRPr lang="en-US" sz="1300" dirty="0"/>
          </a:p>
        </p:txBody>
      </p:sp>
      <p:sp>
        <p:nvSpPr>
          <p:cNvPr id="23" name="Screenshot frame"/>
          <p:cNvSpPr/>
          <p:nvPr/>
        </p:nvSpPr>
        <p:spPr>
          <a:xfrm>
            <a:off x="8083296" y="2688336"/>
            <a:ext cx="3630168" cy="2578608"/>
          </a:xfrm>
          <a:prstGeom prst="roundRect">
            <a:avLst>
              <a:gd name="adj" fmla="val 2837"/>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pic>
        <p:nvPicPr>
          <p:cNvPr id="24" name="Image 2" descr="OTP check screen">    </p:cNvPr>
          <p:cNvPicPr>
            <a:picLocks noChangeAspect="1"/>
          </p:cNvPicPr>
          <p:nvPr/>
        </p:nvPicPr>
        <p:blipFill>
          <a:blip r:embed="rId3"/>
          <a:stretch>
            <a:fillRect/>
          </a:stretch>
        </p:blipFill>
        <p:spPr>
          <a:xfrm>
            <a:off x="8138160" y="2743200"/>
            <a:ext cx="3520440" cy="2468880"/>
          </a:xfrm>
          <a:prstGeom prst="rect">
            <a:avLst/>
          </a:prstGeom>
        </p:spPr>
      </p:pic>
      <p:sp>
        <p:nvSpPr>
          <p:cNvPr id="25" name="Text 20"/>
          <p:cNvSpPr txBox="1"/>
          <p:nvPr/>
        </p:nvSpPr>
        <p:spPr>
          <a:xfrm>
            <a:off x="8138160" y="5623560"/>
            <a:ext cx="3520440" cy="274320"/>
          </a:xfrm>
          <a:prstGeom prst="rect">
            <a:avLst/>
          </a:prstGeom>
          <a:noFill/>
          <a:ln/>
        </p:spPr>
        <p:txBody>
          <a:bodyPr wrap="square" lIns="0" tIns="0" rIns="0" bIns="0" rtlCol="0" anchor="t"/>
          <a:lstStyle/>
          <a:p>
            <a:pPr indent="0" marL="0">
              <a:buNone/>
            </a:pPr>
            <a:r>
              <a:rPr lang="en-US" sz="1600" b="1" dirty="0">
                <a:solidFill>
                  <a:schemeClr val="accent6"/>
                </a:solidFill>
              </a:rPr>
              <a:t>OTP check</a:t>
            </a:r>
            <a:endParaRPr lang="en-US" sz="1600" dirty="0"/>
          </a:p>
        </p:txBody>
      </p:sp>
      <p:sp>
        <p:nvSpPr>
          <p:cNvPr id="26" name="Text 21"/>
          <p:cNvSpPr txBox="1"/>
          <p:nvPr/>
        </p:nvSpPr>
        <p:spPr>
          <a:xfrm>
            <a:off x="8138160" y="5916168"/>
            <a:ext cx="3520440" cy="457200"/>
          </a:xfrm>
          <a:prstGeom prst="rect">
            <a:avLst/>
          </a:prstGeom>
          <a:noFill/>
          <a:ln/>
        </p:spPr>
        <p:txBody>
          <a:bodyPr wrap="square" lIns="0" tIns="0" rIns="0" bIns="0" rtlCol="0" anchor="t"/>
          <a:lstStyle/>
          <a:p>
            <a:pPr indent="0" marL="0">
              <a:buNone/>
            </a:pPr>
            <a:r>
              <a:rPr lang="en-US" sz="1300" dirty="0">
                <a:solidFill>
                  <a:schemeClr val="accent5"/>
                </a:solidFill>
              </a:rPr>
              <a:t>Staff: right OTP records the payment, then Confirm handover.</a:t>
            </a:r>
            <a:endParaRPr lang="en-US" sz="13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ection pill"/>
          <p:cNvSpPr/>
          <p:nvPr/>
        </p:nvSpPr>
        <p:spPr>
          <a:xfrm>
            <a:off x="548640" y="347472"/>
            <a:ext cx="3049524" cy="292608"/>
          </a:xfrm>
          <a:prstGeom prst="roundRect">
            <a:avLst>
              <a:gd name="adj" fmla="val 50000"/>
            </a:avLst>
          </a:prstGeom>
          <a:ln w="12700">
            <a:solidFill>
              <a:schemeClr val="accent6"/>
            </a:solidFill>
            <a:prstDash val="solid"/>
          </a:ln>
        </p:spPr>
      </p:sp>
      <p:sp>
        <p:nvSpPr>
          <p:cNvPr id="3" name="Text 1"/>
          <p:cNvSpPr txBox="1"/>
          <p:nvPr/>
        </p:nvSpPr>
        <p:spPr>
          <a:xfrm>
            <a:off x="548640" y="347472"/>
            <a:ext cx="3049524" cy="292608"/>
          </a:xfrm>
          <a:prstGeom prst="rect">
            <a:avLst/>
          </a:prstGeom>
          <a:noFill/>
          <a:ln/>
        </p:spPr>
        <p:txBody>
          <a:bodyPr wrap="square" lIns="0" tIns="0" rIns="0" bIns="0" rtlCol="0" anchor="ctr"/>
          <a:lstStyle/>
          <a:p>
            <a:pPr algn="ctr" indent="0" marL="0">
              <a:buNone/>
            </a:pPr>
            <a:r>
              <a:rPr lang="en-US" sz="1100" b="1" spc="200" kern="0" dirty="0">
                <a:solidFill>
                  <a:schemeClr val="accent6"/>
                </a:solidFill>
              </a:rPr>
              <a:t>07  ·  CODE: CHECKOUT</a:t>
            </a:r>
            <a:endParaRPr lang="en-US" sz="1100" dirty="0"/>
          </a:p>
        </p:txBody>
      </p:sp>
      <p:sp>
        <p:nvSpPr>
          <p:cNvPr id="4" name="Text 0"/>
          <p:cNvSpPr/>
          <p:nvPr>
            <p:ph idx="100" type="title" hasCustomPrompt="1"/>
          </p:nvPr>
        </p:nvSpPr>
        <p:spPr>
          <a:xfrm>
            <a:off x="548640" y="749808"/>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The server decides, never the browser</a:t>
            </a:r>
            <a:endParaRPr lang="en-US" sz="3600" dirty="0"/>
          </a:p>
        </p:txBody>
      </p:sp>
      <p:sp>
        <p:nvSpPr>
          <p:cNvPr id="5" name="Code panel"/>
          <p:cNvSpPr/>
          <p:nvPr/>
        </p:nvSpPr>
        <p:spPr>
          <a:xfrm>
            <a:off x="548640" y="1737360"/>
            <a:ext cx="6903720" cy="2194560"/>
          </a:xfrm>
          <a:prstGeom prst="roundRect">
            <a:avLst>
              <a:gd name="adj" fmla="val 4167"/>
            </a:avLst>
          </a:prstGeom>
          <a:solidFill>
            <a:schemeClr val="tx1"/>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6" name="Text 4"/>
          <p:cNvSpPr txBox="1"/>
          <p:nvPr/>
        </p:nvSpPr>
        <p:spPr>
          <a:xfrm>
            <a:off x="731520" y="1847088"/>
            <a:ext cx="6537960" cy="237744"/>
          </a:xfrm>
          <a:prstGeom prst="rect">
            <a:avLst/>
          </a:prstGeom>
          <a:noFill/>
          <a:ln/>
        </p:spPr>
        <p:txBody>
          <a:bodyPr wrap="square" lIns="0" tIns="0" rIns="0" bIns="0" rtlCol="0" anchor="t"/>
          <a:lstStyle/>
          <a:p>
            <a:pPr indent="0" marL="0">
              <a:buNone/>
            </a:pPr>
            <a:r>
              <a:rPr lang="en-US" sz="1100" b="1" spc="100" kern="0" dirty="0">
                <a:solidFill>
                  <a:schemeClr val="accent3"/>
                </a:solidFill>
              </a:rPr>
              <a:t>OrderService.placeOrder()</a:t>
            </a:r>
            <a:endParaRPr lang="en-US" sz="1100" dirty="0"/>
          </a:p>
        </p:txBody>
      </p:sp>
      <p:sp>
        <p:nvSpPr>
          <p:cNvPr id="7" name="Code"/>
          <p:cNvSpPr txBox="1"/>
          <p:nvPr/>
        </p:nvSpPr>
        <p:spPr>
          <a:xfrm>
            <a:off x="731520" y="2148840"/>
            <a:ext cx="6537960" cy="1691640"/>
          </a:xfrm>
          <a:prstGeom prst="rect">
            <a:avLst/>
          </a:prstGeom>
          <a:noFill/>
          <a:ln/>
        </p:spPr>
        <p:txBody>
          <a:bodyPr wrap="square" lIns="0" tIns="0" rIns="0" bIns="0" rtlCol="0" anchor="t"/>
          <a:lstStyle/>
          <a:p>
            <a:pPr indent="0" marL="0">
              <a:spcAft>
                <a:spcPts val="200"/>
              </a:spcAft>
              <a:buNone/>
            </a:pPr>
            <a:r>
              <a:rPr lang="en-US" sz="1200" dirty="0">
                <a:solidFill>
                  <a:schemeClr val="accent1"/>
                </a:solidFill>
                <a:latin typeface="Courier New" pitchFamily="34" charset="0"/>
                <a:ea typeface="Courier New" pitchFamily="34" charset="-122"/>
                <a:cs typeface="Courier New" pitchFamily="34" charset="-120"/>
              </a:rPr>
              <a:t>@Transactional</a:t>
            </a:r>
            <a:endParaRPr lang="en-US" sz="1200" dirty="0"/>
          </a:p>
          <a:p>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public</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OrderPlacedResponse placeOrder(PlaceOrderRequest request) {</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rejectIfAlreadySubmitted(idempotencyKey);   </a:t>
            </a:r>
            <a:pPr indent="0" marL="0">
              <a:spcAft>
                <a:spcPts val="200"/>
              </a:spcAft>
              <a:buNone/>
            </a:pPr>
            <a:r>
              <a:rPr lang="en-US" sz="1200" i="1" dirty="0">
                <a:solidFill>
                  <a:srgbClr val="7FA08E"/>
                </a:solidFill>
                <a:latin typeface="Courier New" pitchFamily="34" charset="0"/>
                <a:ea typeface="Courier New" pitchFamily="34" charset="-122"/>
                <a:cs typeface="Courier New" pitchFamily="34" charset="-120"/>
              </a:rPr>
              <a:t>// double click -&gt; 409</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for</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var</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entry : quantities.entrySet())</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addLineToOrder(order, entry.getKey(), entry.getValue());</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order.setTotalAmount(subtotal);             </a:t>
            </a:r>
            <a:pPr indent="0" marL="0">
              <a:spcAft>
                <a:spcPts val="200"/>
              </a:spcAft>
              <a:buNone/>
            </a:pPr>
            <a:r>
              <a:rPr lang="en-US" sz="1200" i="1" dirty="0">
                <a:solidFill>
                  <a:srgbClr val="7FA08E"/>
                </a:solidFill>
                <a:latin typeface="Courier New" pitchFamily="34" charset="0"/>
                <a:ea typeface="Courier New" pitchFamily="34" charset="-122"/>
                <a:cs typeface="Courier New" pitchFamily="34" charset="-120"/>
              </a:rPr>
              <a:t>// computed on server</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order.setPickupOtpHash(pickupCodes.hash(otp)); </a:t>
            </a:r>
            <a:pPr indent="0" marL="0">
              <a:spcAft>
                <a:spcPts val="200"/>
              </a:spcAft>
              <a:buNone/>
            </a:pPr>
            <a:r>
              <a:rPr lang="en-US" sz="1200" i="1" dirty="0">
                <a:solidFill>
                  <a:srgbClr val="7FA08E"/>
                </a:solidFill>
                <a:latin typeface="Courier New" pitchFamily="34" charset="0"/>
                <a:ea typeface="Courier New" pitchFamily="34" charset="-122"/>
                <a:cs typeface="Courier New" pitchFamily="34" charset="-120"/>
              </a:rPr>
              <a:t>// BCrypt only</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orderRepository.save(order);                </a:t>
            </a:r>
            <a:pPr indent="0" marL="0">
              <a:spcAft>
                <a:spcPts val="200"/>
              </a:spcAft>
              <a:buNone/>
            </a:pPr>
            <a:r>
              <a:rPr lang="en-US" sz="1200" i="1" dirty="0">
                <a:solidFill>
                  <a:srgbClr val="7FA08E"/>
                </a:solidFill>
                <a:latin typeface="Courier New" pitchFamily="34" charset="0"/>
                <a:ea typeface="Courier New" pitchFamily="34" charset="-122"/>
                <a:cs typeface="Courier New" pitchFamily="34" charset="-120"/>
              </a:rPr>
              <a:t>// cascades items</a:t>
            </a:r>
            <a:endParaRPr lang="en-US" sz="1200" dirty="0"/>
          </a:p>
        </p:txBody>
      </p:sp>
      <p:sp>
        <p:nvSpPr>
          <p:cNvPr id="8" name="Code panel"/>
          <p:cNvSpPr/>
          <p:nvPr/>
        </p:nvSpPr>
        <p:spPr>
          <a:xfrm>
            <a:off x="548640" y="4041648"/>
            <a:ext cx="6903720" cy="2194560"/>
          </a:xfrm>
          <a:prstGeom prst="roundRect">
            <a:avLst>
              <a:gd name="adj" fmla="val 4167"/>
            </a:avLst>
          </a:prstGeom>
          <a:solidFill>
            <a:schemeClr val="tx1"/>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9" name="Text 7"/>
          <p:cNvSpPr txBox="1"/>
          <p:nvPr/>
        </p:nvSpPr>
        <p:spPr>
          <a:xfrm>
            <a:off x="731520" y="4151376"/>
            <a:ext cx="6537960" cy="237744"/>
          </a:xfrm>
          <a:prstGeom prst="rect">
            <a:avLst/>
          </a:prstGeom>
          <a:noFill/>
          <a:ln/>
        </p:spPr>
        <p:txBody>
          <a:bodyPr wrap="square" lIns="0" tIns="0" rIns="0" bIns="0" rtlCol="0" anchor="t"/>
          <a:lstStyle/>
          <a:p>
            <a:pPr indent="0" marL="0">
              <a:buNone/>
            </a:pPr>
            <a:r>
              <a:rPr lang="en-US" sz="1100" b="1" spc="100" kern="0" dirty="0">
                <a:solidFill>
                  <a:schemeClr val="accent3"/>
                </a:solidFill>
              </a:rPr>
              <a:t>OrderService.addLineToOrder()  (simplified)</a:t>
            </a:r>
            <a:endParaRPr lang="en-US" sz="1100" dirty="0"/>
          </a:p>
        </p:txBody>
      </p:sp>
      <p:sp>
        <p:nvSpPr>
          <p:cNvPr id="10" name="Code"/>
          <p:cNvSpPr txBox="1"/>
          <p:nvPr/>
        </p:nvSpPr>
        <p:spPr>
          <a:xfrm>
            <a:off x="731520" y="4453128"/>
            <a:ext cx="6537960" cy="1691640"/>
          </a:xfrm>
          <a:prstGeom prst="rect">
            <a:avLst/>
          </a:prstGeom>
          <a:noFill/>
          <a:ln/>
        </p:spPr>
        <p:txBody>
          <a:bodyPr wrap="square" lIns="0" tIns="0" rIns="0" bIns="0" rtlCol="0" anchor="t"/>
          <a:lstStyle/>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MenuItem item = menuItemRepository.findWithLockById(id) </a:t>
            </a:r>
            <a:pPr indent="0" marL="0">
              <a:spcAft>
                <a:spcPts val="200"/>
              </a:spcAft>
              <a:buNone/>
            </a:pPr>
            <a:r>
              <a:rPr lang="en-US" sz="1200" i="1" dirty="0">
                <a:solidFill>
                  <a:srgbClr val="7FA08E"/>
                </a:solidFill>
                <a:latin typeface="Courier New" pitchFamily="34" charset="0"/>
                <a:ea typeface="Courier New" pitchFamily="34" charset="-122"/>
                <a:cs typeface="Courier New" pitchFamily="34" charset="-120"/>
              </a:rPr>
              <a:t>// FOR UPDATE</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.orElseThrow(() -&gt; ApiException.badRequest(</a:t>
            </a:r>
            <a:pPr indent="0" marL="0">
              <a:spcAft>
                <a:spcPts val="200"/>
              </a:spcAft>
              <a:buNone/>
            </a:pPr>
            <a:r>
              <a:rPr lang="en-US" sz="1200" dirty="0">
                <a:solidFill>
                  <a:srgbClr val="F2A58E"/>
                </a:solidFill>
                <a:latin typeface="Courier New" pitchFamily="34" charset="0"/>
                <a:ea typeface="Courier New" pitchFamily="34" charset="-122"/>
                <a:cs typeface="Courier New" pitchFamily="34" charset="-120"/>
              </a:rPr>
              <a:t>"no such item"</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if</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(!item.isAvailable())</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throw</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ApiException.conflict(item.getName() + </a:t>
            </a:r>
            <a:pPr indent="0" marL="0">
              <a:spcAft>
                <a:spcPts val="200"/>
              </a:spcAft>
              <a:buNone/>
            </a:pPr>
            <a:r>
              <a:rPr lang="en-US" sz="1200" dirty="0">
                <a:solidFill>
                  <a:srgbClr val="F2A58E"/>
                </a:solidFill>
                <a:latin typeface="Courier New" pitchFamily="34" charset="0"/>
                <a:ea typeface="Courier New" pitchFamily="34" charset="-122"/>
                <a:cs typeface="Courier New" pitchFamily="34" charset="-120"/>
              </a:rPr>
              <a:t>" is not available"</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if</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(quantity &gt; item.getAvailableQuantity())</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throw</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ApiException.conflict(</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t>
            </a:r>
            <a:pPr indent="0" marL="0">
              <a:spcAft>
                <a:spcPts val="200"/>
              </a:spcAft>
              <a:buNone/>
            </a:pPr>
            <a:r>
              <a:rPr lang="en-US" sz="1200" dirty="0">
                <a:solidFill>
                  <a:srgbClr val="F2A58E"/>
                </a:solidFill>
                <a:latin typeface="Courier New" pitchFamily="34" charset="0"/>
                <a:ea typeface="Courier New" pitchFamily="34" charset="-122"/>
                <a:cs typeface="Courier New" pitchFamily="34" charset="-120"/>
              </a:rPr>
              <a:t>"Only "</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 item.getAvailableQuantity() + </a:t>
            </a:r>
            <a:pPr indent="0" marL="0">
              <a:spcAft>
                <a:spcPts val="200"/>
              </a:spcAft>
              <a:buNone/>
            </a:pPr>
            <a:r>
              <a:rPr lang="en-US" sz="1200" dirty="0">
                <a:solidFill>
                  <a:srgbClr val="F2A58E"/>
                </a:solidFill>
                <a:latin typeface="Courier New" pitchFamily="34" charset="0"/>
                <a:ea typeface="Courier New" pitchFamily="34" charset="-122"/>
                <a:cs typeface="Courier New" pitchFamily="34" charset="-120"/>
              </a:rPr>
              <a:t>" left"</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item.reduceStock(quantity);          </a:t>
            </a:r>
            <a:pPr indent="0" marL="0">
              <a:spcAft>
                <a:spcPts val="200"/>
              </a:spcAft>
              <a:buNone/>
            </a:pPr>
            <a:r>
              <a:rPr lang="en-US" sz="1200" i="1" dirty="0">
                <a:solidFill>
                  <a:srgbClr val="7FA08E"/>
                </a:solidFill>
                <a:latin typeface="Courier New" pitchFamily="34" charset="0"/>
                <a:ea typeface="Courier New" pitchFamily="34" charset="-122"/>
                <a:cs typeface="Courier New" pitchFamily="34" charset="-120"/>
              </a:rPr>
              <a:t>// also bumps popularityCount</a:t>
            </a:r>
            <a:endParaRPr lang="en-US" sz="1200" dirty="0"/>
          </a:p>
        </p:txBody>
      </p:sp>
      <p:sp>
        <p:nvSpPr>
          <p:cNvPr id="11" name="Number disc"/>
          <p:cNvSpPr/>
          <p:nvPr/>
        </p:nvSpPr>
        <p:spPr>
          <a:xfrm>
            <a:off x="7772400" y="1737360"/>
            <a:ext cx="457200" cy="457200"/>
          </a:xfrm>
          <a:prstGeom prst="ellipse">
            <a:avLst/>
          </a:prstGeom>
          <a:solidFill>
            <a:schemeClr val="accent1"/>
          </a:solidFill>
          <a:ln/>
        </p:spPr>
      </p:sp>
      <p:sp>
        <p:nvSpPr>
          <p:cNvPr id="12" name="Text 10"/>
          <p:cNvSpPr txBox="1"/>
          <p:nvPr/>
        </p:nvSpPr>
        <p:spPr>
          <a:xfrm>
            <a:off x="7772400" y="17373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1</a:t>
            </a:r>
            <a:endParaRPr lang="en-US" sz="1500" dirty="0"/>
          </a:p>
        </p:txBody>
      </p:sp>
      <p:sp>
        <p:nvSpPr>
          <p:cNvPr id="13" name="Text 11"/>
          <p:cNvSpPr txBox="1"/>
          <p:nvPr/>
        </p:nvSpPr>
        <p:spPr>
          <a:xfrm>
            <a:off x="8412480" y="1719072"/>
            <a:ext cx="3200400" cy="292608"/>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Never trust the browser</a:t>
            </a:r>
            <a:endParaRPr lang="en-US" sz="1700" dirty="0"/>
          </a:p>
        </p:txBody>
      </p:sp>
      <p:sp>
        <p:nvSpPr>
          <p:cNvPr id="14" name="Text 12"/>
          <p:cNvSpPr txBox="1"/>
          <p:nvPr/>
        </p:nvSpPr>
        <p:spPr>
          <a:xfrm>
            <a:off x="8412480" y="2029968"/>
            <a:ext cx="3200400" cy="777240"/>
          </a:xfrm>
          <a:prstGeom prst="rect">
            <a:avLst/>
          </a:prstGeom>
          <a:noFill/>
          <a:ln/>
        </p:spPr>
        <p:txBody>
          <a:bodyPr wrap="square" lIns="0" tIns="0" rIns="0" bIns="0" rtlCol="0" anchor="t"/>
          <a:lstStyle/>
          <a:p>
            <a:pPr indent="0" marL="0">
              <a:buNone/>
            </a:pPr>
            <a:r>
              <a:rPr lang="en-US" sz="1300" dirty="0">
                <a:solidFill>
                  <a:schemeClr val="accent5"/>
                </a:solidFill>
              </a:rPr>
              <a:t>Price, stock and availability are re-read from MySQL, not from the page or the cache.</a:t>
            </a:r>
            <a:endParaRPr lang="en-US" sz="1300" dirty="0"/>
          </a:p>
        </p:txBody>
      </p:sp>
      <p:sp>
        <p:nvSpPr>
          <p:cNvPr id="15" name="Number disc"/>
          <p:cNvSpPr/>
          <p:nvPr/>
        </p:nvSpPr>
        <p:spPr>
          <a:xfrm>
            <a:off x="7772400" y="2880360"/>
            <a:ext cx="457200" cy="457200"/>
          </a:xfrm>
          <a:prstGeom prst="ellipse">
            <a:avLst/>
          </a:prstGeom>
          <a:solidFill>
            <a:schemeClr val="accent1"/>
          </a:solidFill>
          <a:ln/>
        </p:spPr>
      </p:sp>
      <p:sp>
        <p:nvSpPr>
          <p:cNvPr id="16" name="Text 14"/>
          <p:cNvSpPr txBox="1"/>
          <p:nvPr/>
        </p:nvSpPr>
        <p:spPr>
          <a:xfrm>
            <a:off x="7772400" y="28803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2</a:t>
            </a:r>
            <a:endParaRPr lang="en-US" sz="1500" dirty="0"/>
          </a:p>
        </p:txBody>
      </p:sp>
      <p:sp>
        <p:nvSpPr>
          <p:cNvPr id="17" name="Text 15"/>
          <p:cNvSpPr txBox="1"/>
          <p:nvPr/>
        </p:nvSpPr>
        <p:spPr>
          <a:xfrm>
            <a:off x="8412480" y="2862072"/>
            <a:ext cx="3200400" cy="292608"/>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Lock the row</a:t>
            </a:r>
            <a:endParaRPr lang="en-US" sz="1700" dirty="0"/>
          </a:p>
        </p:txBody>
      </p:sp>
      <p:sp>
        <p:nvSpPr>
          <p:cNvPr id="18" name="Text 16"/>
          <p:cNvSpPr txBox="1"/>
          <p:nvPr/>
        </p:nvSpPr>
        <p:spPr>
          <a:xfrm>
            <a:off x="8412480" y="3172968"/>
            <a:ext cx="3200400" cy="777240"/>
          </a:xfrm>
          <a:prstGeom prst="rect">
            <a:avLst/>
          </a:prstGeom>
          <a:noFill/>
          <a:ln/>
        </p:spPr>
        <p:txBody>
          <a:bodyPr wrap="square" lIns="0" tIns="0" rIns="0" bIns="0" rtlCol="0" anchor="t"/>
          <a:lstStyle/>
          <a:p>
            <a:pPr indent="0" marL="0">
              <a:buNone/>
            </a:pPr>
            <a:r>
              <a:rPr lang="en-US" sz="1300" dirty="0">
                <a:solidFill>
                  <a:schemeClr val="accent5"/>
                </a:solidFill>
              </a:rPr>
              <a:t>SELECT ... FOR UPDATE: two buyers of the last samosa queue up. The second gets a clean 409.</a:t>
            </a:r>
            <a:endParaRPr lang="en-US" sz="1300" dirty="0"/>
          </a:p>
        </p:txBody>
      </p:sp>
      <p:sp>
        <p:nvSpPr>
          <p:cNvPr id="19" name="Number disc"/>
          <p:cNvSpPr/>
          <p:nvPr/>
        </p:nvSpPr>
        <p:spPr>
          <a:xfrm>
            <a:off x="7772400" y="4023360"/>
            <a:ext cx="457200" cy="457200"/>
          </a:xfrm>
          <a:prstGeom prst="ellipse">
            <a:avLst/>
          </a:prstGeom>
          <a:solidFill>
            <a:schemeClr val="accent1"/>
          </a:solidFill>
          <a:ln/>
        </p:spPr>
      </p:sp>
      <p:sp>
        <p:nvSpPr>
          <p:cNvPr id="20" name="Text 18"/>
          <p:cNvSpPr txBox="1"/>
          <p:nvPr/>
        </p:nvSpPr>
        <p:spPr>
          <a:xfrm>
            <a:off x="7772400" y="40233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3</a:t>
            </a:r>
            <a:endParaRPr lang="en-US" sz="1500" dirty="0"/>
          </a:p>
        </p:txBody>
      </p:sp>
      <p:sp>
        <p:nvSpPr>
          <p:cNvPr id="21" name="Text 19"/>
          <p:cNvSpPr txBox="1"/>
          <p:nvPr/>
        </p:nvSpPr>
        <p:spPr>
          <a:xfrm>
            <a:off x="8412480" y="4005072"/>
            <a:ext cx="3200400" cy="292608"/>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One transaction</a:t>
            </a:r>
            <a:endParaRPr lang="en-US" sz="1700" dirty="0"/>
          </a:p>
        </p:txBody>
      </p:sp>
      <p:sp>
        <p:nvSpPr>
          <p:cNvPr id="22" name="Text 20"/>
          <p:cNvSpPr txBox="1"/>
          <p:nvPr/>
        </p:nvSpPr>
        <p:spPr>
          <a:xfrm>
            <a:off x="8412480" y="4315968"/>
            <a:ext cx="3200400" cy="777240"/>
          </a:xfrm>
          <a:prstGeom prst="rect">
            <a:avLst/>
          </a:prstGeom>
          <a:noFill/>
          <a:ln/>
        </p:spPr>
        <p:txBody>
          <a:bodyPr wrap="square" lIns="0" tIns="0" rIns="0" bIns="0" rtlCol="0" anchor="t"/>
          <a:lstStyle/>
          <a:p>
            <a:pPr indent="0" marL="0">
              <a:buNone/>
            </a:pPr>
            <a:r>
              <a:rPr lang="en-US" sz="1300" dirty="0">
                <a:solidFill>
                  <a:schemeClr val="accent5"/>
                </a:solidFill>
              </a:rPr>
              <a:t>Stock, order and order lines commit together, or not at all.</a:t>
            </a:r>
            <a:endParaRPr lang="en-US" sz="1300" dirty="0"/>
          </a:p>
        </p:txBody>
      </p:sp>
      <p:sp>
        <p:nvSpPr>
          <p:cNvPr id="23" name="Number disc"/>
          <p:cNvSpPr/>
          <p:nvPr/>
        </p:nvSpPr>
        <p:spPr>
          <a:xfrm>
            <a:off x="7772400" y="5166360"/>
            <a:ext cx="457200" cy="457200"/>
          </a:xfrm>
          <a:prstGeom prst="ellipse">
            <a:avLst/>
          </a:prstGeom>
          <a:solidFill>
            <a:schemeClr val="accent1"/>
          </a:solidFill>
          <a:ln/>
        </p:spPr>
      </p:sp>
      <p:sp>
        <p:nvSpPr>
          <p:cNvPr id="24" name="Text 22"/>
          <p:cNvSpPr txBox="1"/>
          <p:nvPr/>
        </p:nvSpPr>
        <p:spPr>
          <a:xfrm>
            <a:off x="7772400" y="51663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5" name="Text 23"/>
          <p:cNvSpPr txBox="1"/>
          <p:nvPr/>
        </p:nvSpPr>
        <p:spPr>
          <a:xfrm>
            <a:off x="8412480" y="5148072"/>
            <a:ext cx="3200400" cy="292608"/>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No double orders</a:t>
            </a:r>
            <a:endParaRPr lang="en-US" sz="1700" dirty="0"/>
          </a:p>
        </p:txBody>
      </p:sp>
      <p:sp>
        <p:nvSpPr>
          <p:cNvPr id="26" name="Text 24"/>
          <p:cNvSpPr txBox="1"/>
          <p:nvPr/>
        </p:nvSpPr>
        <p:spPr>
          <a:xfrm>
            <a:off x="8412480" y="5458968"/>
            <a:ext cx="3200400" cy="777240"/>
          </a:xfrm>
          <a:prstGeom prst="rect">
            <a:avLst/>
          </a:prstGeom>
          <a:noFill/>
          <a:ln/>
        </p:spPr>
        <p:txBody>
          <a:bodyPr wrap="square" lIns="0" tIns="0" rIns="0" bIns="0" rtlCol="0" anchor="t"/>
          <a:lstStyle/>
          <a:p>
            <a:pPr indent="0" marL="0">
              <a:buNone/>
            </a:pPr>
            <a:r>
              <a:rPr lang="en-US" sz="1300" dirty="0">
                <a:solidFill>
                  <a:schemeClr val="accent5"/>
                </a:solidFill>
              </a:rPr>
              <a:t>A UNIQUE idempotency key turns a double click into a 409, not two orders.</a:t>
            </a:r>
            <a:endParaRPr lang="en-US" sz="13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ection pill"/>
          <p:cNvSpPr/>
          <p:nvPr/>
        </p:nvSpPr>
        <p:spPr>
          <a:xfrm>
            <a:off x="548640" y="347472"/>
            <a:ext cx="4160520" cy="292608"/>
          </a:xfrm>
          <a:prstGeom prst="roundRect">
            <a:avLst>
              <a:gd name="adj" fmla="val 50000"/>
            </a:avLst>
          </a:prstGeom>
          <a:ln w="12700">
            <a:solidFill>
              <a:schemeClr val="accent6"/>
            </a:solidFill>
            <a:prstDash val="solid"/>
          </a:ln>
        </p:spPr>
      </p:sp>
      <p:sp>
        <p:nvSpPr>
          <p:cNvPr id="3" name="Text 1"/>
          <p:cNvSpPr txBox="1"/>
          <p:nvPr/>
        </p:nvSpPr>
        <p:spPr>
          <a:xfrm>
            <a:off x="548640" y="347472"/>
            <a:ext cx="4160520" cy="292608"/>
          </a:xfrm>
          <a:prstGeom prst="rect">
            <a:avLst/>
          </a:prstGeom>
          <a:noFill/>
          <a:ln/>
        </p:spPr>
        <p:txBody>
          <a:bodyPr wrap="square" lIns="0" tIns="0" rIns="0" bIns="0" rtlCol="0" anchor="ctr"/>
          <a:lstStyle/>
          <a:p>
            <a:pPr algn="ctr" indent="0" marL="0">
              <a:buNone/>
            </a:pPr>
            <a:r>
              <a:rPr lang="en-US" sz="1100" b="1" spc="200" kern="0" dirty="0">
                <a:solidFill>
                  <a:schemeClr val="accent6"/>
                </a:solidFill>
              </a:rPr>
              <a:t>08  ·  CODE: MICROSERVICE CALL</a:t>
            </a:r>
            <a:endParaRPr lang="en-US" sz="1100" dirty="0"/>
          </a:p>
        </p:txBody>
      </p:sp>
      <p:sp>
        <p:nvSpPr>
          <p:cNvPr id="4" name="Text 0"/>
          <p:cNvSpPr/>
          <p:nvPr>
            <p:ph idx="100" type="title" hasCustomPrompt="1"/>
          </p:nvPr>
        </p:nvSpPr>
        <p:spPr>
          <a:xfrm>
            <a:off x="548640" y="749808"/>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Ready? Notify only after the commit</a:t>
            </a:r>
            <a:endParaRPr lang="en-US" sz="3600" dirty="0"/>
          </a:p>
        </p:txBody>
      </p:sp>
      <p:sp>
        <p:nvSpPr>
          <p:cNvPr id="5" name="Number disc"/>
          <p:cNvSpPr/>
          <p:nvPr/>
        </p:nvSpPr>
        <p:spPr>
          <a:xfrm>
            <a:off x="548640" y="1737360"/>
            <a:ext cx="457200" cy="457200"/>
          </a:xfrm>
          <a:prstGeom prst="ellipse">
            <a:avLst/>
          </a:prstGeom>
          <a:solidFill>
            <a:schemeClr val="accent1"/>
          </a:solidFill>
          <a:ln/>
        </p:spPr>
      </p:sp>
      <p:sp>
        <p:nvSpPr>
          <p:cNvPr id="6" name="Text 4"/>
          <p:cNvSpPr txBox="1"/>
          <p:nvPr/>
        </p:nvSpPr>
        <p:spPr>
          <a:xfrm>
            <a:off x="548640" y="173736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1</a:t>
            </a:r>
            <a:endParaRPr lang="en-US" sz="1500" dirty="0"/>
          </a:p>
        </p:txBody>
      </p:sp>
      <p:sp>
        <p:nvSpPr>
          <p:cNvPr id="7" name="Flow connector"/>
          <p:cNvSpPr/>
          <p:nvPr/>
        </p:nvSpPr>
        <p:spPr>
          <a:xfrm>
            <a:off x="777240" y="2240280"/>
            <a:ext cx="0" cy="521208"/>
          </a:xfrm>
          <a:prstGeom prst="line">
            <a:avLst/>
          </a:prstGeom>
          <a:noFill/>
          <a:ln w="19050">
            <a:solidFill>
              <a:srgbClr val="9CBFA9"/>
            </a:solidFill>
            <a:prstDash val="solid"/>
          </a:ln>
        </p:spPr>
      </p:sp>
      <p:sp>
        <p:nvSpPr>
          <p:cNvPr id="8" name="Text 6"/>
          <p:cNvSpPr txBox="1"/>
          <p:nvPr/>
        </p:nvSpPr>
        <p:spPr>
          <a:xfrm>
            <a:off x="1188720" y="1719072"/>
            <a:ext cx="3017520" cy="27432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Kitchen taps Ready</a:t>
            </a:r>
            <a:endParaRPr lang="en-US" sz="1700" dirty="0"/>
          </a:p>
        </p:txBody>
      </p:sp>
      <p:sp>
        <p:nvSpPr>
          <p:cNvPr id="9" name="Text 7"/>
          <p:cNvSpPr txBox="1"/>
          <p:nvPr/>
        </p:nvSpPr>
        <p:spPr>
          <a:xfrm>
            <a:off x="1188720" y="2011680"/>
            <a:ext cx="3017520" cy="502920"/>
          </a:xfrm>
          <a:prstGeom prst="rect">
            <a:avLst/>
          </a:prstGeom>
          <a:noFill/>
          <a:ln/>
        </p:spPr>
        <p:txBody>
          <a:bodyPr wrap="square" lIns="0" tIns="0" rIns="0" bIns="0" rtlCol="0" anchor="t"/>
          <a:lstStyle/>
          <a:p>
            <a:pPr indent="0" marL="0">
              <a:buNone/>
            </a:pPr>
            <a:r>
              <a:rPr lang="en-US" sz="1300" dirty="0">
                <a:solidFill>
                  <a:schemeClr val="accent5"/>
                </a:solidFill>
              </a:rPr>
              <a:t>PATCH /api/orders/{ref}/status</a:t>
            </a:r>
            <a:endParaRPr lang="en-US" sz="1300" dirty="0"/>
          </a:p>
        </p:txBody>
      </p:sp>
      <p:sp>
        <p:nvSpPr>
          <p:cNvPr id="10" name="Number disc"/>
          <p:cNvSpPr/>
          <p:nvPr/>
        </p:nvSpPr>
        <p:spPr>
          <a:xfrm>
            <a:off x="548640" y="2761488"/>
            <a:ext cx="457200" cy="457200"/>
          </a:xfrm>
          <a:prstGeom prst="ellipse">
            <a:avLst/>
          </a:prstGeom>
          <a:solidFill>
            <a:schemeClr val="accent1"/>
          </a:solidFill>
          <a:ln/>
        </p:spPr>
      </p:sp>
      <p:sp>
        <p:nvSpPr>
          <p:cNvPr id="11" name="Text 9"/>
          <p:cNvSpPr txBox="1"/>
          <p:nvPr/>
        </p:nvSpPr>
        <p:spPr>
          <a:xfrm>
            <a:off x="548640" y="276148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2</a:t>
            </a:r>
            <a:endParaRPr lang="en-US" sz="1500" dirty="0"/>
          </a:p>
        </p:txBody>
      </p:sp>
      <p:sp>
        <p:nvSpPr>
          <p:cNvPr id="12" name="Flow connector"/>
          <p:cNvSpPr/>
          <p:nvPr/>
        </p:nvSpPr>
        <p:spPr>
          <a:xfrm>
            <a:off x="777240" y="3264408"/>
            <a:ext cx="0" cy="521208"/>
          </a:xfrm>
          <a:prstGeom prst="line">
            <a:avLst/>
          </a:prstGeom>
          <a:noFill/>
          <a:ln w="19050">
            <a:solidFill>
              <a:srgbClr val="9CBFA9"/>
            </a:solidFill>
            <a:prstDash val="solid"/>
          </a:ln>
        </p:spPr>
      </p:sp>
      <p:sp>
        <p:nvSpPr>
          <p:cNvPr id="13" name="Text 11"/>
          <p:cNvSpPr txBox="1"/>
          <p:nvPr/>
        </p:nvSpPr>
        <p:spPr>
          <a:xfrm>
            <a:off x="1188720" y="2743200"/>
            <a:ext cx="3017520" cy="27432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Rules checked</a:t>
            </a:r>
            <a:endParaRPr lang="en-US" sz="1700" dirty="0"/>
          </a:p>
        </p:txBody>
      </p:sp>
      <p:sp>
        <p:nvSpPr>
          <p:cNvPr id="14" name="Text 12"/>
          <p:cNvSpPr txBox="1"/>
          <p:nvPr/>
        </p:nvSpPr>
        <p:spPr>
          <a:xfrm>
            <a:off x="1188720" y="3035808"/>
            <a:ext cx="3017520" cy="502920"/>
          </a:xfrm>
          <a:prstGeom prst="rect">
            <a:avLst/>
          </a:prstGeom>
          <a:noFill/>
          <a:ln/>
        </p:spPr>
        <p:txBody>
          <a:bodyPr wrap="square" lIns="0" tIns="0" rIns="0" bIns="0" rtlCol="0" anchor="t"/>
          <a:lstStyle/>
          <a:p>
            <a:pPr indent="0" marL="0">
              <a:buNone/>
            </a:pPr>
            <a:r>
              <a:rPr lang="en-US" sz="1300" dirty="0">
                <a:solidFill>
                  <a:schemeClr val="accent5"/>
                </a:solidFill>
              </a:rPr>
              <a:t>canMoveTo() allows only legal moves</a:t>
            </a:r>
            <a:endParaRPr lang="en-US" sz="1300" dirty="0"/>
          </a:p>
        </p:txBody>
      </p:sp>
      <p:sp>
        <p:nvSpPr>
          <p:cNvPr id="15" name="Number disc"/>
          <p:cNvSpPr/>
          <p:nvPr/>
        </p:nvSpPr>
        <p:spPr>
          <a:xfrm>
            <a:off x="548640" y="3785616"/>
            <a:ext cx="457200" cy="457200"/>
          </a:xfrm>
          <a:prstGeom prst="ellipse">
            <a:avLst/>
          </a:prstGeom>
          <a:solidFill>
            <a:schemeClr val="accent1"/>
          </a:solidFill>
          <a:ln/>
        </p:spPr>
      </p:sp>
      <p:sp>
        <p:nvSpPr>
          <p:cNvPr id="16" name="Text 14"/>
          <p:cNvSpPr txBox="1"/>
          <p:nvPr/>
        </p:nvSpPr>
        <p:spPr>
          <a:xfrm>
            <a:off x="548640" y="378561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3</a:t>
            </a:r>
            <a:endParaRPr lang="en-US" sz="1500" dirty="0"/>
          </a:p>
        </p:txBody>
      </p:sp>
      <p:sp>
        <p:nvSpPr>
          <p:cNvPr id="17" name="Flow connector"/>
          <p:cNvSpPr/>
          <p:nvPr/>
        </p:nvSpPr>
        <p:spPr>
          <a:xfrm>
            <a:off x="777240" y="4288536"/>
            <a:ext cx="0" cy="521208"/>
          </a:xfrm>
          <a:prstGeom prst="line">
            <a:avLst/>
          </a:prstGeom>
          <a:noFill/>
          <a:ln w="19050">
            <a:solidFill>
              <a:srgbClr val="9CBFA9"/>
            </a:solidFill>
            <a:prstDash val="solid"/>
          </a:ln>
        </p:spPr>
      </p:sp>
      <p:sp>
        <p:nvSpPr>
          <p:cNvPr id="18" name="Text 16"/>
          <p:cNvSpPr txBox="1"/>
          <p:nvPr/>
        </p:nvSpPr>
        <p:spPr>
          <a:xfrm>
            <a:off x="1188720" y="3767328"/>
            <a:ext cx="3017520" cy="27432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Commit, then call</a:t>
            </a:r>
            <a:endParaRPr lang="en-US" sz="1700" dirty="0"/>
          </a:p>
        </p:txBody>
      </p:sp>
      <p:sp>
        <p:nvSpPr>
          <p:cNvPr id="19" name="Text 17"/>
          <p:cNvSpPr txBox="1"/>
          <p:nvPr/>
        </p:nvSpPr>
        <p:spPr>
          <a:xfrm>
            <a:off x="1188720" y="4059936"/>
            <a:ext cx="3017520" cy="502920"/>
          </a:xfrm>
          <a:prstGeom prst="rect">
            <a:avLst/>
          </a:prstGeom>
          <a:noFill/>
          <a:ln/>
        </p:spPr>
        <p:txBody>
          <a:bodyPr wrap="square" lIns="0" tIns="0" rIns="0" bIns="0" rtlCol="0" anchor="t"/>
          <a:lstStyle/>
          <a:p>
            <a:pPr indent="0" marL="0">
              <a:buNone/>
            </a:pPr>
            <a:r>
              <a:rPr lang="en-US" sz="1300" dirty="0">
                <a:solidFill>
                  <a:schemeClr val="accent5"/>
                </a:solidFill>
              </a:rPr>
              <a:t>AFTER_COMMIT listener POSTs to :8081</a:t>
            </a:r>
            <a:endParaRPr lang="en-US" sz="1300" dirty="0"/>
          </a:p>
        </p:txBody>
      </p:sp>
      <p:sp>
        <p:nvSpPr>
          <p:cNvPr id="20" name="Number disc"/>
          <p:cNvSpPr/>
          <p:nvPr/>
        </p:nvSpPr>
        <p:spPr>
          <a:xfrm>
            <a:off x="548640" y="4809744"/>
            <a:ext cx="457200" cy="457200"/>
          </a:xfrm>
          <a:prstGeom prst="ellipse">
            <a:avLst/>
          </a:prstGeom>
          <a:solidFill>
            <a:schemeClr val="accent1"/>
          </a:solidFill>
          <a:ln/>
        </p:spPr>
      </p:sp>
      <p:sp>
        <p:nvSpPr>
          <p:cNvPr id="21" name="Text 19"/>
          <p:cNvSpPr txBox="1"/>
          <p:nvPr/>
        </p:nvSpPr>
        <p:spPr>
          <a:xfrm>
            <a:off x="548640" y="480974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latin typeface="+mj-lt" pitchFamily="34" charset="0"/>
                <a:ea typeface="+mj-lt" pitchFamily="34" charset="-122"/>
                <a:cs typeface="+mj-lt" pitchFamily="34" charset="-120"/>
              </a:rPr>
              <a:t>4</a:t>
            </a:r>
            <a:endParaRPr lang="en-US" sz="1500" dirty="0"/>
          </a:p>
        </p:txBody>
      </p:sp>
      <p:sp>
        <p:nvSpPr>
          <p:cNvPr id="22" name="Text 20"/>
          <p:cNvSpPr txBox="1"/>
          <p:nvPr/>
        </p:nvSpPr>
        <p:spPr>
          <a:xfrm>
            <a:off x="1188720" y="4791456"/>
            <a:ext cx="3017520" cy="274320"/>
          </a:xfrm>
          <a:prstGeom prst="rect">
            <a:avLst/>
          </a:prstGeom>
          <a:noFill/>
          <a:ln/>
        </p:spPr>
        <p:txBody>
          <a:bodyPr wrap="square" lIns="0" tIns="0" rIns="0" bIns="0" rtlCol="0" anchor="t"/>
          <a:lstStyle/>
          <a:p>
            <a:pPr indent="0" marL="0">
              <a:buNone/>
            </a:pPr>
            <a:r>
              <a:rPr lang="en-US" sz="1700" b="1" dirty="0">
                <a:solidFill>
                  <a:schemeClr val="tx1"/>
                </a:solidFill>
                <a:latin typeface="+mj-lt" pitchFamily="34" charset="0"/>
                <a:ea typeface="+mj-lt" pitchFamily="34" charset="-122"/>
                <a:cs typeface="+mj-lt" pitchFamily="34" charset="-120"/>
              </a:rPr>
              <a:t>Customer sees it</a:t>
            </a:r>
            <a:endParaRPr lang="en-US" sz="1700" dirty="0"/>
          </a:p>
        </p:txBody>
      </p:sp>
      <p:sp>
        <p:nvSpPr>
          <p:cNvPr id="23" name="Text 21"/>
          <p:cNvSpPr txBox="1"/>
          <p:nvPr/>
        </p:nvSpPr>
        <p:spPr>
          <a:xfrm>
            <a:off x="1188720" y="5084064"/>
            <a:ext cx="3017520" cy="502920"/>
          </a:xfrm>
          <a:prstGeom prst="rect">
            <a:avLst/>
          </a:prstGeom>
          <a:noFill/>
          <a:ln/>
        </p:spPr>
        <p:txBody>
          <a:bodyPr wrap="square" lIns="0" tIns="0" rIns="0" bIns="0" rtlCol="0" anchor="t"/>
          <a:lstStyle/>
          <a:p>
            <a:pPr indent="0" marL="0">
              <a:buNone/>
            </a:pPr>
            <a:r>
              <a:rPr lang="en-US" sz="1300" dirty="0">
                <a:solidFill>
                  <a:schemeClr val="accent5"/>
                </a:solidFill>
              </a:rPr>
              <a:t>Open page polls and turns READY</a:t>
            </a:r>
            <a:endParaRPr lang="en-US" sz="1300" dirty="0"/>
          </a:p>
        </p:txBody>
      </p:sp>
      <p:sp>
        <p:nvSpPr>
          <p:cNvPr id="24" name="Failure callout"/>
          <p:cNvSpPr/>
          <p:nvPr/>
        </p:nvSpPr>
        <p:spPr>
          <a:xfrm>
            <a:off x="548640" y="5760720"/>
            <a:ext cx="3657600" cy="548640"/>
          </a:xfrm>
          <a:prstGeom prst="roundRect">
            <a:avLst>
              <a:gd name="adj" fmla="val 16667"/>
            </a:avLst>
          </a:prstGeom>
          <a:solidFill>
            <a:schemeClr val="tx2"/>
          </a:solidFill>
          <a:ln/>
        </p:spPr>
      </p:sp>
      <p:sp>
        <p:nvSpPr>
          <p:cNvPr id="25" name="Text 23"/>
          <p:cNvSpPr txBox="1"/>
          <p:nvPr/>
        </p:nvSpPr>
        <p:spPr>
          <a:xfrm>
            <a:off x="685800" y="5760720"/>
            <a:ext cx="3383280" cy="548640"/>
          </a:xfrm>
          <a:prstGeom prst="rect">
            <a:avLst/>
          </a:prstGeom>
          <a:noFill/>
          <a:ln/>
        </p:spPr>
        <p:txBody>
          <a:bodyPr wrap="square" lIns="0" tIns="0" rIns="0" bIns="0" rtlCol="0" anchor="ctr"/>
          <a:lstStyle/>
          <a:p>
            <a:pPr indent="0" marL="0">
              <a:buNone/>
            </a:pPr>
            <a:r>
              <a:rPr lang="en-US" sz="1200" dirty="0">
                <a:solidFill>
                  <a:schemeClr val="bg1"/>
                </a:solidFill>
              </a:rPr>
              <a:t>Notifier down? A warning is logged and the order still becomes READY.</a:t>
            </a:r>
            <a:endParaRPr lang="en-US" sz="1200" dirty="0"/>
          </a:p>
        </p:txBody>
      </p:sp>
      <p:sp>
        <p:nvSpPr>
          <p:cNvPr id="26" name="Code panel"/>
          <p:cNvSpPr/>
          <p:nvPr/>
        </p:nvSpPr>
        <p:spPr>
          <a:xfrm>
            <a:off x="4572000" y="1737360"/>
            <a:ext cx="7068312" cy="1828800"/>
          </a:xfrm>
          <a:prstGeom prst="roundRect">
            <a:avLst>
              <a:gd name="adj" fmla="val 5000"/>
            </a:avLst>
          </a:prstGeom>
          <a:solidFill>
            <a:schemeClr val="tx1"/>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27" name="Text 25"/>
          <p:cNvSpPr txBox="1"/>
          <p:nvPr/>
        </p:nvSpPr>
        <p:spPr>
          <a:xfrm>
            <a:off x="4754880" y="1847088"/>
            <a:ext cx="6702552" cy="237744"/>
          </a:xfrm>
          <a:prstGeom prst="rect">
            <a:avLst/>
          </a:prstGeom>
          <a:noFill/>
          <a:ln/>
        </p:spPr>
        <p:txBody>
          <a:bodyPr wrap="square" lIns="0" tIns="0" rIns="0" bIns="0" rtlCol="0" anchor="t"/>
          <a:lstStyle/>
          <a:p>
            <a:pPr indent="0" marL="0">
              <a:buNone/>
            </a:pPr>
            <a:r>
              <a:rPr lang="en-US" sz="1100" b="1" spc="100" kern="0" dirty="0">
                <a:solidFill>
                  <a:schemeClr val="accent3"/>
                </a:solidFill>
              </a:rPr>
              <a:t>OrderStatus.canMoveTo()</a:t>
            </a:r>
            <a:endParaRPr lang="en-US" sz="1100" dirty="0"/>
          </a:p>
        </p:txBody>
      </p:sp>
      <p:sp>
        <p:nvSpPr>
          <p:cNvPr id="28" name="Code"/>
          <p:cNvSpPr txBox="1"/>
          <p:nvPr/>
        </p:nvSpPr>
        <p:spPr>
          <a:xfrm>
            <a:off x="4754880" y="2148840"/>
            <a:ext cx="6702552" cy="1325880"/>
          </a:xfrm>
          <a:prstGeom prst="rect">
            <a:avLst/>
          </a:prstGeom>
          <a:noFill/>
          <a:ln/>
        </p:spPr>
        <p:txBody>
          <a:bodyPr wrap="square" lIns="0" tIns="0" rIns="0" bIns="0" rtlCol="0" anchor="t"/>
          <a:lstStyle/>
          <a:p>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public</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boolean canMoveTo(OrderStatus next) {</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return</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switch</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(this) {</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case</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PREPARING -&gt;</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next == READY_FOR_PICKUP || next == CANCELLED;</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case</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READY_FOR_PICKUP -&gt; next == COLLECTED;</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case</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COLLECTED, CANCELLED -&gt; false;</a:t>
            </a:r>
            <a:endParaRPr lang="en-US" sz="1200" dirty="0"/>
          </a:p>
        </p:txBody>
      </p:sp>
      <p:sp>
        <p:nvSpPr>
          <p:cNvPr id="29" name="Code panel"/>
          <p:cNvSpPr/>
          <p:nvPr/>
        </p:nvSpPr>
        <p:spPr>
          <a:xfrm>
            <a:off x="4572000" y="3703320"/>
            <a:ext cx="7068312" cy="2560320"/>
          </a:xfrm>
          <a:prstGeom prst="roundRect">
            <a:avLst>
              <a:gd name="adj" fmla="val 3571"/>
            </a:avLst>
          </a:prstGeom>
          <a:solidFill>
            <a:schemeClr val="tx1"/>
          </a:solidFill>
          <a:ln w="12700">
            <a:solidFill>
              <a:schemeClr val="tx2"/>
            </a:solidFill>
            <a:prstDash val="solid"/>
          </a:ln>
          <a:effectLst>
            <a:outerShdw sx="100000" sy="100000" kx="0" ky="0" algn="bl" rotWithShape="0" blurRad="101600" dist="25400" dir="5400000">
              <a:srgbClr val="000000">
                <a:alpha val="14000"/>
              </a:srgbClr>
            </a:outerShdw>
          </a:effectLst>
        </p:spPr>
      </p:sp>
      <p:sp>
        <p:nvSpPr>
          <p:cNvPr id="30" name="Text 28"/>
          <p:cNvSpPr txBox="1"/>
          <p:nvPr/>
        </p:nvSpPr>
        <p:spPr>
          <a:xfrm>
            <a:off x="4754880" y="3813048"/>
            <a:ext cx="6702552" cy="237744"/>
          </a:xfrm>
          <a:prstGeom prst="rect">
            <a:avLst/>
          </a:prstGeom>
          <a:noFill/>
          <a:ln/>
        </p:spPr>
        <p:txBody>
          <a:bodyPr wrap="square" lIns="0" tIns="0" rIns="0" bIns="0" rtlCol="0" anchor="t"/>
          <a:lstStyle/>
          <a:p>
            <a:pPr indent="0" marL="0">
              <a:buNone/>
            </a:pPr>
            <a:r>
              <a:rPr lang="en-US" sz="1100" b="1" spc="100" kern="0" dirty="0">
                <a:solidFill>
                  <a:schemeClr val="accent3"/>
                </a:solidFill>
              </a:rPr>
              <a:t>NotificationClient.onOrderReady()  (simplified)</a:t>
            </a:r>
            <a:endParaRPr lang="en-US" sz="1100" dirty="0"/>
          </a:p>
        </p:txBody>
      </p:sp>
      <p:sp>
        <p:nvSpPr>
          <p:cNvPr id="31" name="Code"/>
          <p:cNvSpPr txBox="1"/>
          <p:nvPr/>
        </p:nvSpPr>
        <p:spPr>
          <a:xfrm>
            <a:off x="4754880" y="4114800"/>
            <a:ext cx="6702552" cy="2057400"/>
          </a:xfrm>
          <a:prstGeom prst="rect">
            <a:avLst/>
          </a:prstGeom>
          <a:noFill/>
          <a:ln/>
        </p:spPr>
        <p:txBody>
          <a:bodyPr wrap="square" lIns="0" tIns="0" rIns="0" bIns="0" rtlCol="0" anchor="t"/>
          <a:lstStyle/>
          <a:p>
            <a:pPr indent="0" marL="0">
              <a:spcAft>
                <a:spcPts val="200"/>
              </a:spcAft>
              <a:buNone/>
            </a:pPr>
            <a:r>
              <a:rPr lang="en-US" sz="1200" dirty="0">
                <a:solidFill>
                  <a:schemeClr val="accent1"/>
                </a:solidFill>
                <a:latin typeface="Courier New" pitchFamily="34" charset="0"/>
                <a:ea typeface="Courier New" pitchFamily="34" charset="-122"/>
                <a:cs typeface="Courier New" pitchFamily="34" charset="-120"/>
              </a:rPr>
              <a:t>@TransactionalEventListener</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(phase = TransactionPhase.AFTER_COMMIT)</a:t>
            </a:r>
            <a:endParaRPr lang="en-US" sz="1200" dirty="0"/>
          </a:p>
          <a:p>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public</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void</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onOrderReady(OrderReadyEvent event) {</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t>
            </a:r>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try</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restClient.post().uri(</a:t>
            </a:r>
            <a:pPr indent="0" marL="0">
              <a:spcAft>
                <a:spcPts val="200"/>
              </a:spcAft>
              <a:buNone/>
            </a:pPr>
            <a:r>
              <a:rPr lang="en-US" sz="1200" dirty="0">
                <a:solidFill>
                  <a:srgbClr val="F2A58E"/>
                </a:solidFill>
                <a:latin typeface="Courier New" pitchFamily="34" charset="0"/>
                <a:ea typeface="Courier New" pitchFamily="34" charset="-122"/>
                <a:cs typeface="Courier New" pitchFamily="34" charset="-120"/>
              </a:rPr>
              <a:t>"/api/notifications/order-ready"</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.body(Map.of(</a:t>
            </a:r>
            <a:pPr indent="0" marL="0">
              <a:spcAft>
                <a:spcPts val="200"/>
              </a:spcAft>
              <a:buNone/>
            </a:pPr>
            <a:r>
              <a:rPr lang="en-US" sz="1200" dirty="0">
                <a:solidFill>
                  <a:srgbClr val="F2A58E"/>
                </a:solidFill>
                <a:latin typeface="Courier New" pitchFamily="34" charset="0"/>
                <a:ea typeface="Courier New" pitchFamily="34" charset="-122"/>
                <a:cs typeface="Courier New" pitchFamily="34" charset="-120"/>
              </a:rPr>
              <a:t>"orderReference"</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event.orderReference(),</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t>
            </a:r>
            <a:pPr indent="0" marL="0">
              <a:spcAft>
                <a:spcPts val="200"/>
              </a:spcAft>
              <a:buNone/>
            </a:pPr>
            <a:r>
              <a:rPr lang="en-US" sz="1200" dirty="0">
                <a:solidFill>
                  <a:srgbClr val="F2A58E"/>
                </a:solidFill>
                <a:latin typeface="Courier New" pitchFamily="34" charset="0"/>
                <a:ea typeface="Courier New" pitchFamily="34" charset="-122"/>
                <a:cs typeface="Courier New" pitchFamily="34" charset="-120"/>
              </a:rPr>
              <a:t>"eventType"</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t>
            </a:r>
            <a:pPr indent="0" marL="0">
              <a:spcAft>
                <a:spcPts val="200"/>
              </a:spcAft>
              <a:buNone/>
            </a:pPr>
            <a:r>
              <a:rPr lang="en-US" sz="1200" dirty="0">
                <a:solidFill>
                  <a:srgbClr val="F2A58E"/>
                </a:solidFill>
                <a:latin typeface="Courier New" pitchFamily="34" charset="0"/>
                <a:ea typeface="Courier New" pitchFamily="34" charset="-122"/>
                <a:cs typeface="Courier New" pitchFamily="34" charset="-120"/>
              </a:rPr>
              <a:t>"ORDER_READY"</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.retrieve().body(Map.class);</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 </a:t>
            </a:r>
            <a:pPr indent="0" marL="0">
              <a:spcAft>
                <a:spcPts val="200"/>
              </a:spcAft>
              <a:buNone/>
            </a:pPr>
            <a:r>
              <a:rPr lang="en-US" sz="1200" b="1" dirty="0">
                <a:solidFill>
                  <a:schemeClr val="accent3"/>
                </a:solidFill>
                <a:latin typeface="Courier New" pitchFamily="34" charset="0"/>
                <a:ea typeface="Courier New" pitchFamily="34" charset="-122"/>
                <a:cs typeface="Courier New" pitchFamily="34" charset="-120"/>
              </a:rPr>
              <a:t>catch</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(RestClientException e) {</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log.warn(</a:t>
            </a:r>
            <a:pPr indent="0" marL="0">
              <a:spcAft>
                <a:spcPts val="200"/>
              </a:spcAft>
              <a:buNone/>
            </a:pPr>
            <a:r>
              <a:rPr lang="en-US" sz="1200" dirty="0">
                <a:solidFill>
                  <a:srgbClr val="F2A58E"/>
                </a:solidFill>
                <a:latin typeface="Courier New" pitchFamily="34" charset="0"/>
                <a:ea typeface="Courier New" pitchFamily="34" charset="-122"/>
                <a:cs typeface="Courier New" pitchFamily="34" charset="-120"/>
              </a:rPr>
              <a:t>"Notification service unavailable"</a:t>
            </a:r>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e.getMessage());</a:t>
            </a:r>
            <a:endParaRPr lang="en-US" sz="1200" dirty="0"/>
          </a:p>
          <a:p>
            <a:pPr indent="0" marL="0">
              <a:spcAft>
                <a:spcPts val="200"/>
              </a:spcAft>
              <a:buNone/>
            </a:pPr>
            <a:r>
              <a:rPr lang="en-US" sz="1200" dirty="0">
                <a:solidFill>
                  <a:schemeClr val="bg2"/>
                </a:solidFill>
                <a:latin typeface="Courier New" pitchFamily="34" charset="0"/>
                <a:ea typeface="Courier New" pitchFamily="34" charset="-122"/>
                <a:cs typeface="Courier New" pitchFamily="34" charset="-120"/>
              </a:rPr>
              <a:t>    }</a:t>
            </a:r>
            <a:endParaRPr lang="en-US" sz="12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ection pill"/>
          <p:cNvSpPr/>
          <p:nvPr/>
        </p:nvSpPr>
        <p:spPr>
          <a:xfrm>
            <a:off x="548640" y="347472"/>
            <a:ext cx="4037076" cy="292608"/>
          </a:xfrm>
          <a:prstGeom prst="roundRect">
            <a:avLst>
              <a:gd name="adj" fmla="val 50000"/>
            </a:avLst>
          </a:prstGeom>
          <a:ln w="12700">
            <a:solidFill>
              <a:schemeClr val="accent6"/>
            </a:solidFill>
            <a:prstDash val="solid"/>
          </a:ln>
        </p:spPr>
      </p:sp>
      <p:sp>
        <p:nvSpPr>
          <p:cNvPr id="3" name="Text 1"/>
          <p:cNvSpPr txBox="1"/>
          <p:nvPr/>
        </p:nvSpPr>
        <p:spPr>
          <a:xfrm>
            <a:off x="548640" y="347472"/>
            <a:ext cx="4037076" cy="292608"/>
          </a:xfrm>
          <a:prstGeom prst="rect">
            <a:avLst/>
          </a:prstGeom>
          <a:noFill/>
          <a:ln/>
        </p:spPr>
        <p:txBody>
          <a:bodyPr wrap="square" lIns="0" tIns="0" rIns="0" bIns="0" rtlCol="0" anchor="ctr"/>
          <a:lstStyle/>
          <a:p>
            <a:pPr algn="ctr" indent="0" marL="0">
              <a:buNone/>
            </a:pPr>
            <a:r>
              <a:rPr lang="en-US" sz="1100" b="1" spc="200" kern="0" dirty="0">
                <a:solidFill>
                  <a:schemeClr val="accent6"/>
                </a:solidFill>
              </a:rPr>
              <a:t>09  ·  SECURITY AND INTEGRITY</a:t>
            </a:r>
            <a:endParaRPr lang="en-US" sz="1100" dirty="0"/>
          </a:p>
        </p:txBody>
      </p:sp>
      <p:sp>
        <p:nvSpPr>
          <p:cNvPr id="4" name="Text 0"/>
          <p:cNvSpPr/>
          <p:nvPr>
            <p:ph idx="100" type="title" hasCustomPrompt="1"/>
          </p:nvPr>
        </p:nvSpPr>
        <p:spPr>
          <a:xfrm>
            <a:off x="548640" y="749808"/>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Roles, OTP and integrity</a:t>
            </a:r>
            <a:endParaRPr lang="en-US" sz="3600" dirty="0"/>
          </a:p>
        </p:txBody>
      </p:sp>
      <p:graphicFrame>
        <p:nvGraphicFramePr>
          <p:cNvPr id="11" name="Roles table"/>
          <p:cNvGraphicFramePr>
            <a:graphicFrameLocks noGrp="1"/>
          </p:cNvGraphicFramePr>
          <p:nvPr>
            <p:extLst>
              <p:ext uri="{D42A27DB-BD31-4B8C-83A1-F6EECF244321}">
                <p14:modId xmlns:p14="http://schemas.microsoft.com/office/powerpoint/2010/main" val="1579011935"/>
              </p:ext>
            </p:extLst>
          </p:nvPr>
        </p:nvGraphicFramePr>
        <p:xfrm>
          <a:off x="548640" y="1737360"/>
          <a:ext cx="5394960" cy="914400"/>
        </p:xfrm>
        <a:graphic>
          <a:graphicData uri="http://schemas.openxmlformats.org/drawingml/2006/table">
            <a:tbl>
              <a:tblPr/>
              <a:tblGrid>
                <a:gridCol w="1143000"/>
                <a:gridCol w="914400"/>
                <a:gridCol w="3337560"/>
              </a:tblGrid>
              <a:tr h="384048">
                <a:tc>
                  <a:txBody>
                    <a:bodyPr/>
                    <a:lstStyle/>
                    <a:p>
                      <a:pPr indent="0" marL="0">
                        <a:buNone/>
                      </a:pPr>
                      <a:r>
                        <a:rPr lang="en-US" sz="1400" b="1" dirty="0">
                          <a:solidFill>
                            <a:schemeClr val="bg1"/>
                          </a:solidFill>
                        </a:rPr>
                        <a:t>Role</a:t>
                      </a:r>
                      <a:endParaRPr lang="en-US" sz="1400" dirty="0"/>
                    </a:p>
                  </a:txBody>
                  <a:tcPr marL="91440" marR="91440" marT="36576" marB="36576"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Login</a:t>
                      </a:r>
                      <a:endParaRPr lang="en-US" sz="1400" dirty="0"/>
                    </a:p>
                  </a:txBody>
                  <a:tcPr marL="91440" marR="91440" marT="36576" marB="36576"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rPr>
                        <a:t>Allowed</a:t>
                      </a:r>
                      <a:endParaRPr lang="en-US" sz="1400" dirty="0"/>
                    </a:p>
                  </a:txBody>
                  <a:tcPr marL="91440" marR="91440" marT="36576" marB="36576"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tx2"/>
                    </a:solidFill>
                  </a:tcPr>
                </a:tc>
              </a:tr>
              <a:tr h="822960">
                <a:tc>
                  <a:txBody>
                    <a:bodyPr/>
                    <a:lstStyle/>
                    <a:p>
                      <a:pPr indent="0" marL="0">
                        <a:buNone/>
                      </a:pPr>
                      <a:r>
                        <a:rPr lang="en-US" sz="1300" b="1" dirty="0">
                          <a:solidFill>
                            <a:schemeClr val="tx1"/>
                          </a:solidFill>
                        </a:rPr>
                        <a:t>Customer</a:t>
                      </a:r>
                      <a:endParaRPr lang="en-US" sz="1300" dirty="0"/>
                    </a:p>
                  </a:txBody>
                  <a:tcPr marL="91440" marR="91440" marT="36576" marB="36576"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None</a:t>
                      </a:r>
                      <a:endParaRPr lang="en-US" sz="1300" dirty="0"/>
                    </a:p>
                  </a:txBody>
                  <a:tcPr marL="91440" marR="91440" marT="36576" marB="36576"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View menu, place an order, read own order with the pickup code</a:t>
                      </a:r>
                      <a:endParaRPr lang="en-US" sz="1300" dirty="0"/>
                    </a:p>
                  </a:txBody>
                  <a:tcPr marL="91440" marR="91440" marT="36576" marB="36576"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r>
              <a:tr h="822960">
                <a:tc>
                  <a:txBody>
                    <a:bodyPr/>
                    <a:lstStyle/>
                    <a:p>
                      <a:pPr indent="0" marL="0">
                        <a:buNone/>
                      </a:pPr>
                      <a:r>
                        <a:rPr lang="en-US" sz="1300" b="1" dirty="0">
                          <a:solidFill>
                            <a:schemeClr val="tx1"/>
                          </a:solidFill>
                        </a:rPr>
                        <a:t>KITCHEN</a:t>
                      </a:r>
                      <a:endParaRPr lang="en-US" sz="1300" dirty="0"/>
                    </a:p>
                  </a:txBody>
                  <a:tcPr marL="91440" marR="91440" marT="36576" marB="36576"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kitchen</a:t>
                      </a:r>
                      <a:endParaRPr lang="en-US" sz="1300" dirty="0"/>
                    </a:p>
                  </a:txBody>
                  <a:tcPr marL="91440" marR="91440" marT="36576" marB="36576"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Kitchen page, dish availability switch, Ready for Pickup</a:t>
                      </a:r>
                      <a:endParaRPr lang="en-US" sz="1300" dirty="0"/>
                    </a:p>
                  </a:txBody>
                  <a:tcPr marL="91440" marR="91440" marT="36576" marB="36576"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r>
              <a:tr h="822960">
                <a:tc>
                  <a:txBody>
                    <a:bodyPr/>
                    <a:lstStyle/>
                    <a:p>
                      <a:pPr indent="0" marL="0">
                        <a:buNone/>
                      </a:pPr>
                      <a:r>
                        <a:rPr lang="en-US" sz="1300" b="1" dirty="0">
                          <a:solidFill>
                            <a:schemeClr val="tx1"/>
                          </a:solidFill>
                        </a:rPr>
                        <a:t>STAFF</a:t>
                      </a:r>
                      <a:endParaRPr lang="en-US" sz="1300" dirty="0"/>
                    </a:p>
                  </a:txBody>
                  <a:tcPr marL="91440" marR="91440" marT="36576" marB="36576"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staff</a:t>
                      </a:r>
                      <a:endParaRPr lang="en-US" sz="1300" dirty="0"/>
                    </a:p>
                  </a:txBody>
                  <a:tcPr marL="91440" marR="91440" marT="36576" marB="36576"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Verify OTP, record counter payment, confirm handover</a:t>
                      </a:r>
                      <a:endParaRPr lang="en-US" sz="1300" dirty="0"/>
                    </a:p>
                  </a:txBody>
                  <a:tcPr marL="91440" marR="91440" marT="36576" marB="36576"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r>
            </a:tbl>
          </a:graphicData>
        </a:graphic>
      </p:graphicFrame>
      <p:sp>
        <p:nvSpPr>
          <p:cNvPr id="6" name="Note card"/>
          <p:cNvSpPr/>
          <p:nvPr/>
        </p:nvSpPr>
        <p:spPr>
          <a:xfrm>
            <a:off x="548640" y="5074920"/>
            <a:ext cx="5394960" cy="1188720"/>
          </a:xfrm>
          <a:prstGeom prst="roundRect">
            <a:avLst>
              <a:gd name="adj" fmla="val 7692"/>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7" name="Text 4"/>
          <p:cNvSpPr txBox="1"/>
          <p:nvPr/>
        </p:nvSpPr>
        <p:spPr>
          <a:xfrm>
            <a:off x="777240" y="5184648"/>
            <a:ext cx="4937760" cy="274320"/>
          </a:xfrm>
          <a:prstGeom prst="rect">
            <a:avLst/>
          </a:prstGeom>
          <a:noFill/>
          <a:ln/>
        </p:spPr>
        <p:txBody>
          <a:bodyPr wrap="square" lIns="0" tIns="0" rIns="0" bIns="0" rtlCol="0" anchor="t"/>
          <a:lstStyle/>
          <a:p>
            <a:pPr indent="0" marL="0">
              <a:buNone/>
            </a:pPr>
            <a:r>
              <a:rPr lang="en-US" sz="1600" b="1" dirty="0">
                <a:solidFill>
                  <a:schemeClr val="accent6"/>
                </a:solidFill>
                <a:latin typeface="+mj-lt" pitchFamily="34" charset="0"/>
                <a:ea typeface="+mj-lt" pitchFamily="34" charset="-122"/>
                <a:cs typeface="+mj-lt" pitchFamily="34" charset="-120"/>
              </a:rPr>
              <a:t>Server-enforced</a:t>
            </a:r>
            <a:endParaRPr lang="en-US" sz="1600" dirty="0"/>
          </a:p>
        </p:txBody>
      </p:sp>
      <p:sp>
        <p:nvSpPr>
          <p:cNvPr id="8" name="Text 5"/>
          <p:cNvSpPr txBox="1"/>
          <p:nvPr/>
        </p:nvSpPr>
        <p:spPr>
          <a:xfrm>
            <a:off x="777240" y="5486400"/>
            <a:ext cx="4937760" cy="731520"/>
          </a:xfrm>
          <a:prstGeom prst="rect">
            <a:avLst/>
          </a:prstGeom>
          <a:noFill/>
          <a:ln/>
        </p:spPr>
        <p:txBody>
          <a:bodyPr wrap="square" lIns="0" tIns="0" rIns="0" bIns="0" rtlCol="0" anchor="t"/>
          <a:lstStyle/>
          <a:p>
            <a:pPr indent="0" marL="0">
              <a:buNone/>
            </a:pPr>
            <a:r>
              <a:rPr lang="en-US" sz="1400" dirty="0">
                <a:solidFill>
                  <a:schemeClr val="accent5"/>
                </a:solidFill>
              </a:rPr>
              <a:t>Each login can only do its own job. Anything else returns 403 JSON, and a missing login returns 401, not a redirect.</a:t>
            </a:r>
            <a:endParaRPr lang="en-US" sz="1400" dirty="0"/>
          </a:p>
        </p:txBody>
      </p:sp>
      <p:sp>
        <p:nvSpPr>
          <p:cNvPr id="9" name="Safeguard card"/>
          <p:cNvSpPr/>
          <p:nvPr/>
        </p:nvSpPr>
        <p:spPr>
          <a:xfrm>
            <a:off x="6263640" y="1737360"/>
            <a:ext cx="2633472" cy="2148840"/>
          </a:xfrm>
          <a:prstGeom prst="roundRect">
            <a:avLst>
              <a:gd name="adj" fmla="val 5106"/>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10" name="Icon disc"/>
          <p:cNvSpPr/>
          <p:nvPr/>
        </p:nvSpPr>
        <p:spPr>
          <a:xfrm>
            <a:off x="6492240" y="1965960"/>
            <a:ext cx="548640" cy="548640"/>
          </a:xfrm>
          <a:prstGeom prst="ellipse">
            <a:avLst/>
          </a:prstGeom>
          <a:solidFill>
            <a:schemeClr val="accent1"/>
          </a:solidFill>
          <a:ln/>
        </p:spPr>
      </p:sp>
      <p:pic>
        <p:nvPicPr>
          <p:cNvPr id="11" name="Image 0" descr="Key icon">    </p:cNvPr>
          <p:cNvPicPr>
            <a:picLocks noChangeAspect="1"/>
          </p:cNvPicPr>
          <p:nvPr/>
        </p:nvPicPr>
        <p:blipFill>
          <a:blip r:embed="rId1"/>
          <a:stretch>
            <a:fillRect/>
          </a:stretch>
        </p:blipFill>
        <p:spPr>
          <a:xfrm>
            <a:off x="6623914" y="2097634"/>
            <a:ext cx="285293" cy="285293"/>
          </a:xfrm>
          <a:prstGeom prst="rect">
            <a:avLst/>
          </a:prstGeom>
        </p:spPr>
      </p:pic>
      <p:sp>
        <p:nvSpPr>
          <p:cNvPr id="12" name="Text 8"/>
          <p:cNvSpPr txBox="1"/>
          <p:nvPr/>
        </p:nvSpPr>
        <p:spPr>
          <a:xfrm>
            <a:off x="6492240" y="2633472"/>
            <a:ext cx="219456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Pickup OTP</a:t>
            </a:r>
            <a:endParaRPr lang="en-US" sz="1600" dirty="0"/>
          </a:p>
        </p:txBody>
      </p:sp>
      <p:sp>
        <p:nvSpPr>
          <p:cNvPr id="13" name="Text 9"/>
          <p:cNvSpPr txBox="1"/>
          <p:nvPr/>
        </p:nvSpPr>
        <p:spPr>
          <a:xfrm>
            <a:off x="6492240" y="2944368"/>
            <a:ext cx="2194560" cy="896112"/>
          </a:xfrm>
          <a:prstGeom prst="rect">
            <a:avLst/>
          </a:prstGeom>
          <a:noFill/>
          <a:ln/>
        </p:spPr>
        <p:txBody>
          <a:bodyPr wrap="square" lIns="0" tIns="0" rIns="0" bIns="0" rtlCol="0" anchor="t"/>
          <a:lstStyle/>
          <a:p>
            <a:pPr indent="0" marL="0">
              <a:buNone/>
            </a:pPr>
            <a:r>
              <a:rPr lang="en-US" sz="1200" dirty="0">
                <a:solidFill>
                  <a:schemeClr val="accent5"/>
                </a:solidFill>
              </a:rPr>
              <a:t>SecureRandom, 6 digits, BCrypt-hashed, shown once. Five wrong tries lock it.</a:t>
            </a:r>
            <a:endParaRPr lang="en-US" sz="1200" dirty="0"/>
          </a:p>
        </p:txBody>
      </p:sp>
      <p:sp>
        <p:nvSpPr>
          <p:cNvPr id="14" name="Safeguard card"/>
          <p:cNvSpPr/>
          <p:nvPr/>
        </p:nvSpPr>
        <p:spPr>
          <a:xfrm>
            <a:off x="9006840" y="1737360"/>
            <a:ext cx="2633472" cy="2148840"/>
          </a:xfrm>
          <a:prstGeom prst="roundRect">
            <a:avLst>
              <a:gd name="adj" fmla="val 5106"/>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15" name="Icon disc"/>
          <p:cNvSpPr/>
          <p:nvPr/>
        </p:nvSpPr>
        <p:spPr>
          <a:xfrm>
            <a:off x="9235440" y="1965960"/>
            <a:ext cx="548640" cy="548640"/>
          </a:xfrm>
          <a:prstGeom prst="ellipse">
            <a:avLst/>
          </a:prstGeom>
          <a:solidFill>
            <a:schemeClr val="accent1"/>
          </a:solidFill>
          <a:ln/>
        </p:spPr>
      </p:sp>
      <p:pic>
        <p:nvPicPr>
          <p:cNvPr id="16" name="Image 1" descr="UserShield icon">    </p:cNvPr>
          <p:cNvPicPr>
            <a:picLocks noChangeAspect="1"/>
          </p:cNvPicPr>
          <p:nvPr/>
        </p:nvPicPr>
        <p:blipFill>
          <a:blip r:embed="rId2"/>
          <a:stretch>
            <a:fillRect/>
          </a:stretch>
        </p:blipFill>
        <p:spPr>
          <a:xfrm>
            <a:off x="9367114" y="2097634"/>
            <a:ext cx="285293" cy="285293"/>
          </a:xfrm>
          <a:prstGeom prst="rect">
            <a:avLst/>
          </a:prstGeom>
        </p:spPr>
      </p:pic>
      <p:sp>
        <p:nvSpPr>
          <p:cNvPr id="17" name="Text 12"/>
          <p:cNvSpPr txBox="1"/>
          <p:nvPr/>
        </p:nvSpPr>
        <p:spPr>
          <a:xfrm>
            <a:off x="9235440" y="2633472"/>
            <a:ext cx="219456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Passwords</a:t>
            </a:r>
            <a:endParaRPr lang="en-US" sz="1600" dirty="0"/>
          </a:p>
        </p:txBody>
      </p:sp>
      <p:sp>
        <p:nvSpPr>
          <p:cNvPr id="18" name="Text 13"/>
          <p:cNvSpPr txBox="1"/>
          <p:nvPr/>
        </p:nvSpPr>
        <p:spPr>
          <a:xfrm>
            <a:off x="9235440" y="2944368"/>
            <a:ext cx="2194560" cy="896112"/>
          </a:xfrm>
          <a:prstGeom prst="rect">
            <a:avLst/>
          </a:prstGeom>
          <a:noFill/>
          <a:ln/>
        </p:spPr>
        <p:txBody>
          <a:bodyPr wrap="square" lIns="0" tIns="0" rIns="0" bIns="0" rtlCol="0" anchor="t"/>
          <a:lstStyle/>
          <a:p>
            <a:pPr indent="0" marL="0">
              <a:buNone/>
            </a:pPr>
            <a:r>
              <a:rPr lang="en-US" sz="1200" dirty="0">
                <a:solidFill>
                  <a:schemeClr val="accent5"/>
                </a:solidFill>
              </a:rPr>
              <a:t>Staff passwords are BCrypt hashes. Form login for pages, HTTP Basic for the API.</a:t>
            </a:r>
            <a:endParaRPr lang="en-US" sz="1200" dirty="0"/>
          </a:p>
        </p:txBody>
      </p:sp>
      <p:sp>
        <p:nvSpPr>
          <p:cNvPr id="19" name="Safeguard card"/>
          <p:cNvSpPr/>
          <p:nvPr/>
        </p:nvSpPr>
        <p:spPr>
          <a:xfrm>
            <a:off x="6263640" y="4023360"/>
            <a:ext cx="2633472" cy="2148840"/>
          </a:xfrm>
          <a:prstGeom prst="roundRect">
            <a:avLst>
              <a:gd name="adj" fmla="val 5106"/>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20" name="Icon disc"/>
          <p:cNvSpPr/>
          <p:nvPr/>
        </p:nvSpPr>
        <p:spPr>
          <a:xfrm>
            <a:off x="6492240" y="4251960"/>
            <a:ext cx="548640" cy="548640"/>
          </a:xfrm>
          <a:prstGeom prst="ellipse">
            <a:avLst/>
          </a:prstGeom>
          <a:solidFill>
            <a:schemeClr val="accent1"/>
          </a:solidFill>
          <a:ln/>
        </p:spPr>
      </p:sp>
      <p:pic>
        <p:nvPicPr>
          <p:cNvPr id="21" name="Image 2" descr="Lock icon">    </p:cNvPr>
          <p:cNvPicPr>
            <a:picLocks noChangeAspect="1"/>
          </p:cNvPicPr>
          <p:nvPr/>
        </p:nvPicPr>
        <p:blipFill>
          <a:blip r:embed="rId3"/>
          <a:stretch>
            <a:fillRect/>
          </a:stretch>
        </p:blipFill>
        <p:spPr>
          <a:xfrm>
            <a:off x="6623914" y="4383634"/>
            <a:ext cx="285293" cy="285293"/>
          </a:xfrm>
          <a:prstGeom prst="rect">
            <a:avLst/>
          </a:prstGeom>
        </p:spPr>
      </p:pic>
      <p:sp>
        <p:nvSpPr>
          <p:cNvPr id="22" name="Text 16"/>
          <p:cNvSpPr txBox="1"/>
          <p:nvPr/>
        </p:nvSpPr>
        <p:spPr>
          <a:xfrm>
            <a:off x="6492240" y="4919472"/>
            <a:ext cx="219456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Concurrency</a:t>
            </a:r>
            <a:endParaRPr lang="en-US" sz="1600" dirty="0"/>
          </a:p>
        </p:txBody>
      </p:sp>
      <p:sp>
        <p:nvSpPr>
          <p:cNvPr id="23" name="Text 17"/>
          <p:cNvSpPr txBox="1"/>
          <p:nvPr/>
        </p:nvSpPr>
        <p:spPr>
          <a:xfrm>
            <a:off x="6492240" y="5230368"/>
            <a:ext cx="2194560" cy="896112"/>
          </a:xfrm>
          <a:prstGeom prst="rect">
            <a:avLst/>
          </a:prstGeom>
          <a:noFill/>
          <a:ln/>
        </p:spPr>
        <p:txBody>
          <a:bodyPr wrap="square" lIns="0" tIns="0" rIns="0" bIns="0" rtlCol="0" anchor="t"/>
          <a:lstStyle/>
          <a:p>
            <a:pPr indent="0" marL="0">
              <a:buNone/>
            </a:pPr>
            <a:r>
              <a:rPr lang="en-US" sz="1200" dirty="0">
                <a:solidFill>
                  <a:schemeClr val="accent5"/>
                </a:solidFill>
              </a:rPr>
              <a:t>Row lock at checkout, @Version optimistic lock as a safety net. Conflicts return 409.</a:t>
            </a:r>
            <a:endParaRPr lang="en-US" sz="1200" dirty="0"/>
          </a:p>
        </p:txBody>
      </p:sp>
      <p:sp>
        <p:nvSpPr>
          <p:cNvPr id="24" name="Safeguard card"/>
          <p:cNvSpPr/>
          <p:nvPr/>
        </p:nvSpPr>
        <p:spPr>
          <a:xfrm>
            <a:off x="9006840" y="4023360"/>
            <a:ext cx="2633472" cy="2148840"/>
          </a:xfrm>
          <a:prstGeom prst="roundRect">
            <a:avLst>
              <a:gd name="adj" fmla="val 5106"/>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25" name="Icon disc"/>
          <p:cNvSpPr/>
          <p:nvPr/>
        </p:nvSpPr>
        <p:spPr>
          <a:xfrm>
            <a:off x="9235440" y="4251960"/>
            <a:ext cx="548640" cy="548640"/>
          </a:xfrm>
          <a:prstGeom prst="ellipse">
            <a:avLst/>
          </a:prstGeom>
          <a:solidFill>
            <a:schemeClr val="accent1"/>
          </a:solidFill>
          <a:ln/>
        </p:spPr>
      </p:sp>
      <p:pic>
        <p:nvPicPr>
          <p:cNvPr id="26" name="Image 3" descr="CheckCircle icon">    </p:cNvPr>
          <p:cNvPicPr>
            <a:picLocks noChangeAspect="1"/>
          </p:cNvPicPr>
          <p:nvPr/>
        </p:nvPicPr>
        <p:blipFill>
          <a:blip r:embed="rId4"/>
          <a:stretch>
            <a:fillRect/>
          </a:stretch>
        </p:blipFill>
        <p:spPr>
          <a:xfrm>
            <a:off x="9367114" y="4383634"/>
            <a:ext cx="285293" cy="285293"/>
          </a:xfrm>
          <a:prstGeom prst="rect">
            <a:avLst/>
          </a:prstGeom>
        </p:spPr>
      </p:pic>
      <p:sp>
        <p:nvSpPr>
          <p:cNvPr id="27" name="Text 20"/>
          <p:cNvSpPr txBox="1"/>
          <p:nvPr/>
        </p:nvSpPr>
        <p:spPr>
          <a:xfrm>
            <a:off x="9235440" y="4919472"/>
            <a:ext cx="2194560" cy="292608"/>
          </a:xfrm>
          <a:prstGeom prst="rect">
            <a:avLst/>
          </a:prstGeom>
          <a:noFill/>
          <a:ln/>
        </p:spPr>
        <p:txBody>
          <a:bodyPr wrap="square" lIns="0" tIns="0" rIns="0" bIns="0" rtlCol="0" anchor="t"/>
          <a:lstStyle/>
          <a:p>
            <a:pPr indent="0" marL="0">
              <a:buNone/>
            </a:pPr>
            <a:r>
              <a:rPr lang="en-US" sz="1600" b="1" dirty="0">
                <a:solidFill>
                  <a:schemeClr val="tx1"/>
                </a:solidFill>
                <a:latin typeface="+mj-lt" pitchFamily="34" charset="0"/>
                <a:ea typeface="+mj-lt" pitchFamily="34" charset="-122"/>
                <a:cs typeface="+mj-lt" pitchFamily="34" charset="-120"/>
              </a:rPr>
              <a:t>Input and forms</a:t>
            </a:r>
            <a:endParaRPr lang="en-US" sz="1600" dirty="0"/>
          </a:p>
        </p:txBody>
      </p:sp>
      <p:sp>
        <p:nvSpPr>
          <p:cNvPr id="28" name="Text 21"/>
          <p:cNvSpPr txBox="1"/>
          <p:nvPr/>
        </p:nvSpPr>
        <p:spPr>
          <a:xfrm>
            <a:off x="9235440" y="5230368"/>
            <a:ext cx="2194560" cy="896112"/>
          </a:xfrm>
          <a:prstGeom prst="rect">
            <a:avLst/>
          </a:prstGeom>
          <a:noFill/>
          <a:ln/>
        </p:spPr>
        <p:txBody>
          <a:bodyPr wrap="square" lIns="0" tIns="0" rIns="0" bIns="0" rtlCol="0" anchor="t"/>
          <a:lstStyle/>
          <a:p>
            <a:pPr indent="0" marL="0">
              <a:buNone/>
            </a:pPr>
            <a:r>
              <a:rPr lang="en-US" sz="1200" dirty="0">
                <a:solidFill>
                  <a:schemeClr val="accent5"/>
                </a:solidFill>
              </a:rPr>
              <a:t>@Valid DTOs reject bad input with 400. CSRF on pages; session cookie SameSite=Lax.</a:t>
            </a:r>
            <a:endParaRPr lang="en-US" sz="12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pill"/>
          <p:cNvSpPr/>
          <p:nvPr/>
        </p:nvSpPr>
        <p:spPr>
          <a:xfrm>
            <a:off x="548640" y="347472"/>
            <a:ext cx="2555748" cy="292608"/>
          </a:xfrm>
          <a:prstGeom prst="roundRect">
            <a:avLst>
              <a:gd name="adj" fmla="val 50000"/>
            </a:avLst>
          </a:prstGeom>
          <a:ln w="12700">
            <a:solidFill>
              <a:schemeClr val="accent6"/>
            </a:solidFill>
            <a:prstDash val="solid"/>
          </a:ln>
        </p:spPr>
      </p:sp>
      <p:sp>
        <p:nvSpPr>
          <p:cNvPr id="3" name="Text 1"/>
          <p:cNvSpPr txBox="1"/>
          <p:nvPr/>
        </p:nvSpPr>
        <p:spPr>
          <a:xfrm>
            <a:off x="548640" y="347472"/>
            <a:ext cx="2555748" cy="292608"/>
          </a:xfrm>
          <a:prstGeom prst="rect">
            <a:avLst/>
          </a:prstGeom>
          <a:noFill/>
          <a:ln/>
        </p:spPr>
        <p:txBody>
          <a:bodyPr wrap="square" lIns="0" tIns="0" rIns="0" bIns="0" rtlCol="0" anchor="ctr"/>
          <a:lstStyle/>
          <a:p>
            <a:pPr algn="ctr" indent="0" marL="0">
              <a:buNone/>
            </a:pPr>
            <a:r>
              <a:rPr lang="en-US" sz="1100" b="1" spc="200" kern="0" dirty="0">
                <a:solidFill>
                  <a:schemeClr val="accent6"/>
                </a:solidFill>
              </a:rPr>
              <a:t>10  ·  DATA MODEL</a:t>
            </a:r>
            <a:endParaRPr lang="en-US" sz="1100" dirty="0"/>
          </a:p>
        </p:txBody>
      </p:sp>
      <p:sp>
        <p:nvSpPr>
          <p:cNvPr id="4" name="Text 0"/>
          <p:cNvSpPr/>
          <p:nvPr>
            <p:ph idx="100" type="title" hasCustomPrompt="1"/>
          </p:nvPr>
        </p:nvSpPr>
        <p:spPr>
          <a:xfrm>
            <a:off x="548640" y="749808"/>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Five tables, one inheritance tree</a:t>
            </a:r>
            <a:endParaRPr lang="en-US" sz="3600" dirty="0"/>
          </a:p>
        </p:txBody>
      </p:sp>
      <p:sp>
        <p:nvSpPr>
          <p:cNvPr id="5" name="Table card"/>
          <p:cNvSpPr/>
          <p:nvPr/>
        </p:nvSpPr>
        <p:spPr>
          <a:xfrm>
            <a:off x="548640" y="1691640"/>
            <a:ext cx="2377440" cy="2880360"/>
          </a:xfrm>
          <a:prstGeom prst="roundRect">
            <a:avLst>
              <a:gd name="adj" fmla="val 4615"/>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6" name="Table header"/>
          <p:cNvSpPr/>
          <p:nvPr/>
        </p:nvSpPr>
        <p:spPr>
          <a:xfrm>
            <a:off x="548640" y="1691640"/>
            <a:ext cx="2377440" cy="457200"/>
          </a:xfrm>
          <a:prstGeom prst="roundRect">
            <a:avLst>
              <a:gd name="adj" fmla="val 24000"/>
            </a:avLst>
          </a:prstGeom>
          <a:solidFill>
            <a:schemeClr val="tx2"/>
          </a:solidFill>
          <a:ln/>
        </p:spPr>
      </p:sp>
      <p:sp>
        <p:nvSpPr>
          <p:cNvPr id="7" name="Text 5"/>
          <p:cNvSpPr txBox="1"/>
          <p:nvPr/>
        </p:nvSpPr>
        <p:spPr>
          <a:xfrm>
            <a:off x="548640" y="1691640"/>
            <a:ext cx="237744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MENU_ITEM</a:t>
            </a:r>
            <a:endParaRPr lang="en-US" sz="1400" dirty="0"/>
          </a:p>
        </p:txBody>
      </p:sp>
      <p:sp>
        <p:nvSpPr>
          <p:cNvPr id="8" name="Text 6"/>
          <p:cNvSpPr txBox="1"/>
          <p:nvPr/>
        </p:nvSpPr>
        <p:spPr>
          <a:xfrm>
            <a:off x="731520" y="2286000"/>
            <a:ext cx="2103120" cy="2194560"/>
          </a:xfrm>
          <a:prstGeom prst="rect">
            <a:avLst/>
          </a:prstGeom>
          <a:noFill/>
          <a:ln/>
        </p:spPr>
        <p:txBody>
          <a:bodyPr wrap="square" lIns="0" tIns="0" rIns="0" bIns="0" rtlCol="0" anchor="t"/>
          <a:lstStyle/>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id</a:t>
            </a:r>
            <a:pPr indent="0" marL="0">
              <a:spcAft>
                <a:spcPts val="300"/>
              </a:spcAft>
              <a:buNone/>
            </a:pPr>
            <a:r>
              <a:rPr lang="en-US" sz="1100" b="1" dirty="0">
                <a:solidFill>
                  <a:schemeClr val="accent6"/>
                </a:solidFill>
                <a:latin typeface="Courier New" pitchFamily="34" charset="0"/>
                <a:ea typeface="Courier New" pitchFamily="34" charset="-122"/>
                <a:cs typeface="Courier New" pitchFamily="34" charset="-120"/>
              </a:rPr>
              <a:t>  PK</a:t>
            </a: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name</a:t>
            </a:r>
            <a:pPr indent="0" marL="0">
              <a:spcAft>
                <a:spcPts val="300"/>
              </a:spcAft>
              <a:buNone/>
            </a:pP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price</a:t>
            </a:r>
            <a:pPr indent="0" marL="0">
              <a:spcAft>
                <a:spcPts val="300"/>
              </a:spcAft>
              <a:buNone/>
            </a:pP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available_quantity</a:t>
            </a:r>
            <a:pPr indent="0" marL="0">
              <a:spcAft>
                <a:spcPts val="300"/>
              </a:spcAft>
              <a:buNone/>
            </a:pP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available</a:t>
            </a:r>
            <a:pPr indent="0" marL="0">
              <a:spcAft>
                <a:spcPts val="300"/>
              </a:spcAft>
              <a:buNone/>
            </a:pP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active</a:t>
            </a:r>
            <a:pPr indent="0" marL="0">
              <a:spcAft>
                <a:spcPts val="300"/>
              </a:spcAft>
              <a:buNone/>
            </a:pP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popularity_count</a:t>
            </a:r>
            <a:pPr indent="0" marL="0">
              <a:spcAft>
                <a:spcPts val="300"/>
              </a:spcAft>
              <a:buNone/>
            </a:pP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version</a:t>
            </a:r>
            <a:pPr indent="0" marL="0">
              <a:spcAft>
                <a:spcPts val="300"/>
              </a:spcAft>
              <a:buNone/>
            </a:pPr>
            <a:endParaRPr lang="en-US" sz="1200" dirty="0"/>
          </a:p>
        </p:txBody>
      </p:sp>
      <p:sp>
        <p:nvSpPr>
          <p:cNvPr id="9" name="Arrow"/>
          <p:cNvSpPr/>
          <p:nvPr/>
        </p:nvSpPr>
        <p:spPr>
          <a:xfrm>
            <a:off x="2953512" y="3017520"/>
            <a:ext cx="475488" cy="0"/>
          </a:xfrm>
          <a:prstGeom prst="line">
            <a:avLst/>
          </a:prstGeom>
          <a:noFill/>
          <a:ln w="22225">
            <a:solidFill>
              <a:srgbClr val="5F6F66"/>
            </a:solidFill>
            <a:prstDash val="solid"/>
            <a:tailEnd type="triangle"/>
          </a:ln>
        </p:spPr>
      </p:sp>
      <p:sp>
        <p:nvSpPr>
          <p:cNvPr id="10" name="Text 8"/>
          <p:cNvSpPr txBox="1"/>
          <p:nvPr/>
        </p:nvSpPr>
        <p:spPr>
          <a:xfrm>
            <a:off x="2926080" y="2670048"/>
            <a:ext cx="530352" cy="274320"/>
          </a:xfrm>
          <a:prstGeom prst="rect">
            <a:avLst/>
          </a:prstGeom>
          <a:noFill/>
          <a:ln/>
        </p:spPr>
        <p:txBody>
          <a:bodyPr wrap="square" lIns="0" tIns="0" rIns="0" bIns="0" rtlCol="0" anchor="t"/>
          <a:lstStyle/>
          <a:p>
            <a:pPr algn="ctr" indent="0" marL="0">
              <a:buNone/>
            </a:pPr>
            <a:r>
              <a:rPr lang="en-US" sz="1100" b="1" dirty="0">
                <a:solidFill>
                  <a:schemeClr val="accent6"/>
                </a:solidFill>
              </a:rPr>
              <a:t>1 : N</a:t>
            </a:r>
            <a:endParaRPr lang="en-US" sz="1100" dirty="0"/>
          </a:p>
        </p:txBody>
      </p:sp>
      <p:sp>
        <p:nvSpPr>
          <p:cNvPr id="11" name="Table card"/>
          <p:cNvSpPr/>
          <p:nvPr/>
        </p:nvSpPr>
        <p:spPr>
          <a:xfrm>
            <a:off x="3456432" y="1691640"/>
            <a:ext cx="2377440" cy="2880360"/>
          </a:xfrm>
          <a:prstGeom prst="roundRect">
            <a:avLst>
              <a:gd name="adj" fmla="val 4615"/>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12" name="Table header"/>
          <p:cNvSpPr/>
          <p:nvPr/>
        </p:nvSpPr>
        <p:spPr>
          <a:xfrm>
            <a:off x="3456432" y="1691640"/>
            <a:ext cx="2377440" cy="457200"/>
          </a:xfrm>
          <a:prstGeom prst="roundRect">
            <a:avLst>
              <a:gd name="adj" fmla="val 24000"/>
            </a:avLst>
          </a:prstGeom>
          <a:solidFill>
            <a:schemeClr val="tx2"/>
          </a:solidFill>
          <a:ln/>
        </p:spPr>
      </p:sp>
      <p:sp>
        <p:nvSpPr>
          <p:cNvPr id="13" name="Text 11"/>
          <p:cNvSpPr txBox="1"/>
          <p:nvPr/>
        </p:nvSpPr>
        <p:spPr>
          <a:xfrm>
            <a:off x="3456432" y="1691640"/>
            <a:ext cx="237744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ORDER_ITEM</a:t>
            </a:r>
            <a:endParaRPr lang="en-US" sz="1400" dirty="0"/>
          </a:p>
        </p:txBody>
      </p:sp>
      <p:sp>
        <p:nvSpPr>
          <p:cNvPr id="14" name="Text 12"/>
          <p:cNvSpPr txBox="1"/>
          <p:nvPr/>
        </p:nvSpPr>
        <p:spPr>
          <a:xfrm>
            <a:off x="3639312" y="2286000"/>
            <a:ext cx="2103120" cy="2194560"/>
          </a:xfrm>
          <a:prstGeom prst="rect">
            <a:avLst/>
          </a:prstGeom>
          <a:noFill/>
          <a:ln/>
        </p:spPr>
        <p:txBody>
          <a:bodyPr wrap="square" lIns="0" tIns="0" rIns="0" bIns="0" rtlCol="0" anchor="t"/>
          <a:lstStyle/>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id</a:t>
            </a:r>
            <a:pPr indent="0" marL="0">
              <a:spcAft>
                <a:spcPts val="300"/>
              </a:spcAft>
              <a:buNone/>
            </a:pPr>
            <a:r>
              <a:rPr lang="en-US" sz="1100" b="1" dirty="0">
                <a:solidFill>
                  <a:schemeClr val="accent6"/>
                </a:solidFill>
                <a:latin typeface="Courier New" pitchFamily="34" charset="0"/>
                <a:ea typeface="Courier New" pitchFamily="34" charset="-122"/>
                <a:cs typeface="Courier New" pitchFamily="34" charset="-120"/>
              </a:rPr>
              <a:t>  PK</a:t>
            </a: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order_id</a:t>
            </a:r>
            <a:pPr indent="0" marL="0">
              <a:spcAft>
                <a:spcPts val="300"/>
              </a:spcAft>
              <a:buNone/>
            </a:pPr>
            <a:r>
              <a:rPr lang="en-US" sz="1100" b="1" dirty="0">
                <a:solidFill>
                  <a:schemeClr val="accent6"/>
                </a:solidFill>
                <a:latin typeface="Courier New" pitchFamily="34" charset="0"/>
                <a:ea typeface="Courier New" pitchFamily="34" charset="-122"/>
                <a:cs typeface="Courier New" pitchFamily="34" charset="-120"/>
              </a:rPr>
              <a:t>  FK</a:t>
            </a: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menu_item_id</a:t>
            </a:r>
            <a:pPr indent="0" marL="0">
              <a:spcAft>
                <a:spcPts val="300"/>
              </a:spcAft>
              <a:buNone/>
            </a:pPr>
            <a:r>
              <a:rPr lang="en-US" sz="1100" b="1" dirty="0">
                <a:solidFill>
                  <a:schemeClr val="accent6"/>
                </a:solidFill>
                <a:latin typeface="Courier New" pitchFamily="34" charset="0"/>
                <a:ea typeface="Courier New" pitchFamily="34" charset="-122"/>
                <a:cs typeface="Courier New" pitchFamily="34" charset="-120"/>
              </a:rPr>
              <a:t>  FK</a:t>
            </a: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item_name_snapshot</a:t>
            </a:r>
            <a:pPr indent="0" marL="0">
              <a:spcAft>
                <a:spcPts val="300"/>
              </a:spcAft>
              <a:buNone/>
            </a:pP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unit_price_snapshot</a:t>
            </a:r>
            <a:pPr indent="0" marL="0">
              <a:spcAft>
                <a:spcPts val="300"/>
              </a:spcAft>
              <a:buNone/>
            </a:pP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quantity</a:t>
            </a:r>
            <a:pPr indent="0" marL="0">
              <a:spcAft>
                <a:spcPts val="300"/>
              </a:spcAft>
              <a:buNone/>
            </a:pP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line_total</a:t>
            </a:r>
            <a:pPr indent="0" marL="0">
              <a:spcAft>
                <a:spcPts val="300"/>
              </a:spcAft>
              <a:buNone/>
            </a:pPr>
            <a:endParaRPr lang="en-US" sz="1200" dirty="0"/>
          </a:p>
        </p:txBody>
      </p:sp>
      <p:sp>
        <p:nvSpPr>
          <p:cNvPr id="15" name="Arrow"/>
          <p:cNvSpPr/>
          <p:nvPr/>
        </p:nvSpPr>
        <p:spPr>
          <a:xfrm>
            <a:off x="5861304" y="3017520"/>
            <a:ext cx="475488" cy="0"/>
          </a:xfrm>
          <a:prstGeom prst="line">
            <a:avLst/>
          </a:prstGeom>
          <a:noFill/>
          <a:ln w="22225">
            <a:solidFill>
              <a:srgbClr val="5F6F66"/>
            </a:solidFill>
            <a:prstDash val="solid"/>
            <a:tailEnd type="triangle"/>
          </a:ln>
        </p:spPr>
      </p:sp>
      <p:sp>
        <p:nvSpPr>
          <p:cNvPr id="16" name="Text 14"/>
          <p:cNvSpPr txBox="1"/>
          <p:nvPr/>
        </p:nvSpPr>
        <p:spPr>
          <a:xfrm>
            <a:off x="5833872" y="2670048"/>
            <a:ext cx="530352" cy="274320"/>
          </a:xfrm>
          <a:prstGeom prst="rect">
            <a:avLst/>
          </a:prstGeom>
          <a:noFill/>
          <a:ln/>
        </p:spPr>
        <p:txBody>
          <a:bodyPr wrap="square" lIns="0" tIns="0" rIns="0" bIns="0" rtlCol="0" anchor="t"/>
          <a:lstStyle/>
          <a:p>
            <a:pPr algn="ctr" indent="0" marL="0">
              <a:buNone/>
            </a:pPr>
            <a:r>
              <a:rPr lang="en-US" sz="1100" b="1" dirty="0">
                <a:solidFill>
                  <a:schemeClr val="accent6"/>
                </a:solidFill>
              </a:rPr>
              <a:t>N : 1</a:t>
            </a:r>
            <a:endParaRPr lang="en-US" sz="1100" dirty="0"/>
          </a:p>
        </p:txBody>
      </p:sp>
      <p:sp>
        <p:nvSpPr>
          <p:cNvPr id="17" name="Table card"/>
          <p:cNvSpPr/>
          <p:nvPr/>
        </p:nvSpPr>
        <p:spPr>
          <a:xfrm>
            <a:off x="6364224" y="1691640"/>
            <a:ext cx="2377440" cy="2880360"/>
          </a:xfrm>
          <a:prstGeom prst="roundRect">
            <a:avLst>
              <a:gd name="adj" fmla="val 4615"/>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18" name="Table header"/>
          <p:cNvSpPr/>
          <p:nvPr/>
        </p:nvSpPr>
        <p:spPr>
          <a:xfrm>
            <a:off x="6364224" y="1691640"/>
            <a:ext cx="2377440" cy="457200"/>
          </a:xfrm>
          <a:prstGeom prst="roundRect">
            <a:avLst>
              <a:gd name="adj" fmla="val 24000"/>
            </a:avLst>
          </a:prstGeom>
          <a:solidFill>
            <a:schemeClr val="tx2"/>
          </a:solidFill>
          <a:ln/>
        </p:spPr>
      </p:sp>
      <p:sp>
        <p:nvSpPr>
          <p:cNvPr id="19" name="Text 17"/>
          <p:cNvSpPr txBox="1"/>
          <p:nvPr/>
        </p:nvSpPr>
        <p:spPr>
          <a:xfrm>
            <a:off x="6364224" y="1691640"/>
            <a:ext cx="237744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CUSTOMER_ORDER</a:t>
            </a:r>
            <a:endParaRPr lang="en-US" sz="1400" dirty="0"/>
          </a:p>
        </p:txBody>
      </p:sp>
      <p:sp>
        <p:nvSpPr>
          <p:cNvPr id="20" name="Text 18"/>
          <p:cNvSpPr txBox="1"/>
          <p:nvPr/>
        </p:nvSpPr>
        <p:spPr>
          <a:xfrm>
            <a:off x="6547104" y="2286000"/>
            <a:ext cx="2103120" cy="2194560"/>
          </a:xfrm>
          <a:prstGeom prst="rect">
            <a:avLst/>
          </a:prstGeom>
          <a:noFill/>
          <a:ln/>
        </p:spPr>
        <p:txBody>
          <a:bodyPr wrap="square" lIns="0" tIns="0" rIns="0" bIns="0" rtlCol="0" anchor="t"/>
          <a:lstStyle/>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id</a:t>
            </a:r>
            <a:pPr indent="0" marL="0">
              <a:spcAft>
                <a:spcPts val="300"/>
              </a:spcAft>
              <a:buNone/>
            </a:pPr>
            <a:r>
              <a:rPr lang="en-US" sz="1100" b="1" dirty="0">
                <a:solidFill>
                  <a:schemeClr val="accent6"/>
                </a:solidFill>
                <a:latin typeface="Courier New" pitchFamily="34" charset="0"/>
                <a:ea typeface="Courier New" pitchFamily="34" charset="-122"/>
                <a:cs typeface="Courier New" pitchFamily="34" charset="-120"/>
              </a:rPr>
              <a:t>  PK</a:t>
            </a: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order_reference</a:t>
            </a:r>
            <a:pPr indent="0" marL="0">
              <a:spcAft>
                <a:spcPts val="300"/>
              </a:spcAft>
              <a:buNone/>
            </a:pPr>
            <a:r>
              <a:rPr lang="en-US" sz="1100" b="1" dirty="0">
                <a:solidFill>
                  <a:schemeClr val="accent6"/>
                </a:solidFill>
                <a:latin typeface="Courier New" pitchFamily="34" charset="0"/>
                <a:ea typeface="Courier New" pitchFamily="34" charset="-122"/>
                <a:cs typeface="Courier New" pitchFamily="34" charset="-120"/>
              </a:rPr>
              <a:t>  UK</a:t>
            </a: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pickup_otp_hash</a:t>
            </a:r>
            <a:pPr indent="0" marL="0">
              <a:spcAft>
                <a:spcPts val="300"/>
              </a:spcAft>
              <a:buNone/>
            </a:pP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status</a:t>
            </a:r>
            <a:pPr indent="0" marL="0">
              <a:spcAft>
                <a:spcPts val="300"/>
              </a:spcAft>
              <a:buNone/>
            </a:pP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payment_status</a:t>
            </a:r>
            <a:pPr indent="0" marL="0">
              <a:spcAft>
                <a:spcPts val="300"/>
              </a:spcAft>
              <a:buNone/>
            </a:pP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total_amount</a:t>
            </a:r>
            <a:pPr indent="0" marL="0">
              <a:spcAft>
                <a:spcPts val="300"/>
              </a:spcAft>
              <a:buNone/>
            </a:pP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idempotency_key</a:t>
            </a:r>
            <a:pPr indent="0" marL="0">
              <a:spcAft>
                <a:spcPts val="300"/>
              </a:spcAft>
              <a:buNone/>
            </a:pPr>
            <a:r>
              <a:rPr lang="en-US" sz="1100" b="1" dirty="0">
                <a:solidFill>
                  <a:schemeClr val="accent6"/>
                </a:solidFill>
                <a:latin typeface="Courier New" pitchFamily="34" charset="0"/>
                <a:ea typeface="Courier New" pitchFamily="34" charset="-122"/>
                <a:cs typeface="Courier New" pitchFamily="34" charset="-120"/>
              </a:rPr>
              <a:t>  UK</a:t>
            </a: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version</a:t>
            </a:r>
            <a:pPr indent="0" marL="0">
              <a:spcAft>
                <a:spcPts val="300"/>
              </a:spcAft>
              <a:buNone/>
            </a:pPr>
            <a:endParaRPr lang="en-US" sz="1200" dirty="0"/>
          </a:p>
        </p:txBody>
      </p:sp>
      <p:sp>
        <p:nvSpPr>
          <p:cNvPr id="21" name="Arrow"/>
          <p:cNvSpPr/>
          <p:nvPr/>
        </p:nvSpPr>
        <p:spPr>
          <a:xfrm>
            <a:off x="8769096" y="3017520"/>
            <a:ext cx="475488" cy="0"/>
          </a:xfrm>
          <a:prstGeom prst="line">
            <a:avLst/>
          </a:prstGeom>
          <a:noFill/>
          <a:ln w="22225">
            <a:solidFill>
              <a:srgbClr val="5F6F66"/>
            </a:solidFill>
            <a:prstDash val="solid"/>
            <a:tailEnd type="triangle"/>
          </a:ln>
        </p:spPr>
      </p:sp>
      <p:sp>
        <p:nvSpPr>
          <p:cNvPr id="22" name="Text 20"/>
          <p:cNvSpPr txBox="1"/>
          <p:nvPr/>
        </p:nvSpPr>
        <p:spPr>
          <a:xfrm>
            <a:off x="8741664" y="2670048"/>
            <a:ext cx="530352" cy="274320"/>
          </a:xfrm>
          <a:prstGeom prst="rect">
            <a:avLst/>
          </a:prstGeom>
          <a:noFill/>
          <a:ln/>
        </p:spPr>
        <p:txBody>
          <a:bodyPr wrap="square" lIns="0" tIns="0" rIns="0" bIns="0" rtlCol="0" anchor="t"/>
          <a:lstStyle/>
          <a:p>
            <a:pPr algn="ctr" indent="0" marL="0">
              <a:buNone/>
            </a:pPr>
            <a:r>
              <a:rPr lang="en-US" sz="1100" b="1" dirty="0">
                <a:solidFill>
                  <a:schemeClr val="accent6"/>
                </a:solidFill>
              </a:rPr>
              <a:t>1 : N</a:t>
            </a:r>
            <a:endParaRPr lang="en-US" sz="1100" dirty="0"/>
          </a:p>
        </p:txBody>
      </p:sp>
      <p:sp>
        <p:nvSpPr>
          <p:cNvPr id="23" name="Table card"/>
          <p:cNvSpPr/>
          <p:nvPr/>
        </p:nvSpPr>
        <p:spPr>
          <a:xfrm>
            <a:off x="9272016" y="1691640"/>
            <a:ext cx="2377440" cy="2880360"/>
          </a:xfrm>
          <a:prstGeom prst="roundRect">
            <a:avLst>
              <a:gd name="adj" fmla="val 4615"/>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24" name="Table header"/>
          <p:cNvSpPr/>
          <p:nvPr/>
        </p:nvSpPr>
        <p:spPr>
          <a:xfrm>
            <a:off x="9272016" y="1691640"/>
            <a:ext cx="2377440" cy="457200"/>
          </a:xfrm>
          <a:prstGeom prst="roundRect">
            <a:avLst>
              <a:gd name="adj" fmla="val 24000"/>
            </a:avLst>
          </a:prstGeom>
          <a:solidFill>
            <a:schemeClr val="tx2"/>
          </a:solidFill>
          <a:ln/>
        </p:spPr>
      </p:sp>
      <p:sp>
        <p:nvSpPr>
          <p:cNvPr id="25" name="Text 23"/>
          <p:cNvSpPr txBox="1"/>
          <p:nvPr/>
        </p:nvSpPr>
        <p:spPr>
          <a:xfrm>
            <a:off x="9272016" y="1691640"/>
            <a:ext cx="2377440" cy="457200"/>
          </a:xfrm>
          <a:prstGeom prst="rect">
            <a:avLst/>
          </a:prstGeom>
          <a:noFill/>
          <a:ln/>
        </p:spPr>
        <p:txBody>
          <a:bodyPr wrap="square" lIns="0" tIns="0" rIns="0" bIns="0" rtlCol="0" anchor="ctr"/>
          <a:lstStyle/>
          <a:p>
            <a:pPr algn="ctr" indent="0" marL="0">
              <a:buNone/>
            </a:pPr>
            <a:r>
              <a:rPr lang="en-US" sz="1400" b="1" dirty="0">
                <a:solidFill>
                  <a:schemeClr val="bg1"/>
                </a:solidFill>
                <a:latin typeface="Courier New" pitchFamily="34" charset="0"/>
                <a:ea typeface="Courier New" pitchFamily="34" charset="-122"/>
                <a:cs typeface="Courier New" pitchFamily="34" charset="-120"/>
              </a:rPr>
              <a:t>PAYMENT</a:t>
            </a:r>
            <a:endParaRPr lang="en-US" sz="1400" dirty="0"/>
          </a:p>
        </p:txBody>
      </p:sp>
      <p:sp>
        <p:nvSpPr>
          <p:cNvPr id="26" name="Text 24"/>
          <p:cNvSpPr txBox="1"/>
          <p:nvPr/>
        </p:nvSpPr>
        <p:spPr>
          <a:xfrm>
            <a:off x="9454896" y="2286000"/>
            <a:ext cx="2103120" cy="2194560"/>
          </a:xfrm>
          <a:prstGeom prst="rect">
            <a:avLst/>
          </a:prstGeom>
          <a:noFill/>
          <a:ln/>
        </p:spPr>
        <p:txBody>
          <a:bodyPr wrap="square" lIns="0" tIns="0" rIns="0" bIns="0" rtlCol="0" anchor="t"/>
          <a:lstStyle/>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id</a:t>
            </a:r>
            <a:pPr indent="0" marL="0">
              <a:spcAft>
                <a:spcPts val="300"/>
              </a:spcAft>
              <a:buNone/>
            </a:pPr>
            <a:r>
              <a:rPr lang="en-US" sz="1100" b="1" dirty="0">
                <a:solidFill>
                  <a:schemeClr val="accent6"/>
                </a:solidFill>
                <a:latin typeface="Courier New" pitchFamily="34" charset="0"/>
                <a:ea typeface="Courier New" pitchFamily="34" charset="-122"/>
                <a:cs typeface="Courier New" pitchFamily="34" charset="-120"/>
              </a:rPr>
              <a:t>  PK</a:t>
            </a: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order_id</a:t>
            </a:r>
            <a:pPr indent="0" marL="0">
              <a:spcAft>
                <a:spcPts val="300"/>
              </a:spcAft>
              <a:buNone/>
            </a:pPr>
            <a:r>
              <a:rPr lang="en-US" sz="1100" b="1" dirty="0">
                <a:solidFill>
                  <a:schemeClr val="accent6"/>
                </a:solidFill>
                <a:latin typeface="Courier New" pitchFamily="34" charset="0"/>
                <a:ea typeface="Courier New" pitchFamily="34" charset="-122"/>
                <a:cs typeface="Courier New" pitchFamily="34" charset="-120"/>
              </a:rPr>
              <a:t>  FK</a:t>
            </a: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payment_type</a:t>
            </a:r>
            <a:pPr indent="0" marL="0">
              <a:spcAft>
                <a:spcPts val="300"/>
              </a:spcAft>
              <a:buNone/>
            </a:pPr>
            <a:r>
              <a:rPr lang="en-US" sz="1100" b="1" dirty="0">
                <a:solidFill>
                  <a:schemeClr val="accent6"/>
                </a:solidFill>
                <a:latin typeface="Courier New" pitchFamily="34" charset="0"/>
                <a:ea typeface="Courier New" pitchFamily="34" charset="-122"/>
                <a:cs typeface="Courier New" pitchFamily="34" charset="-120"/>
              </a:rPr>
              <a:t>  CASH</a:t>
            </a: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amount</a:t>
            </a:r>
            <a:pPr indent="0" marL="0">
              <a:spcAft>
                <a:spcPts val="300"/>
              </a:spcAft>
              <a:buNone/>
            </a:pP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status</a:t>
            </a:r>
            <a:pPr indent="0" marL="0">
              <a:spcAft>
                <a:spcPts val="300"/>
              </a:spcAft>
              <a:buNone/>
            </a:pPr>
            <a:endParaRPr lang="en-US" sz="1200" dirty="0"/>
          </a:p>
          <a:p>
            <a:pPr indent="0" marL="0">
              <a:spcAft>
                <a:spcPts val="300"/>
              </a:spcAft>
              <a:buNone/>
            </a:pPr>
            <a:r>
              <a:rPr lang="en-US" sz="1200" dirty="0">
                <a:solidFill>
                  <a:schemeClr val="tx1"/>
                </a:solidFill>
                <a:latin typeface="Courier New" pitchFamily="34" charset="0"/>
                <a:ea typeface="Courier New" pitchFamily="34" charset="-122"/>
                <a:cs typeface="Courier New" pitchFamily="34" charset="-120"/>
              </a:rPr>
              <a:t>received_by</a:t>
            </a:r>
            <a:pPr indent="0" marL="0">
              <a:spcAft>
                <a:spcPts val="300"/>
              </a:spcAft>
              <a:buNone/>
            </a:pPr>
            <a:endParaRPr lang="en-US" sz="1200" dirty="0"/>
          </a:p>
        </p:txBody>
      </p:sp>
      <p:sp>
        <p:nvSpPr>
          <p:cNvPr id="27" name="Note card"/>
          <p:cNvSpPr/>
          <p:nvPr/>
        </p:nvSpPr>
        <p:spPr>
          <a:xfrm>
            <a:off x="548640" y="4846320"/>
            <a:ext cx="3593592" cy="1371600"/>
          </a:xfrm>
          <a:prstGeom prst="roundRect">
            <a:avLst>
              <a:gd name="adj" fmla="val 8000"/>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28" name="Text 26"/>
          <p:cNvSpPr txBox="1"/>
          <p:nvPr/>
        </p:nvSpPr>
        <p:spPr>
          <a:xfrm>
            <a:off x="731520" y="4956048"/>
            <a:ext cx="3246120" cy="274320"/>
          </a:xfrm>
          <a:prstGeom prst="rect">
            <a:avLst/>
          </a:prstGeom>
          <a:noFill/>
          <a:ln/>
        </p:spPr>
        <p:txBody>
          <a:bodyPr wrap="square" lIns="0" tIns="0" rIns="0" bIns="0" rtlCol="0" anchor="t"/>
          <a:lstStyle/>
          <a:p>
            <a:pPr indent="0" marL="0">
              <a:buNone/>
            </a:pPr>
            <a:r>
              <a:rPr lang="en-US" sz="1500" b="1" dirty="0">
                <a:solidFill>
                  <a:schemeClr val="accent6"/>
                </a:solidFill>
                <a:latin typeface="+mj-lt" pitchFamily="34" charset="0"/>
                <a:ea typeface="+mj-lt" pitchFamily="34" charset="-122"/>
                <a:cs typeface="+mj-lt" pitchFamily="34" charset="-120"/>
              </a:rPr>
              <a:t>Snapshots</a:t>
            </a:r>
            <a:endParaRPr lang="en-US" sz="1500" dirty="0"/>
          </a:p>
        </p:txBody>
      </p:sp>
      <p:sp>
        <p:nvSpPr>
          <p:cNvPr id="29" name="Text 27"/>
          <p:cNvSpPr txBox="1"/>
          <p:nvPr/>
        </p:nvSpPr>
        <p:spPr>
          <a:xfrm>
            <a:off x="731520" y="5285232"/>
            <a:ext cx="3246120" cy="868680"/>
          </a:xfrm>
          <a:prstGeom prst="rect">
            <a:avLst/>
          </a:prstGeom>
          <a:noFill/>
          <a:ln/>
        </p:spPr>
        <p:txBody>
          <a:bodyPr wrap="square" lIns="0" tIns="0" rIns="0" bIns="0" rtlCol="0" anchor="t"/>
          <a:lstStyle/>
          <a:p>
            <a:pPr indent="0" marL="0">
              <a:buNone/>
            </a:pPr>
            <a:r>
              <a:rPr lang="en-US" sz="1300" dirty="0">
                <a:solidFill>
                  <a:schemeClr val="accent5"/>
                </a:solidFill>
              </a:rPr>
              <a:t>Item name and price are copied into each order line, so later menu changes never rewrite history.</a:t>
            </a:r>
            <a:endParaRPr lang="en-US" sz="1300" dirty="0"/>
          </a:p>
        </p:txBody>
      </p:sp>
      <p:sp>
        <p:nvSpPr>
          <p:cNvPr id="30" name="Note card"/>
          <p:cNvSpPr/>
          <p:nvPr/>
        </p:nvSpPr>
        <p:spPr>
          <a:xfrm>
            <a:off x="4297680" y="4846320"/>
            <a:ext cx="3593592" cy="1371600"/>
          </a:xfrm>
          <a:prstGeom prst="roundRect">
            <a:avLst>
              <a:gd name="adj" fmla="val 8000"/>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31" name="Text 29"/>
          <p:cNvSpPr txBox="1"/>
          <p:nvPr/>
        </p:nvSpPr>
        <p:spPr>
          <a:xfrm>
            <a:off x="4480560" y="4956048"/>
            <a:ext cx="3246120" cy="274320"/>
          </a:xfrm>
          <a:prstGeom prst="rect">
            <a:avLst/>
          </a:prstGeom>
          <a:noFill/>
          <a:ln/>
        </p:spPr>
        <p:txBody>
          <a:bodyPr wrap="square" lIns="0" tIns="0" rIns="0" bIns="0" rtlCol="0" anchor="t"/>
          <a:lstStyle/>
          <a:p>
            <a:pPr indent="0" marL="0">
              <a:buNone/>
            </a:pPr>
            <a:r>
              <a:rPr lang="en-US" sz="1500" b="1" dirty="0">
                <a:solidFill>
                  <a:schemeClr val="accent6"/>
                </a:solidFill>
                <a:latin typeface="+mj-lt" pitchFamily="34" charset="0"/>
                <a:ea typeface="+mj-lt" pitchFamily="34" charset="-122"/>
                <a:cs typeface="+mj-lt" pitchFamily="34" charset="-120"/>
              </a:rPr>
              <a:t>Payment inheritance</a:t>
            </a:r>
            <a:endParaRPr lang="en-US" sz="1500" dirty="0"/>
          </a:p>
        </p:txBody>
      </p:sp>
      <p:sp>
        <p:nvSpPr>
          <p:cNvPr id="32" name="Text 30"/>
          <p:cNvSpPr txBox="1"/>
          <p:nvPr/>
        </p:nvSpPr>
        <p:spPr>
          <a:xfrm>
            <a:off x="4480560" y="5285232"/>
            <a:ext cx="3246120" cy="868680"/>
          </a:xfrm>
          <a:prstGeom prst="rect">
            <a:avLst/>
          </a:prstGeom>
          <a:noFill/>
          <a:ln/>
        </p:spPr>
        <p:txBody>
          <a:bodyPr wrap="square" lIns="0" tIns="0" rIns="0" bIns="0" rtlCol="0" anchor="t"/>
          <a:lstStyle/>
          <a:p>
            <a:pPr indent="0" marL="0">
              <a:buNone/>
            </a:pPr>
            <a:r>
              <a:rPr lang="en-US" sz="1300" dirty="0">
                <a:solidFill>
                  <a:schemeClr val="accent5"/>
                </a:solidFill>
              </a:rPr>
              <a:t>Abstract Payment, subclass CashPayment, SINGLE_TABLE with a payment_type column. Another way to pay = one more subclass.</a:t>
            </a:r>
            <a:endParaRPr lang="en-US" sz="1300" dirty="0"/>
          </a:p>
        </p:txBody>
      </p:sp>
      <p:sp>
        <p:nvSpPr>
          <p:cNvPr id="33" name="Note card"/>
          <p:cNvSpPr/>
          <p:nvPr/>
        </p:nvSpPr>
        <p:spPr>
          <a:xfrm>
            <a:off x="8046720" y="4846320"/>
            <a:ext cx="3593592" cy="1371600"/>
          </a:xfrm>
          <a:prstGeom prst="roundRect">
            <a:avLst>
              <a:gd name="adj" fmla="val 8000"/>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34" name="Text 32"/>
          <p:cNvSpPr txBox="1"/>
          <p:nvPr/>
        </p:nvSpPr>
        <p:spPr>
          <a:xfrm>
            <a:off x="8229600" y="4956048"/>
            <a:ext cx="3246120" cy="274320"/>
          </a:xfrm>
          <a:prstGeom prst="rect">
            <a:avLst/>
          </a:prstGeom>
          <a:noFill/>
          <a:ln/>
        </p:spPr>
        <p:txBody>
          <a:bodyPr wrap="square" lIns="0" tIns="0" rIns="0" bIns="0" rtlCol="0" anchor="t"/>
          <a:lstStyle/>
          <a:p>
            <a:pPr indent="0" marL="0">
              <a:buNone/>
            </a:pPr>
            <a:r>
              <a:rPr lang="en-US" sz="1500" b="1" dirty="0">
                <a:solidFill>
                  <a:schemeClr val="accent6"/>
                </a:solidFill>
                <a:latin typeface="+mj-lt" pitchFamily="34" charset="0"/>
                <a:ea typeface="+mj-lt" pitchFamily="34" charset="-122"/>
                <a:cs typeface="+mj-lt" pitchFamily="34" charset="-120"/>
              </a:rPr>
              <a:t>Fifth table: staff_user</a:t>
            </a:r>
            <a:endParaRPr lang="en-US" sz="1500" dirty="0"/>
          </a:p>
        </p:txBody>
      </p:sp>
      <p:sp>
        <p:nvSpPr>
          <p:cNvPr id="35" name="Text 33"/>
          <p:cNvSpPr txBox="1"/>
          <p:nvPr/>
        </p:nvSpPr>
        <p:spPr>
          <a:xfrm>
            <a:off x="8229600" y="5285232"/>
            <a:ext cx="3246120" cy="868680"/>
          </a:xfrm>
          <a:prstGeom prst="rect">
            <a:avLst/>
          </a:prstGeom>
          <a:noFill/>
          <a:ln/>
        </p:spPr>
        <p:txBody>
          <a:bodyPr wrap="square" lIns="0" tIns="0" rIns="0" bIns="0" rtlCol="0" anchor="t"/>
          <a:lstStyle/>
          <a:p>
            <a:pPr indent="0" marL="0">
              <a:buNone/>
            </a:pPr>
            <a:r>
              <a:rPr lang="en-US" sz="1300" dirty="0">
                <a:solidFill>
                  <a:schemeClr val="accent5"/>
                </a:solidFill>
              </a:rPr>
              <a:t>Holds the two BCrypt staff accounts. Menu and accounts load from data.sql (INSERT IGNORE), so restarts never duplicate rows.</a:t>
            </a:r>
            <a:endParaRPr lang="en-US" sz="13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ection pill"/>
          <p:cNvSpPr/>
          <p:nvPr/>
        </p:nvSpPr>
        <p:spPr>
          <a:xfrm>
            <a:off x="548640" y="347472"/>
            <a:ext cx="3790188" cy="292608"/>
          </a:xfrm>
          <a:prstGeom prst="roundRect">
            <a:avLst>
              <a:gd name="adj" fmla="val 50000"/>
            </a:avLst>
          </a:prstGeom>
          <a:ln w="12700">
            <a:solidFill>
              <a:schemeClr val="accent6"/>
            </a:solidFill>
            <a:prstDash val="solid"/>
          </a:ln>
        </p:spPr>
      </p:sp>
      <p:sp>
        <p:nvSpPr>
          <p:cNvPr id="3" name="Text 1"/>
          <p:cNvSpPr txBox="1"/>
          <p:nvPr/>
        </p:nvSpPr>
        <p:spPr>
          <a:xfrm>
            <a:off x="548640" y="347472"/>
            <a:ext cx="3790188" cy="292608"/>
          </a:xfrm>
          <a:prstGeom prst="rect">
            <a:avLst/>
          </a:prstGeom>
          <a:noFill/>
          <a:ln/>
        </p:spPr>
        <p:txBody>
          <a:bodyPr wrap="square" lIns="0" tIns="0" rIns="0" bIns="0" rtlCol="0" anchor="ctr"/>
          <a:lstStyle/>
          <a:p>
            <a:pPr algn="ctr" indent="0" marL="0">
              <a:buNone/>
            </a:pPr>
            <a:r>
              <a:rPr lang="en-US" sz="1100" b="1" spc="200" kern="0" dirty="0">
                <a:solidFill>
                  <a:schemeClr val="accent6"/>
                </a:solidFill>
              </a:rPr>
              <a:t>11  ·  TESTING AND SYLLABUS</a:t>
            </a:r>
            <a:endParaRPr lang="en-US" sz="1100" dirty="0"/>
          </a:p>
        </p:txBody>
      </p:sp>
      <p:sp>
        <p:nvSpPr>
          <p:cNvPr id="4" name="Text 0"/>
          <p:cNvSpPr/>
          <p:nvPr>
            <p:ph idx="100" type="title" hasCustomPrompt="1"/>
          </p:nvPr>
        </p:nvSpPr>
        <p:spPr>
          <a:xfrm>
            <a:off x="548640" y="749808"/>
            <a:ext cx="11091672" cy="685800"/>
          </a:xfrm>
          <a:prstGeom prst="rect">
            <a:avLst/>
          </a:prstGeom>
          <a:noFill/>
          <a:ln/>
        </p:spPr>
        <p:txBody>
          <a:bodyPr wrap="square" lIns="0" tIns="0" rIns="0" bIns="0" rtlCol="0" anchor="t"/>
          <a:lstStyle/>
          <a:p>
            <a:pPr algn="l" indent="0" marL="0">
              <a:buNone/>
            </a:pPr>
            <a:r>
              <a:rPr lang="en-US" sz="3600" b="1" dirty="0">
                <a:solidFill>
                  <a:schemeClr val="tx1"/>
                </a:solidFill>
              </a:rPr>
              <a:t>Tested, and mapped to the syllabus</a:t>
            </a:r>
            <a:endParaRPr lang="en-US" sz="3600" dirty="0"/>
          </a:p>
        </p:txBody>
      </p:sp>
      <p:sp>
        <p:nvSpPr>
          <p:cNvPr id="5" name="Stat card"/>
          <p:cNvSpPr/>
          <p:nvPr/>
        </p:nvSpPr>
        <p:spPr>
          <a:xfrm>
            <a:off x="548640" y="1737360"/>
            <a:ext cx="3840480" cy="1325880"/>
          </a:xfrm>
          <a:prstGeom prst="roundRect">
            <a:avLst>
              <a:gd name="adj" fmla="val 8276"/>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6" name="Text 4"/>
          <p:cNvSpPr txBox="1"/>
          <p:nvPr/>
        </p:nvSpPr>
        <p:spPr>
          <a:xfrm>
            <a:off x="777240" y="1847088"/>
            <a:ext cx="1280160" cy="1097280"/>
          </a:xfrm>
          <a:prstGeom prst="rect">
            <a:avLst/>
          </a:prstGeom>
          <a:noFill/>
          <a:ln/>
        </p:spPr>
        <p:txBody>
          <a:bodyPr wrap="square" lIns="0" tIns="0" rIns="0" bIns="0" rtlCol="0" anchor="ctr"/>
          <a:lstStyle/>
          <a:p>
            <a:pPr indent="0" marL="0">
              <a:buNone/>
            </a:pPr>
            <a:r>
              <a:rPr lang="en-US" sz="6000" b="1" dirty="0">
                <a:solidFill>
                  <a:schemeClr val="accent1"/>
                </a:solidFill>
                <a:latin typeface="+mj-lt" pitchFamily="34" charset="0"/>
                <a:ea typeface="+mj-lt" pitchFamily="34" charset="-122"/>
                <a:cs typeface="+mj-lt" pitchFamily="34" charset="-120"/>
              </a:rPr>
              <a:t>32</a:t>
            </a:r>
            <a:endParaRPr lang="en-US" sz="6000" dirty="0"/>
          </a:p>
        </p:txBody>
      </p:sp>
      <p:sp>
        <p:nvSpPr>
          <p:cNvPr id="7" name="Text 5"/>
          <p:cNvSpPr txBox="1"/>
          <p:nvPr/>
        </p:nvSpPr>
        <p:spPr>
          <a:xfrm>
            <a:off x="2103120" y="2029968"/>
            <a:ext cx="21945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automated tests</a:t>
            </a:r>
            <a:endParaRPr lang="en-US" sz="1800" dirty="0"/>
          </a:p>
        </p:txBody>
      </p:sp>
      <p:sp>
        <p:nvSpPr>
          <p:cNvPr id="8" name="Text 6"/>
          <p:cNvSpPr txBox="1"/>
          <p:nvPr/>
        </p:nvSpPr>
        <p:spPr>
          <a:xfrm>
            <a:off x="2103120" y="2377440"/>
            <a:ext cx="2194560" cy="548640"/>
          </a:xfrm>
          <a:prstGeom prst="rect">
            <a:avLst/>
          </a:prstGeom>
          <a:noFill/>
          <a:ln/>
        </p:spPr>
        <p:txBody>
          <a:bodyPr wrap="square" lIns="0" tIns="0" rIns="0" bIns="0" rtlCol="0" anchor="t"/>
          <a:lstStyle/>
          <a:p>
            <a:pPr indent="0" marL="0">
              <a:buNone/>
            </a:pPr>
            <a:r>
              <a:rPr lang="en-US" sz="1300" dirty="0">
                <a:solidFill>
                  <a:schemeClr val="accent5"/>
                </a:solidFill>
              </a:rPr>
              <a:t>JUnit 5 + MockMvc, H2 database</a:t>
            </a:r>
            <a:endParaRPr lang="en-US" sz="1300" dirty="0"/>
          </a:p>
        </p:txBody>
      </p:sp>
      <p:sp>
        <p:nvSpPr>
          <p:cNvPr id="9" name="Stat card"/>
          <p:cNvSpPr/>
          <p:nvPr/>
        </p:nvSpPr>
        <p:spPr>
          <a:xfrm>
            <a:off x="548640" y="3218688"/>
            <a:ext cx="3840480" cy="1325880"/>
          </a:xfrm>
          <a:prstGeom prst="roundRect">
            <a:avLst>
              <a:gd name="adj" fmla="val 8276"/>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10" name="Text 8"/>
          <p:cNvSpPr txBox="1"/>
          <p:nvPr/>
        </p:nvSpPr>
        <p:spPr>
          <a:xfrm>
            <a:off x="777240" y="3328416"/>
            <a:ext cx="1280160" cy="1097280"/>
          </a:xfrm>
          <a:prstGeom prst="rect">
            <a:avLst/>
          </a:prstGeom>
          <a:noFill/>
          <a:ln/>
        </p:spPr>
        <p:txBody>
          <a:bodyPr wrap="square" lIns="0" tIns="0" rIns="0" bIns="0" rtlCol="0" anchor="ctr"/>
          <a:lstStyle/>
          <a:p>
            <a:pPr indent="0" marL="0">
              <a:buNone/>
            </a:pPr>
            <a:r>
              <a:rPr lang="en-US" sz="6000" b="1" dirty="0">
                <a:solidFill>
                  <a:schemeClr val="accent1"/>
                </a:solidFill>
                <a:latin typeface="+mj-lt" pitchFamily="34" charset="0"/>
                <a:ea typeface="+mj-lt" pitchFamily="34" charset="-122"/>
                <a:cs typeface="+mj-lt" pitchFamily="34" charset="-120"/>
              </a:rPr>
              <a:t>35</a:t>
            </a:r>
            <a:endParaRPr lang="en-US" sz="6000" dirty="0"/>
          </a:p>
        </p:txBody>
      </p:sp>
      <p:sp>
        <p:nvSpPr>
          <p:cNvPr id="11" name="Text 9"/>
          <p:cNvSpPr txBox="1"/>
          <p:nvPr/>
        </p:nvSpPr>
        <p:spPr>
          <a:xfrm>
            <a:off x="2103120" y="3511296"/>
            <a:ext cx="21945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Postman requests</a:t>
            </a:r>
            <a:endParaRPr lang="en-US" sz="1800" dirty="0"/>
          </a:p>
        </p:txBody>
      </p:sp>
      <p:sp>
        <p:nvSpPr>
          <p:cNvPr id="12" name="Text 10"/>
          <p:cNvSpPr txBox="1"/>
          <p:nvPr/>
        </p:nvSpPr>
        <p:spPr>
          <a:xfrm>
            <a:off x="2103120" y="3858768"/>
            <a:ext cx="2194560" cy="548640"/>
          </a:xfrm>
          <a:prstGeom prst="rect">
            <a:avLst/>
          </a:prstGeom>
          <a:noFill/>
          <a:ln/>
        </p:spPr>
        <p:txBody>
          <a:bodyPr wrap="square" lIns="0" tIns="0" rIns="0" bIns="0" rtlCol="0" anchor="t"/>
          <a:lstStyle/>
          <a:p>
            <a:pPr indent="0" marL="0">
              <a:buNone/>
            </a:pPr>
            <a:r>
              <a:rPr lang="en-US" sz="1300" dirty="0">
                <a:solidFill>
                  <a:schemeClr val="accent5"/>
                </a:solidFill>
              </a:rPr>
              <a:t>with automatic assertions</a:t>
            </a:r>
            <a:endParaRPr lang="en-US" sz="1300" dirty="0"/>
          </a:p>
        </p:txBody>
      </p:sp>
      <p:sp>
        <p:nvSpPr>
          <p:cNvPr id="13" name="Stat card"/>
          <p:cNvSpPr/>
          <p:nvPr/>
        </p:nvSpPr>
        <p:spPr>
          <a:xfrm>
            <a:off x="548640" y="4700016"/>
            <a:ext cx="3840480" cy="1325880"/>
          </a:xfrm>
          <a:prstGeom prst="roundRect">
            <a:avLst>
              <a:gd name="adj" fmla="val 8276"/>
            </a:avLst>
          </a:prstGeom>
          <a:solidFill>
            <a:schemeClr val="bg1"/>
          </a:solidFill>
          <a:ln w="9525">
            <a:solidFill>
              <a:schemeClr val="accent4"/>
            </a:solidFill>
            <a:prstDash val="solid"/>
          </a:ln>
          <a:effectLst>
            <a:outerShdw sx="100000" sy="100000" kx="0" ky="0" algn="bl" rotWithShape="0" blurRad="101600" dist="25400" dir="5400000">
              <a:srgbClr val="000000">
                <a:alpha val="14000"/>
              </a:srgbClr>
            </a:outerShdw>
          </a:effectLst>
        </p:spPr>
      </p:sp>
      <p:sp>
        <p:nvSpPr>
          <p:cNvPr id="14" name="Text 12"/>
          <p:cNvSpPr txBox="1"/>
          <p:nvPr/>
        </p:nvSpPr>
        <p:spPr>
          <a:xfrm>
            <a:off x="777240" y="4809744"/>
            <a:ext cx="1280160" cy="1097280"/>
          </a:xfrm>
          <a:prstGeom prst="rect">
            <a:avLst/>
          </a:prstGeom>
          <a:noFill/>
          <a:ln/>
        </p:spPr>
        <p:txBody>
          <a:bodyPr wrap="square" lIns="0" tIns="0" rIns="0" bIns="0" rtlCol="0" anchor="ctr"/>
          <a:lstStyle/>
          <a:p>
            <a:pPr indent="0" marL="0">
              <a:buNone/>
            </a:pPr>
            <a:r>
              <a:rPr lang="en-US" sz="6000" b="1" dirty="0">
                <a:solidFill>
                  <a:schemeClr val="accent1"/>
                </a:solidFill>
                <a:latin typeface="+mj-lt" pitchFamily="34" charset="0"/>
                <a:ea typeface="+mj-lt" pitchFamily="34" charset="-122"/>
                <a:cs typeface="+mj-lt" pitchFamily="34" charset="-120"/>
              </a:rPr>
              <a:t>2</a:t>
            </a:r>
            <a:endParaRPr lang="en-US" sz="6000" dirty="0"/>
          </a:p>
        </p:txBody>
      </p:sp>
      <p:sp>
        <p:nvSpPr>
          <p:cNvPr id="15" name="Text 13"/>
          <p:cNvSpPr txBox="1"/>
          <p:nvPr/>
        </p:nvSpPr>
        <p:spPr>
          <a:xfrm>
            <a:off x="2103120" y="4992624"/>
            <a:ext cx="2194560" cy="320040"/>
          </a:xfrm>
          <a:prstGeom prst="rect">
            <a:avLst/>
          </a:prstGeom>
          <a:noFill/>
          <a:ln/>
        </p:spPr>
        <p:txBody>
          <a:bodyPr wrap="square" lIns="0" tIns="0" rIns="0" bIns="0" rtlCol="0" anchor="t"/>
          <a:lstStyle/>
          <a:p>
            <a:pPr indent="0" marL="0">
              <a:buNone/>
            </a:pPr>
            <a:r>
              <a:rPr lang="en-US" sz="1800" b="1" dirty="0">
                <a:solidFill>
                  <a:schemeClr val="tx1"/>
                </a:solidFill>
                <a:latin typeface="+mj-lt" pitchFamily="34" charset="0"/>
                <a:ea typeface="+mj-lt" pitchFamily="34" charset="-122"/>
                <a:cs typeface="+mj-lt" pitchFamily="34" charset="-120"/>
              </a:rPr>
              <a:t>Spring Boot apps</a:t>
            </a:r>
            <a:endParaRPr lang="en-US" sz="1800" dirty="0"/>
          </a:p>
        </p:txBody>
      </p:sp>
      <p:sp>
        <p:nvSpPr>
          <p:cNvPr id="16" name="Text 14"/>
          <p:cNvSpPr txBox="1"/>
          <p:nvPr/>
        </p:nvSpPr>
        <p:spPr>
          <a:xfrm>
            <a:off x="2103120" y="5340096"/>
            <a:ext cx="2194560" cy="548640"/>
          </a:xfrm>
          <a:prstGeom prst="rect">
            <a:avLst/>
          </a:prstGeom>
          <a:noFill/>
          <a:ln/>
        </p:spPr>
        <p:txBody>
          <a:bodyPr wrap="square" lIns="0" tIns="0" rIns="0" bIns="0" rtlCol="0" anchor="t"/>
          <a:lstStyle/>
          <a:p>
            <a:pPr indent="0" marL="0">
              <a:buNone/>
            </a:pPr>
            <a:r>
              <a:rPr lang="en-US" sz="1300" dirty="0">
                <a:solidFill>
                  <a:schemeClr val="accent5"/>
                </a:solidFill>
              </a:rPr>
              <a:t>ports 8080 and 8081, built with Maven</a:t>
            </a:r>
            <a:endParaRPr lang="en-US" sz="1300" dirty="0"/>
          </a:p>
        </p:txBody>
      </p:sp>
      <p:graphicFrame>
        <p:nvGraphicFramePr>
          <p:cNvPr id="13" name="Syllabus table"/>
          <p:cNvGraphicFramePr>
            <a:graphicFrameLocks noGrp="1"/>
          </p:cNvGraphicFramePr>
          <p:nvPr>
            <p:extLst>
              <p:ext uri="{D42A27DB-BD31-4B8C-83A1-F6EECF244321}">
                <p14:modId xmlns:p14="http://schemas.microsoft.com/office/powerpoint/2010/main" val="1579011935"/>
              </p:ext>
            </p:extLst>
          </p:nvPr>
        </p:nvGraphicFramePr>
        <p:xfrm>
          <a:off x="4663440" y="1737360"/>
          <a:ext cx="6976872" cy="914400"/>
        </p:xfrm>
        <a:graphic>
          <a:graphicData uri="http://schemas.openxmlformats.org/drawingml/2006/table">
            <a:tbl>
              <a:tblPr/>
              <a:tblGrid>
                <a:gridCol w="594360"/>
                <a:gridCol w="2468880"/>
                <a:gridCol w="3913632"/>
              </a:tblGrid>
              <a:tr h="475488">
                <a:tc>
                  <a:txBody>
                    <a:bodyPr/>
                    <a:lstStyle/>
                    <a:p>
                      <a:pPr indent="0" marL="0">
                        <a:buNone/>
                      </a:pPr>
                      <a:r>
                        <a:rPr lang="en-US" sz="1300" b="1" dirty="0">
                          <a:solidFill>
                            <a:schemeClr val="bg1"/>
                          </a:solidFill>
                        </a:rPr>
                        <a:t>Unit</a:t>
                      </a:r>
                      <a:endParaRPr lang="en-US" sz="13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Concept</a:t>
                      </a:r>
                      <a:endParaRPr lang="en-US" sz="13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tx2"/>
                    </a:solidFill>
                  </a:tcPr>
                </a:tc>
                <a:tc>
                  <a:txBody>
                    <a:bodyPr/>
                    <a:lstStyle/>
                    <a:p>
                      <a:pPr indent="0" marL="0">
                        <a:buNone/>
                      </a:pPr>
                      <a:r>
                        <a:rPr lang="en-US" sz="1300" b="1" dirty="0">
                          <a:solidFill>
                            <a:schemeClr val="bg1"/>
                          </a:solidFill>
                        </a:rPr>
                        <a:t>Where in NoQ</a:t>
                      </a:r>
                      <a:endParaRPr lang="en-US" sz="13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tx2"/>
                    </a:solidFill>
                  </a:tcPr>
                </a:tc>
              </a:tr>
              <a:tr h="475488">
                <a:tc>
                  <a:txBody>
                    <a:bodyPr/>
                    <a:lstStyle/>
                    <a:p>
                      <a:pPr indent="0" marL="0">
                        <a:buNone/>
                      </a:pPr>
                      <a:r>
                        <a:rPr lang="en-US" sz="1200" b="1" dirty="0">
                          <a:solidFill>
                            <a:schemeClr val="accent6"/>
                          </a:solidFill>
                        </a:rPr>
                        <a:t>IV</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Spring Boot + MVC</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HomeController &gt; MenuService &gt; index.html</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accent6"/>
                          </a:solidFill>
                        </a:rPr>
                        <a:t>IV</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JPA / Hibernate + HQL</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entity/, repository/, 2 HQL queries</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accent6"/>
                          </a:solidFill>
                        </a:rPr>
                        <a:t>IV</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Inheritance mapping</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Payment &gt; CashPayment (SINGLE_TABLE)</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accent6"/>
                          </a:solidFill>
                        </a:rPr>
                        <a:t>IV</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Session / Transaction, DI</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ConceptDemoService, /api/demo endpoints</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accent6"/>
                          </a:solidFill>
                        </a:rPr>
                        <a:t>IV</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AOP + caching</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LoggingAspect, Caffeine @Cacheable</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accent6"/>
                          </a:solidFill>
                        </a:rPr>
                        <a:t>V</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REST API</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GET, POST, PATCH; codes 200 to 409</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accent6"/>
                          </a:solidFill>
                        </a:rPr>
                        <a:t>V</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Validation + errors</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@Valid DTOs, GlobalExceptionHandler</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accent6"/>
                          </a:solidFill>
                        </a:rPr>
                        <a:t>V</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Microservice</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notification service via RestClient</a:t>
                      </a:r>
                      <a:endParaRPr lang="en-US" sz="1200" dirty="0"/>
                    </a:p>
                  </a:txBody>
                  <a:tcPr marL="91440" marR="91440" marT="27432" marB="27432" anchor="ctr">
                    <a:lnL w="9525" cap="flat" cmpd="sng" algn="ctr">
                      <a:solidFill>
                        <a:srgbClr val="D8E2DB"/>
                      </a:solidFill>
                      <a:prstDash val="solid"/>
                      <a:round/>
                      <a:headEnd type="none" w="med" len="med"/>
                      <a:tailEnd type="none" w="med" len="med"/>
                    </a:lnL>
                    <a:lnR w="9525" cap="flat" cmpd="sng" algn="ctr">
                      <a:solidFill>
                        <a:srgbClr val="D8E2DB"/>
                      </a:solidFill>
                      <a:prstDash val="solid"/>
                      <a:round/>
                      <a:headEnd type="none" w="med" len="med"/>
                      <a:tailEnd type="none" w="med" len="med"/>
                    </a:lnR>
                    <a:lnT w="9525" cap="flat" cmpd="sng" algn="ctr">
                      <a:solidFill>
                        <a:srgbClr val="D8E2DB"/>
                      </a:solidFill>
                      <a:prstDash val="solid"/>
                      <a:round/>
                      <a:headEnd type="none" w="med" len="med"/>
                      <a:tailEnd type="none" w="med" len="med"/>
                    </a:lnT>
                    <a:lnB w="9525" cap="flat" cmpd="sng" algn="ctr">
                      <a:solidFill>
                        <a:srgbClr val="D8E2DB"/>
                      </a:solidFill>
                      <a:prstDash val="solid"/>
                      <a:round/>
                      <a:headEnd type="none" w="med" len="med"/>
                      <a:tailEnd type="none" w="med" len="med"/>
                    </a:lnB>
                    <a:solidFill>
                      <a:schemeClr val="bg2"/>
                    </a:solidFill>
                  </a:tcPr>
                </a:tc>
              </a:tr>
            </a:tbl>
          </a:graphicData>
        </a:graphic>
      </p:graphicFrame>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ection pill"/>
          <p:cNvSpPr/>
          <p:nvPr/>
        </p:nvSpPr>
        <p:spPr>
          <a:xfrm>
            <a:off x="548640" y="347472"/>
            <a:ext cx="2555748" cy="292608"/>
          </a:xfrm>
          <a:prstGeom prst="roundRect">
            <a:avLst>
              <a:gd name="adj" fmla="val 50000"/>
            </a:avLst>
          </a:prstGeom>
          <a:ln w="12700">
            <a:solidFill>
              <a:schemeClr val="accent3"/>
            </a:solidFill>
            <a:prstDash val="solid"/>
          </a:ln>
        </p:spPr>
      </p:sp>
      <p:sp>
        <p:nvSpPr>
          <p:cNvPr id="3" name="Text 1"/>
          <p:cNvSpPr txBox="1"/>
          <p:nvPr/>
        </p:nvSpPr>
        <p:spPr>
          <a:xfrm>
            <a:off x="548640" y="347472"/>
            <a:ext cx="2555748" cy="292608"/>
          </a:xfrm>
          <a:prstGeom prst="rect">
            <a:avLst/>
          </a:prstGeom>
          <a:noFill/>
          <a:ln/>
        </p:spPr>
        <p:txBody>
          <a:bodyPr wrap="square" lIns="0" tIns="0" rIns="0" bIns="0" rtlCol="0" anchor="ctr"/>
          <a:lstStyle/>
          <a:p>
            <a:pPr algn="ctr" indent="0" marL="0">
              <a:buNone/>
            </a:pPr>
            <a:r>
              <a:rPr lang="en-US" sz="1100" b="1" spc="200" kern="0" dirty="0">
                <a:solidFill>
                  <a:schemeClr val="accent3"/>
                </a:solidFill>
              </a:rPr>
              <a:t>12  ·  NEXT STEPS</a:t>
            </a:r>
            <a:endParaRPr lang="en-US" sz="1100" dirty="0"/>
          </a:p>
        </p:txBody>
      </p:sp>
      <p:sp>
        <p:nvSpPr>
          <p:cNvPr id="4" name="Text 0"/>
          <p:cNvSpPr/>
          <p:nvPr>
            <p:ph idx="100" type="title" hasCustomPrompt="1"/>
          </p:nvPr>
        </p:nvSpPr>
        <p:spPr>
          <a:xfrm>
            <a:off x="548640" y="749808"/>
            <a:ext cx="11091672" cy="685800"/>
          </a:xfrm>
          <a:prstGeom prst="rect">
            <a:avLst/>
          </a:prstGeom>
          <a:noFill/>
          <a:ln/>
        </p:spPr>
        <p:txBody>
          <a:bodyPr wrap="square" lIns="0" tIns="0" rIns="0" bIns="0" rtlCol="0" anchor="t"/>
          <a:lstStyle/>
          <a:p>
            <a:pPr algn="l" indent="0" marL="0">
              <a:buNone/>
            </a:pPr>
            <a:r>
              <a:rPr lang="en-US" sz="3600" b="1" dirty="0">
                <a:solidFill>
                  <a:schemeClr val="bg1"/>
                </a:solidFill>
              </a:rPr>
              <a:t>Limits today, next steps</a:t>
            </a:r>
            <a:endParaRPr lang="en-US" sz="3600" dirty="0"/>
          </a:p>
        </p:txBody>
      </p:sp>
      <p:sp>
        <p:nvSpPr>
          <p:cNvPr id="5" name="Next-step card"/>
          <p:cNvSpPr/>
          <p:nvPr/>
        </p:nvSpPr>
        <p:spPr>
          <a:xfrm>
            <a:off x="548640" y="1783080"/>
            <a:ext cx="6675120" cy="932688"/>
          </a:xfrm>
          <a:prstGeom prst="roundRect">
            <a:avLst>
              <a:gd name="adj" fmla="val 9804"/>
            </a:avLst>
          </a:prstGeom>
          <a:solidFill>
            <a:schemeClr val="tx2"/>
          </a:solidFill>
          <a:ln/>
        </p:spPr>
      </p:sp>
      <p:sp>
        <p:nvSpPr>
          <p:cNvPr id="6" name="Text 4"/>
          <p:cNvSpPr txBox="1"/>
          <p:nvPr/>
        </p:nvSpPr>
        <p:spPr>
          <a:xfrm>
            <a:off x="777240" y="1892808"/>
            <a:ext cx="2286000" cy="731520"/>
          </a:xfrm>
          <a:prstGeom prst="rect">
            <a:avLst/>
          </a:prstGeom>
          <a:noFill/>
          <a:ln/>
        </p:spPr>
        <p:txBody>
          <a:bodyPr wrap="square" lIns="0" tIns="0" rIns="0" bIns="0" rtlCol="0" anchor="ctr"/>
          <a:lstStyle/>
          <a:p>
            <a:pPr indent="0" marL="0">
              <a:buNone/>
            </a:pPr>
            <a:r>
              <a:rPr lang="en-US" sz="1500" b="1" dirty="0">
                <a:solidFill>
                  <a:schemeClr val="accent3"/>
                </a:solidFill>
              </a:rPr>
              <a:t>Counter payment only</a:t>
            </a:r>
            <a:endParaRPr lang="en-US" sz="1500" dirty="0"/>
          </a:p>
        </p:txBody>
      </p:sp>
      <p:sp>
        <p:nvSpPr>
          <p:cNvPr id="7" name="Arrow"/>
          <p:cNvSpPr/>
          <p:nvPr/>
        </p:nvSpPr>
        <p:spPr>
          <a:xfrm>
            <a:off x="3108960" y="2112264"/>
            <a:ext cx="274320" cy="274320"/>
          </a:xfrm>
          <a:prstGeom prst="rightArrow">
            <a:avLst/>
          </a:prstGeom>
          <a:solidFill>
            <a:schemeClr val="accent1"/>
          </a:solidFill>
          <a:ln/>
        </p:spPr>
      </p:sp>
      <p:sp>
        <p:nvSpPr>
          <p:cNvPr id="8" name="Text 6"/>
          <p:cNvSpPr txBox="1"/>
          <p:nvPr/>
        </p:nvSpPr>
        <p:spPr>
          <a:xfrm>
            <a:off x="3566160" y="1892808"/>
            <a:ext cx="3520440" cy="731520"/>
          </a:xfrm>
          <a:prstGeom prst="rect">
            <a:avLst/>
          </a:prstGeom>
          <a:noFill/>
          <a:ln/>
        </p:spPr>
        <p:txBody>
          <a:bodyPr wrap="square" lIns="0" tIns="0" rIns="0" bIns="0" rtlCol="0" anchor="ctr"/>
          <a:lstStyle/>
          <a:p>
            <a:pPr indent="0" marL="0">
              <a:buNone/>
            </a:pPr>
            <a:r>
              <a:rPr lang="en-US" sz="1400" dirty="0">
                <a:solidFill>
                  <a:schemeClr val="bg1"/>
                </a:solidFill>
              </a:rPr>
              <a:t>Add an online gateway as one more Payment subclass, confirmed by webhook.</a:t>
            </a:r>
            <a:endParaRPr lang="en-US" sz="1400" dirty="0"/>
          </a:p>
        </p:txBody>
      </p:sp>
      <p:sp>
        <p:nvSpPr>
          <p:cNvPr id="9" name="Next-step card"/>
          <p:cNvSpPr/>
          <p:nvPr/>
        </p:nvSpPr>
        <p:spPr>
          <a:xfrm>
            <a:off x="548640" y="2862072"/>
            <a:ext cx="6675120" cy="932688"/>
          </a:xfrm>
          <a:prstGeom prst="roundRect">
            <a:avLst>
              <a:gd name="adj" fmla="val 9804"/>
            </a:avLst>
          </a:prstGeom>
          <a:solidFill>
            <a:schemeClr val="tx2"/>
          </a:solidFill>
          <a:ln/>
        </p:spPr>
      </p:sp>
      <p:sp>
        <p:nvSpPr>
          <p:cNvPr id="10" name="Text 8"/>
          <p:cNvSpPr txBox="1"/>
          <p:nvPr/>
        </p:nvSpPr>
        <p:spPr>
          <a:xfrm>
            <a:off x="777240" y="2971800"/>
            <a:ext cx="2286000" cy="731520"/>
          </a:xfrm>
          <a:prstGeom prst="rect">
            <a:avLst/>
          </a:prstGeom>
          <a:noFill/>
          <a:ln/>
        </p:spPr>
        <p:txBody>
          <a:bodyPr wrap="square" lIns="0" tIns="0" rIns="0" bIns="0" rtlCol="0" anchor="ctr"/>
          <a:lstStyle/>
          <a:p>
            <a:pPr indent="0" marL="0">
              <a:buNone/>
            </a:pPr>
            <a:r>
              <a:rPr lang="en-US" sz="1500" b="1" dirty="0">
                <a:solidFill>
                  <a:schemeClr val="accent3"/>
                </a:solidFill>
              </a:rPr>
              <a:t>Polling every 5 to 10 s</a:t>
            </a:r>
            <a:endParaRPr lang="en-US" sz="1500" dirty="0"/>
          </a:p>
        </p:txBody>
      </p:sp>
      <p:sp>
        <p:nvSpPr>
          <p:cNvPr id="11" name="Arrow"/>
          <p:cNvSpPr/>
          <p:nvPr/>
        </p:nvSpPr>
        <p:spPr>
          <a:xfrm>
            <a:off x="3108960" y="3191256"/>
            <a:ext cx="274320" cy="274320"/>
          </a:xfrm>
          <a:prstGeom prst="rightArrow">
            <a:avLst/>
          </a:prstGeom>
          <a:solidFill>
            <a:schemeClr val="accent1"/>
          </a:solidFill>
          <a:ln/>
        </p:spPr>
      </p:sp>
      <p:sp>
        <p:nvSpPr>
          <p:cNvPr id="12" name="Text 10"/>
          <p:cNvSpPr txBox="1"/>
          <p:nvPr/>
        </p:nvSpPr>
        <p:spPr>
          <a:xfrm>
            <a:off x="3566160" y="2971800"/>
            <a:ext cx="3520440" cy="731520"/>
          </a:xfrm>
          <a:prstGeom prst="rect">
            <a:avLst/>
          </a:prstGeom>
          <a:noFill/>
          <a:ln/>
        </p:spPr>
        <p:txBody>
          <a:bodyPr wrap="square" lIns="0" tIns="0" rIns="0" bIns="0" rtlCol="0" anchor="ctr"/>
          <a:lstStyle/>
          <a:p>
            <a:pPr indent="0" marL="0">
              <a:buNone/>
            </a:pPr>
            <a:r>
              <a:rPr lang="en-US" sz="1400" dirty="0">
                <a:solidFill>
                  <a:schemeClr val="bg1"/>
                </a:solidFill>
              </a:rPr>
              <a:t>Server-Sent Events or WebSockets for instant updates.</a:t>
            </a:r>
            <a:endParaRPr lang="en-US" sz="1400" dirty="0"/>
          </a:p>
        </p:txBody>
      </p:sp>
      <p:sp>
        <p:nvSpPr>
          <p:cNvPr id="13" name="Next-step card"/>
          <p:cNvSpPr/>
          <p:nvPr/>
        </p:nvSpPr>
        <p:spPr>
          <a:xfrm>
            <a:off x="548640" y="3941064"/>
            <a:ext cx="6675120" cy="932688"/>
          </a:xfrm>
          <a:prstGeom prst="roundRect">
            <a:avLst>
              <a:gd name="adj" fmla="val 9804"/>
            </a:avLst>
          </a:prstGeom>
          <a:solidFill>
            <a:schemeClr val="tx2"/>
          </a:solidFill>
          <a:ln/>
        </p:spPr>
      </p:sp>
      <p:sp>
        <p:nvSpPr>
          <p:cNvPr id="14" name="Text 12"/>
          <p:cNvSpPr txBox="1"/>
          <p:nvPr/>
        </p:nvSpPr>
        <p:spPr>
          <a:xfrm>
            <a:off x="777240" y="4050792"/>
            <a:ext cx="2286000" cy="731520"/>
          </a:xfrm>
          <a:prstGeom prst="rect">
            <a:avLst/>
          </a:prstGeom>
          <a:noFill/>
          <a:ln/>
        </p:spPr>
        <p:txBody>
          <a:bodyPr wrap="square" lIns="0" tIns="0" rIns="0" bIns="0" rtlCol="0" anchor="ctr"/>
          <a:lstStyle/>
          <a:p>
            <a:pPr indent="0" marL="0">
              <a:buNone/>
            </a:pPr>
            <a:r>
              <a:rPr lang="en-US" sz="1500" b="1" dirty="0">
                <a:solidFill>
                  <a:schemeClr val="accent3"/>
                </a:solidFill>
              </a:rPr>
              <a:t>Notification only logged</a:t>
            </a:r>
            <a:endParaRPr lang="en-US" sz="1500" dirty="0"/>
          </a:p>
        </p:txBody>
      </p:sp>
      <p:sp>
        <p:nvSpPr>
          <p:cNvPr id="15" name="Arrow"/>
          <p:cNvSpPr/>
          <p:nvPr/>
        </p:nvSpPr>
        <p:spPr>
          <a:xfrm>
            <a:off x="3108960" y="4270248"/>
            <a:ext cx="274320" cy="274320"/>
          </a:xfrm>
          <a:prstGeom prst="rightArrow">
            <a:avLst/>
          </a:prstGeom>
          <a:solidFill>
            <a:schemeClr val="accent1"/>
          </a:solidFill>
          <a:ln/>
        </p:spPr>
      </p:sp>
      <p:sp>
        <p:nvSpPr>
          <p:cNvPr id="16" name="Text 14"/>
          <p:cNvSpPr txBox="1"/>
          <p:nvPr/>
        </p:nvSpPr>
        <p:spPr>
          <a:xfrm>
            <a:off x="3566160" y="4050792"/>
            <a:ext cx="3520440" cy="731520"/>
          </a:xfrm>
          <a:prstGeom prst="rect">
            <a:avLst/>
          </a:prstGeom>
          <a:noFill/>
          <a:ln/>
        </p:spPr>
        <p:txBody>
          <a:bodyPr wrap="square" lIns="0" tIns="0" rIns="0" bIns="0" rtlCol="0" anchor="ctr"/>
          <a:lstStyle/>
          <a:p>
            <a:pPr indent="0" marL="0">
              <a:buNone/>
            </a:pPr>
            <a:r>
              <a:rPr lang="en-US" sz="1400" dirty="0">
                <a:solidFill>
                  <a:schemeClr val="bg1"/>
                </a:solidFill>
              </a:rPr>
              <a:t>Real SMS / push, with a message broker for retries.</a:t>
            </a:r>
            <a:endParaRPr lang="en-US" sz="1400" dirty="0"/>
          </a:p>
        </p:txBody>
      </p:sp>
      <p:sp>
        <p:nvSpPr>
          <p:cNvPr id="17" name="Next-step card"/>
          <p:cNvSpPr/>
          <p:nvPr/>
        </p:nvSpPr>
        <p:spPr>
          <a:xfrm>
            <a:off x="548640" y="5020056"/>
            <a:ext cx="6675120" cy="932688"/>
          </a:xfrm>
          <a:prstGeom prst="roundRect">
            <a:avLst>
              <a:gd name="adj" fmla="val 9804"/>
            </a:avLst>
          </a:prstGeom>
          <a:solidFill>
            <a:schemeClr val="tx2"/>
          </a:solidFill>
          <a:ln/>
        </p:spPr>
      </p:sp>
      <p:sp>
        <p:nvSpPr>
          <p:cNvPr id="18" name="Text 16"/>
          <p:cNvSpPr txBox="1"/>
          <p:nvPr/>
        </p:nvSpPr>
        <p:spPr>
          <a:xfrm>
            <a:off x="777240" y="5129784"/>
            <a:ext cx="2286000" cy="731520"/>
          </a:xfrm>
          <a:prstGeom prst="rect">
            <a:avLst/>
          </a:prstGeom>
          <a:noFill/>
          <a:ln/>
        </p:spPr>
        <p:txBody>
          <a:bodyPr wrap="square" lIns="0" tIns="0" rIns="0" bIns="0" rtlCol="0" anchor="ctr"/>
          <a:lstStyle/>
          <a:p>
            <a:pPr indent="0" marL="0">
              <a:buNone/>
            </a:pPr>
            <a:r>
              <a:rPr lang="en-US" sz="1500" b="1" dirty="0">
                <a:solidFill>
                  <a:schemeClr val="accent3"/>
                </a:solidFill>
              </a:rPr>
              <a:t>No customer accounts</a:t>
            </a:r>
            <a:endParaRPr lang="en-US" sz="1500" dirty="0"/>
          </a:p>
        </p:txBody>
      </p:sp>
      <p:sp>
        <p:nvSpPr>
          <p:cNvPr id="19" name="Arrow"/>
          <p:cNvSpPr/>
          <p:nvPr/>
        </p:nvSpPr>
        <p:spPr>
          <a:xfrm>
            <a:off x="3108960" y="5349240"/>
            <a:ext cx="274320" cy="274320"/>
          </a:xfrm>
          <a:prstGeom prst="rightArrow">
            <a:avLst/>
          </a:prstGeom>
          <a:solidFill>
            <a:schemeClr val="accent1"/>
          </a:solidFill>
          <a:ln/>
        </p:spPr>
      </p:sp>
      <p:sp>
        <p:nvSpPr>
          <p:cNvPr id="20" name="Text 18"/>
          <p:cNvSpPr txBox="1"/>
          <p:nvPr/>
        </p:nvSpPr>
        <p:spPr>
          <a:xfrm>
            <a:off x="3566160" y="5129784"/>
            <a:ext cx="3520440" cy="731520"/>
          </a:xfrm>
          <a:prstGeom prst="rect">
            <a:avLst/>
          </a:prstGeom>
          <a:noFill/>
          <a:ln/>
        </p:spPr>
        <p:txBody>
          <a:bodyPr wrap="square" lIns="0" tIns="0" rIns="0" bIns="0" rtlCol="0" anchor="ctr"/>
          <a:lstStyle/>
          <a:p>
            <a:pPr indent="0" marL="0">
              <a:buNone/>
            </a:pPr>
            <a:r>
              <a:rPr lang="en-US" sz="1400" dirty="0">
                <a:solidFill>
                  <a:schemeClr val="bg1"/>
                </a:solidFill>
              </a:rPr>
              <a:t>Optional login with order history and favourites.</a:t>
            </a:r>
            <a:endParaRPr lang="en-US" sz="1400" dirty="0"/>
          </a:p>
        </p:txBody>
      </p:sp>
      <p:sp>
        <p:nvSpPr>
          <p:cNvPr id="21" name="Thanks panel"/>
          <p:cNvSpPr/>
          <p:nvPr/>
        </p:nvSpPr>
        <p:spPr>
          <a:xfrm>
            <a:off x="7589520" y="1783080"/>
            <a:ext cx="4050792" cy="4251960"/>
          </a:xfrm>
          <a:prstGeom prst="roundRect">
            <a:avLst>
              <a:gd name="adj" fmla="val 3160"/>
            </a:avLst>
          </a:prstGeom>
          <a:solidFill>
            <a:schemeClr val="accent1"/>
          </a:solidFill>
          <a:ln/>
        </p:spPr>
      </p:sp>
      <p:sp>
        <p:nvSpPr>
          <p:cNvPr id="22" name="Text 20"/>
          <p:cNvSpPr txBox="1"/>
          <p:nvPr/>
        </p:nvSpPr>
        <p:spPr>
          <a:xfrm>
            <a:off x="7909560" y="2011680"/>
            <a:ext cx="3474720" cy="731520"/>
          </a:xfrm>
          <a:prstGeom prst="rect">
            <a:avLst/>
          </a:prstGeom>
          <a:noFill/>
          <a:ln/>
        </p:spPr>
        <p:txBody>
          <a:bodyPr wrap="square" lIns="0" tIns="0" rIns="0" bIns="0" rtlCol="0" anchor="t"/>
          <a:lstStyle/>
          <a:p>
            <a:pPr indent="0" marL="0">
              <a:buNone/>
            </a:pPr>
            <a:r>
              <a:rPr lang="en-US" sz="4000" b="1" dirty="0">
                <a:solidFill>
                  <a:schemeClr val="bg1"/>
                </a:solidFill>
                <a:latin typeface="+mj-lt" pitchFamily="34" charset="0"/>
                <a:ea typeface="+mj-lt" pitchFamily="34" charset="-122"/>
                <a:cs typeface="+mj-lt" pitchFamily="34" charset="-120"/>
              </a:rPr>
              <a:t>Thank you</a:t>
            </a:r>
            <a:endParaRPr lang="en-US" sz="4000" dirty="0"/>
          </a:p>
        </p:txBody>
      </p:sp>
      <p:sp>
        <p:nvSpPr>
          <p:cNvPr id="23" name="Text 21"/>
          <p:cNvSpPr txBox="1"/>
          <p:nvPr/>
        </p:nvSpPr>
        <p:spPr>
          <a:xfrm>
            <a:off x="7909560" y="2743200"/>
            <a:ext cx="3474720" cy="457200"/>
          </a:xfrm>
          <a:prstGeom prst="rect">
            <a:avLst/>
          </a:prstGeom>
          <a:noFill/>
          <a:ln/>
        </p:spPr>
        <p:txBody>
          <a:bodyPr wrap="square" lIns="0" tIns="0" rIns="0" bIns="0" rtlCol="0" anchor="t"/>
          <a:lstStyle/>
          <a:p>
            <a:pPr indent="0" marL="0">
              <a:buNone/>
            </a:pPr>
            <a:r>
              <a:rPr lang="en-US" sz="2000" i="1" dirty="0">
                <a:solidFill>
                  <a:schemeClr val="bg1"/>
                </a:solidFill>
                <a:latin typeface="+mj-lt" pitchFamily="34" charset="0"/>
                <a:ea typeface="+mj-lt" pitchFamily="34" charset="-122"/>
                <a:cs typeface="+mj-lt" pitchFamily="34" charset="-120"/>
              </a:rPr>
              <a:t>Questions?</a:t>
            </a:r>
            <a:endParaRPr lang="en-US" sz="2000" dirty="0"/>
          </a:p>
        </p:txBody>
      </p:sp>
      <p:sp>
        <p:nvSpPr>
          <p:cNvPr id="24" name="Text 22"/>
          <p:cNvSpPr txBox="1"/>
          <p:nvPr/>
        </p:nvSpPr>
        <p:spPr>
          <a:xfrm>
            <a:off x="7909560" y="3749040"/>
            <a:ext cx="3474720" cy="320040"/>
          </a:xfrm>
          <a:prstGeom prst="rect">
            <a:avLst/>
          </a:prstGeom>
          <a:noFill/>
          <a:ln/>
        </p:spPr>
        <p:txBody>
          <a:bodyPr wrap="square" lIns="0" tIns="0" rIns="0" bIns="0" rtlCol="0" anchor="t"/>
          <a:lstStyle/>
          <a:p>
            <a:pPr indent="0" marL="0">
              <a:buNone/>
            </a:pPr>
            <a:r>
              <a:rPr lang="en-US" sz="1800" b="1" dirty="0">
                <a:solidFill>
                  <a:schemeClr val="bg1"/>
                </a:solidFill>
              </a:rPr>
              <a:t>Harish M</a:t>
            </a:r>
            <a:endParaRPr lang="en-US" sz="1800" dirty="0"/>
          </a:p>
        </p:txBody>
      </p:sp>
      <p:sp>
        <p:nvSpPr>
          <p:cNvPr id="25" name="Text 23"/>
          <p:cNvSpPr txBox="1"/>
          <p:nvPr/>
        </p:nvSpPr>
        <p:spPr>
          <a:xfrm>
            <a:off x="7909560" y="4078224"/>
            <a:ext cx="3474720" cy="27432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2024115118</a:t>
            </a:r>
            <a:endParaRPr lang="en-US" sz="1400" dirty="0"/>
          </a:p>
        </p:txBody>
      </p:sp>
      <p:sp>
        <p:nvSpPr>
          <p:cNvPr id="26" name="Text 24"/>
          <p:cNvSpPr txBox="1"/>
          <p:nvPr/>
        </p:nvSpPr>
        <p:spPr>
          <a:xfrm>
            <a:off x="7909560" y="4462272"/>
            <a:ext cx="3474720" cy="320040"/>
          </a:xfrm>
          <a:prstGeom prst="rect">
            <a:avLst/>
          </a:prstGeom>
          <a:noFill/>
          <a:ln/>
        </p:spPr>
        <p:txBody>
          <a:bodyPr wrap="square" lIns="0" tIns="0" rIns="0" bIns="0" rtlCol="0" anchor="t"/>
          <a:lstStyle/>
          <a:p>
            <a:pPr indent="0" marL="0">
              <a:buNone/>
            </a:pPr>
            <a:r>
              <a:rPr lang="en-US" sz="1800" b="1" dirty="0">
                <a:solidFill>
                  <a:schemeClr val="bg1"/>
                </a:solidFill>
              </a:rPr>
              <a:t>Arun M</a:t>
            </a:r>
            <a:endParaRPr lang="en-US" sz="1800" dirty="0"/>
          </a:p>
        </p:txBody>
      </p:sp>
      <p:sp>
        <p:nvSpPr>
          <p:cNvPr id="27" name="Text 25"/>
          <p:cNvSpPr txBox="1"/>
          <p:nvPr/>
        </p:nvSpPr>
        <p:spPr>
          <a:xfrm>
            <a:off x="7909560" y="4791456"/>
            <a:ext cx="3474720" cy="27432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2024115098</a:t>
            </a:r>
            <a:endParaRPr lang="en-US" sz="1400" dirty="0"/>
          </a:p>
        </p:txBody>
      </p:sp>
      <p:sp>
        <p:nvSpPr>
          <p:cNvPr id="28" name="Text 26"/>
          <p:cNvSpPr txBox="1"/>
          <p:nvPr/>
        </p:nvSpPr>
        <p:spPr>
          <a:xfrm>
            <a:off x="7909560" y="5175504"/>
            <a:ext cx="3474720" cy="320040"/>
          </a:xfrm>
          <a:prstGeom prst="rect">
            <a:avLst/>
          </a:prstGeom>
          <a:noFill/>
          <a:ln/>
        </p:spPr>
        <p:txBody>
          <a:bodyPr wrap="square" lIns="0" tIns="0" rIns="0" bIns="0" rtlCol="0" anchor="t"/>
          <a:lstStyle/>
          <a:p>
            <a:pPr indent="0" marL="0">
              <a:buNone/>
            </a:pPr>
            <a:r>
              <a:rPr lang="en-US" sz="1800" b="1" dirty="0">
                <a:solidFill>
                  <a:schemeClr val="bg1"/>
                </a:solidFill>
              </a:rPr>
              <a:t>Sreeram Santhosh</a:t>
            </a:r>
            <a:endParaRPr lang="en-US" sz="1800" dirty="0"/>
          </a:p>
        </p:txBody>
      </p:sp>
      <p:sp>
        <p:nvSpPr>
          <p:cNvPr id="29" name="Text 27"/>
          <p:cNvSpPr txBox="1"/>
          <p:nvPr/>
        </p:nvSpPr>
        <p:spPr>
          <a:xfrm>
            <a:off x="7909560" y="5504688"/>
            <a:ext cx="3474720" cy="27432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2024115126</a:t>
            </a:r>
            <a:endParaRPr lang="en-US" sz="1400" dirty="0"/>
          </a:p>
        </p:txBody>
      </p:sp>
      <p:sp>
        <p:nvSpPr>
          <p:cNvPr id="25" name="Slide Number Placeholder 0"/>
          <p:cNvSpPr>
            <a:spLocks noGrp="1"/>
          </p:cNvSpPr>
          <p:nvPr>
            <p:ph type="sldNum" sz="quarter" idx="4294967295"/>
          </p:nvPr>
        </p:nvSpPr>
        <p:spPr>
          <a:xfrm>
            <a:off x="11064240" y="6446520"/>
            <a:ext cx="576072"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NoQ Canteen">
  <a:themeElements>
    <a:clrScheme name="NoQ Canteen">
      <a:dk1>
        <a:srgbClr val="13211B"/>
      </a:dk1>
      <a:lt1>
        <a:srgbClr val="FFFFFF"/>
      </a:lt1>
      <a:dk2>
        <a:srgbClr val="1E3B2F"/>
      </a:dk2>
      <a:lt2>
        <a:srgbClr val="F2F5F1"/>
      </a:lt2>
      <a:accent1>
        <a:srgbClr val="E0532B"/>
      </a:accent1>
      <a:accent2>
        <a:srgbClr val="2F7A55"/>
      </a:accent2>
      <a:accent3>
        <a:srgbClr val="9CBFA9"/>
      </a:accent3>
      <a:accent4>
        <a:srgbClr val="D8E2DB"/>
      </a:accent4>
      <a:accent5>
        <a:srgbClr val="5F6F66"/>
      </a:accent5>
      <a:accent6>
        <a:srgbClr val="B23F1F"/>
      </a:accent6>
      <a:hlink>
        <a:srgbClr val="E0532B"/>
      </a:hlink>
      <a:folHlink>
        <a:srgbClr val="5F6F66"/>
      </a:folHlink>
    </a:clrScheme>
    <a:fontScheme name="NoQ Cantee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NoQ - Smart Canteen Pre-Ordering</dc:title>
  <dc:subject>IT23502 Web Programming mini project</dc:subject>
  <dc:creator>Harish M, Arun M, Sreeram Santhosh</dc:creator>
  <cp:lastModifiedBy>Harish M, Arun M, Sreeram Santhosh</cp:lastModifiedBy>
  <cp:revision>1</cp:revision>
  <dcterms:created xsi:type="dcterms:W3CDTF">2026-10-26T18:19:01Z</dcterms:created>
  <dcterms:modified xsi:type="dcterms:W3CDTF">2026-10-26T18:19:01Z</dcterms:modified>
</cp:coreProperties>
</file>